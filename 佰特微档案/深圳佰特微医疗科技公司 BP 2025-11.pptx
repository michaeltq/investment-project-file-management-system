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png@!f_200x200" ContentType="image/jpe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1.xml" ContentType="application/vnd.openxmlformats-officedocument.presentationml.notesSlide+xml"/>
  <Override PartName="/ppt/tags/tag17.xml" ContentType="application/vnd.openxmlformats-officedocument.presentationml.tags+xml"/>
  <Override PartName="/ppt/notesSlides/notesSlide12.xml" ContentType="application/vnd.openxmlformats-officedocument.presentationml.notesSlide+xml"/>
  <Override PartName="/ppt/tags/tag18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20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44" r:id="rId2"/>
    <p:sldId id="1512" r:id="rId3"/>
    <p:sldId id="1492" r:id="rId4"/>
    <p:sldId id="1513" r:id="rId5"/>
    <p:sldId id="1514" r:id="rId6"/>
    <p:sldId id="1260" r:id="rId7"/>
    <p:sldId id="1516" r:id="rId8"/>
    <p:sldId id="1498" r:id="rId9"/>
    <p:sldId id="1519" r:id="rId10"/>
    <p:sldId id="1500" r:id="rId11"/>
    <p:sldId id="1501" r:id="rId12"/>
    <p:sldId id="1521" r:id="rId13"/>
    <p:sldId id="1502" r:id="rId14"/>
    <p:sldId id="1503" r:id="rId15"/>
    <p:sldId id="1504" r:id="rId16"/>
    <p:sldId id="1505" r:id="rId17"/>
    <p:sldId id="1508" r:id="rId18"/>
    <p:sldId id="1488" r:id="rId19"/>
    <p:sldId id="1523" r:id="rId20"/>
    <p:sldId id="1515" r:id="rId21"/>
    <p:sldId id="1333" r:id="rId22"/>
    <p:sldId id="1518" r:id="rId23"/>
    <p:sldId id="1449" r:id="rId24"/>
    <p:sldId id="1483" r:id="rId25"/>
    <p:sldId id="1522" r:id="rId26"/>
    <p:sldId id="1258" r:id="rId27"/>
    <p:sldId id="1494" r:id="rId28"/>
    <p:sldId id="1343" r:id="rId29"/>
    <p:sldId id="1517" r:id="rId30"/>
    <p:sldId id="1259" r:id="rId31"/>
    <p:sldId id="1469" r:id="rId32"/>
    <p:sldId id="605" r:id="rId33"/>
    <p:sldId id="1493" r:id="rId34"/>
  </p:sldIdLst>
  <p:sldSz cx="12192000" cy="6858000"/>
  <p:notesSz cx="9601200" cy="15087600"/>
  <p:custDataLst>
    <p:tags r:id="rId3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>
          <p15:clr>
            <a:srgbClr val="A4A3A4"/>
          </p15:clr>
        </p15:guide>
        <p15:guide id="2" pos="38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620">
          <p15:clr>
            <a:srgbClr val="A4A3A4"/>
          </p15:clr>
        </p15:guide>
        <p15:guide id="2" pos="30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ter" initials="P" lastIdx="1" clrIdx="0"/>
  <p:cmAuthor id="2" name="Donghui" initials="D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216"/>
    <a:srgbClr val="02A1DC"/>
    <a:srgbClr val="9DC3E6"/>
    <a:srgbClr val="7C81EC"/>
    <a:srgbClr val="0766D4"/>
    <a:srgbClr val="99FF66"/>
    <a:srgbClr val="F36B79"/>
    <a:srgbClr val="188186"/>
    <a:srgbClr val="0484B1"/>
    <a:srgbClr val="5363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91239" autoAdjust="0"/>
  </p:normalViewPr>
  <p:slideViewPr>
    <p:cSldViewPr snapToGrid="0">
      <p:cViewPr varScale="1">
        <p:scale>
          <a:sx n="78" d="100"/>
          <a:sy n="78" d="100"/>
        </p:scale>
        <p:origin x="816" y="77"/>
      </p:cViewPr>
      <p:guideLst>
        <p:guide orient="horz" pos="2100"/>
        <p:guide pos="38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-2952" y="-76"/>
      </p:cViewPr>
      <p:guideLst>
        <p:guide orient="horz" pos="4620"/>
        <p:guide pos="30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75368f53eba1a55/Work/02.&#22806;&#21608;&#26426;&#26800;&#21462;&#26643;&#31995;&#32479;&#65288;Peripheral%20Mechanical%20Thrombectomy%20System&#65289;/1.DHF/0-&#20854;&#20313;&#65288;&#27880;&#20876;&#35745;&#21010;&#12289;&#20135;&#33021;&#39044;&#20272;&#34920;&#12289;IP&#25253;&#21578;&#12289;&#20135;&#21697;&#20171;&#32461;&#12289;DHF&#28165;&#21333;&#65289;/2.&#20135;&#21697;&#20171;&#32461;/&#22806;&#21608;&#38745;&#33033;&#25903;&#26550;&#21462;&#26643;&#31995;&#32479;&#21830;&#19994;&#23637;&#31034;&#25968;&#25454;&#22788;&#29702;2025031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eter\Desktop\&#38144;&#21806;&#35268;&#21010;\&#36817;5&#24180;&#36164;&#37329;&#20351;&#29992;&#35745;&#21010;-2025102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/>
              <a:t>Villalta</a:t>
            </a:r>
            <a:r>
              <a:rPr lang="zh-CN"/>
              <a:t>走势图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Sheet1!$F$5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Sheet1!$E$6:$E$9</c:f>
              <c:strCache>
                <c:ptCount val="4"/>
                <c:pt idx="0">
                  <c:v>0d</c:v>
                </c:pt>
                <c:pt idx="1">
                  <c:v>30d</c:v>
                </c:pt>
                <c:pt idx="2">
                  <c:v>90d</c:v>
                </c:pt>
                <c:pt idx="3">
                  <c:v>180d</c:v>
                </c:pt>
              </c:strCache>
            </c:strRef>
          </c:cat>
          <c:val>
            <c:numRef>
              <c:f>Sheet1!$F$6:$F$9</c:f>
              <c:numCache>
                <c:formatCode>General</c:formatCode>
                <c:ptCount val="4"/>
                <c:pt idx="0">
                  <c:v>8.7899999999999991</c:v>
                </c:pt>
                <c:pt idx="1">
                  <c:v>3.47</c:v>
                </c:pt>
                <c:pt idx="2">
                  <c:v>2.41</c:v>
                </c:pt>
                <c:pt idx="3">
                  <c:v>1.32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DF-49C4-BD28-711DADA221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6692415"/>
        <c:axId val="716706335"/>
      </c:barChart>
      <c:lineChart>
        <c:grouping val="stacked"/>
        <c:varyColors val="0"/>
        <c:ser>
          <c:idx val="1"/>
          <c:order val="1"/>
          <c:tx>
            <c:strRef>
              <c:f>Sheet1!$G$5</c:f>
              <c:strCache>
                <c:ptCount val="1"/>
                <c:pt idx="0">
                  <c:v>median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Sheet1!$G$6:$G$9</c:f>
              <c:numCache>
                <c:formatCode>General</c:formatCode>
                <c:ptCount val="4"/>
                <c:pt idx="0">
                  <c:v>9</c:v>
                </c:pt>
                <c:pt idx="1">
                  <c:v>3</c:v>
                </c:pt>
                <c:pt idx="2">
                  <c:v>2</c:v>
                </c:pt>
                <c:pt idx="3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DF-49C4-BD28-711DADA221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6692415"/>
        <c:axId val="716706335"/>
      </c:lineChart>
      <c:catAx>
        <c:axId val="716692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716706335"/>
        <c:crosses val="autoZero"/>
        <c:auto val="1"/>
        <c:lblAlgn val="ctr"/>
        <c:lblOffset val="100"/>
        <c:noMultiLvlLbl val="0"/>
      </c:catAx>
      <c:valAx>
        <c:axId val="716706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716692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r>
              <a:rPr lang="zh-CN" altLang="en-US" sz="1800" b="1">
                <a:latin typeface="+mn-ea"/>
                <a:ea typeface="+mn-ea"/>
              </a:rPr>
              <a:t>销售收入预测</a:t>
            </a:r>
            <a:r>
              <a:rPr lang="en-US" altLang="zh-CN" sz="1800" b="1">
                <a:latin typeface="+mn-ea"/>
                <a:ea typeface="+mn-ea"/>
              </a:rPr>
              <a:t>(</a:t>
            </a:r>
            <a:r>
              <a:rPr lang="zh-CN" altLang="en-US" sz="1800" b="1">
                <a:latin typeface="+mn-ea"/>
                <a:ea typeface="+mn-ea"/>
              </a:rPr>
              <a:t>万元</a:t>
            </a:r>
            <a:r>
              <a:rPr lang="en-US" altLang="zh-CN" sz="1800" b="1">
                <a:latin typeface="+mn-ea"/>
                <a:ea typeface="+mn-ea"/>
              </a:rPr>
              <a:t>)</a:t>
            </a:r>
            <a:endParaRPr lang="zh-CN" altLang="en-US" sz="1800" b="1">
              <a:latin typeface="+mn-ea"/>
              <a:ea typeface="+mn-ea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PPT用图!$A$2</c:f>
              <c:strCache>
                <c:ptCount val="1"/>
                <c:pt idx="0">
                  <c:v>收入(含税)</c:v>
                </c:pt>
              </c:strCache>
            </c:strRef>
          </c:tx>
          <c:spPr>
            <a:solidFill>
              <a:srgbClr val="02A1D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PPT用图!$B$1:$G$1</c:f>
              <c:strCache>
                <c:ptCount val="6"/>
                <c:pt idx="0">
                  <c:v>2025年</c:v>
                </c:pt>
                <c:pt idx="1">
                  <c:v>2026年</c:v>
                </c:pt>
                <c:pt idx="2">
                  <c:v>2027年</c:v>
                </c:pt>
                <c:pt idx="3">
                  <c:v>2028年</c:v>
                </c:pt>
                <c:pt idx="4">
                  <c:v>2029年</c:v>
                </c:pt>
                <c:pt idx="5">
                  <c:v>2030年</c:v>
                </c:pt>
              </c:strCache>
            </c:strRef>
          </c:cat>
          <c:val>
            <c:numRef>
              <c:f>PPT用图!$B$2:$G$2</c:f>
              <c:numCache>
                <c:formatCode>#,##0_ </c:formatCode>
                <c:ptCount val="6"/>
                <c:pt idx="0">
                  <c:v>1583</c:v>
                </c:pt>
                <c:pt idx="1">
                  <c:v>5136</c:v>
                </c:pt>
                <c:pt idx="2">
                  <c:v>12940</c:v>
                </c:pt>
                <c:pt idx="3">
                  <c:v>23126</c:v>
                </c:pt>
                <c:pt idx="4">
                  <c:v>39242</c:v>
                </c:pt>
                <c:pt idx="5">
                  <c:v>56670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6-43DB-A4AF-1338B79E51DE}"/>
            </c:ext>
          </c:extLst>
        </c:ser>
        <c:ser>
          <c:idx val="1"/>
          <c:order val="1"/>
          <c:tx>
            <c:strRef>
              <c:f>PPT用图!$A$3</c:f>
              <c:strCache>
                <c:ptCount val="1"/>
                <c:pt idx="0">
                  <c:v>净利润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PPT用图!$B$1:$G$1</c:f>
              <c:strCache>
                <c:ptCount val="6"/>
                <c:pt idx="0">
                  <c:v>2025年</c:v>
                </c:pt>
                <c:pt idx="1">
                  <c:v>2026年</c:v>
                </c:pt>
                <c:pt idx="2">
                  <c:v>2027年</c:v>
                </c:pt>
                <c:pt idx="3">
                  <c:v>2028年</c:v>
                </c:pt>
                <c:pt idx="4">
                  <c:v>2029年</c:v>
                </c:pt>
                <c:pt idx="5">
                  <c:v>2030年</c:v>
                </c:pt>
              </c:strCache>
            </c:strRef>
          </c:cat>
          <c:val>
            <c:numRef>
              <c:f>PPT用图!$B$3:$G$3</c:f>
              <c:numCache>
                <c:formatCode>General</c:formatCode>
                <c:ptCount val="6"/>
                <c:pt idx="2" formatCode="#,##0_ ">
                  <c:v>2590</c:v>
                </c:pt>
                <c:pt idx="3" formatCode="#,##0_ ">
                  <c:v>6314</c:v>
                </c:pt>
                <c:pt idx="4" formatCode="#,##0_ ">
                  <c:v>11502</c:v>
                </c:pt>
                <c:pt idx="5" formatCode="#,##0_ ">
                  <c:v>17992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6-43DB-A4AF-1338B79E51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9"/>
        <c:axId val="702742895"/>
        <c:axId val="702759215"/>
      </c:barChart>
      <c:catAx>
        <c:axId val="702742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2759215"/>
        <c:crosses val="autoZero"/>
        <c:auto val="1"/>
        <c:lblAlgn val="ctr"/>
        <c:lblOffset val="100"/>
        <c:noMultiLvlLbl val="0"/>
      </c:catAx>
      <c:valAx>
        <c:axId val="702759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2742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38DE2C-29BD-4836-ABF6-3DCB518E1176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0F70C20-D170-4B02-9539-3BF583909236}">
      <dgm:prSet phldrT="[文本]" custT="1"/>
      <dgm:spPr/>
      <dgm:t>
        <a:bodyPr/>
        <a:lstStyle/>
        <a:p>
          <a:pPr algn="l"/>
          <a:r>
            <a:rPr lang="zh-CN" altLang="en-US" sz="3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Arial"/>
              <a:cs typeface="+mn-cs"/>
            </a:rPr>
            <a:t>抗凝治疗</a:t>
          </a:r>
          <a:r>
            <a:rPr lang="en-US" altLang="zh-CN" sz="3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Arial"/>
              <a:cs typeface="+mn-cs"/>
            </a:rPr>
            <a:t>(</a:t>
          </a:r>
          <a:r>
            <a:rPr lang="zh-CN" altLang="en-US" sz="3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Arial"/>
              <a:cs typeface="+mn-cs"/>
            </a:rPr>
            <a:t>药物</a:t>
          </a:r>
          <a:r>
            <a:rPr lang="en-US" altLang="zh-CN" sz="3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Arial"/>
              <a:cs typeface="+mn-cs"/>
            </a:rPr>
            <a:t>)</a:t>
          </a:r>
          <a:endParaRPr lang="zh-CN" altLang="en-US" sz="32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/>
            <a:ea typeface="Arial"/>
            <a:cs typeface="+mn-cs"/>
          </a:endParaRPr>
        </a:p>
      </dgm:t>
    </dgm:pt>
    <dgm:pt modelId="{10001D56-8FB3-4932-B84D-1DB3B2BBAE92}" type="parTrans" cxnId="{4A4C753B-5DD9-40B6-BE6C-3F26D570CEA5}">
      <dgm:prSet/>
      <dgm:spPr/>
      <dgm:t>
        <a:bodyPr/>
        <a:lstStyle/>
        <a:p>
          <a:endParaRPr lang="zh-CN" altLang="en-US"/>
        </a:p>
      </dgm:t>
    </dgm:pt>
    <dgm:pt modelId="{90AC99AF-C210-415A-B040-AA1525617C7D}" type="sibTrans" cxnId="{4A4C753B-5DD9-40B6-BE6C-3F26D570CEA5}">
      <dgm:prSet/>
      <dgm:spPr/>
      <dgm:t>
        <a:bodyPr/>
        <a:lstStyle/>
        <a:p>
          <a:endParaRPr lang="zh-CN" altLang="en-US"/>
        </a:p>
      </dgm:t>
    </dgm:pt>
    <dgm:pt modelId="{7C2B8C51-E844-41F3-B584-16B905597344}">
      <dgm:prSet phldrT="[文本]" custT="1"/>
      <dgm:spPr/>
      <dgm:t>
        <a:bodyPr/>
        <a:lstStyle/>
        <a:p>
          <a:r>
            <a:rPr lang="zh-CN" altLang="en-US" sz="4600" b="1" dirty="0">
              <a:latin typeface="+mn-ea"/>
              <a:ea typeface="+mn-ea"/>
            </a:rPr>
            <a:t>  </a:t>
          </a:r>
          <a:r>
            <a:rPr lang="zh-CN" altLang="en-US" sz="3200" b="1" dirty="0">
              <a:latin typeface="+mn-ea"/>
              <a:ea typeface="+mn-ea"/>
            </a:rPr>
            <a:t>溶栓治疗</a:t>
          </a:r>
          <a:r>
            <a:rPr lang="en-US" altLang="zh-CN" sz="3200" b="1" dirty="0">
              <a:latin typeface="+mn-ea"/>
              <a:ea typeface="+mn-ea"/>
            </a:rPr>
            <a:t>(CDT)</a:t>
          </a:r>
          <a:endParaRPr lang="zh-CN" altLang="en-US" sz="3200" dirty="0"/>
        </a:p>
      </dgm:t>
    </dgm:pt>
    <dgm:pt modelId="{80FA52CA-151B-4D30-A5D1-367355BC37B9}" type="parTrans" cxnId="{A0B6339C-9DE5-44DD-BA50-509D8C885A44}">
      <dgm:prSet/>
      <dgm:spPr/>
      <dgm:t>
        <a:bodyPr/>
        <a:lstStyle/>
        <a:p>
          <a:endParaRPr lang="zh-CN" altLang="en-US"/>
        </a:p>
      </dgm:t>
    </dgm:pt>
    <dgm:pt modelId="{7C44F4DE-9E8D-43E0-859D-CECCB75050EA}" type="sibTrans" cxnId="{A0B6339C-9DE5-44DD-BA50-509D8C885A44}">
      <dgm:prSet/>
      <dgm:spPr/>
      <dgm:t>
        <a:bodyPr/>
        <a:lstStyle/>
        <a:p>
          <a:endParaRPr lang="zh-CN" altLang="en-US"/>
        </a:p>
      </dgm:t>
    </dgm:pt>
    <dgm:pt modelId="{362D655D-FECB-4C87-8263-D76D75A79E83}">
      <dgm:prSet phldrT="[文本]" custT="1"/>
      <dgm:spPr/>
      <dgm:t>
        <a:bodyPr/>
        <a:lstStyle/>
        <a:p>
          <a:r>
            <a:rPr lang="zh-CN" altLang="en-US" sz="4600" b="1" dirty="0">
              <a:latin typeface="+mn-ea"/>
              <a:ea typeface="+mn-ea"/>
            </a:rPr>
            <a:t>  </a:t>
          </a:r>
          <a:r>
            <a:rPr lang="zh-CN" altLang="en-US" sz="3200" b="1" dirty="0">
              <a:latin typeface="+mn-ea"/>
              <a:ea typeface="+mn-ea"/>
            </a:rPr>
            <a:t>血栓清除术</a:t>
          </a:r>
          <a:r>
            <a:rPr lang="en-US" altLang="zh-CN" sz="3200" b="1" dirty="0">
              <a:latin typeface="+mn-ea"/>
              <a:ea typeface="+mn-ea"/>
            </a:rPr>
            <a:t>(PMT)</a:t>
          </a:r>
          <a:endParaRPr lang="zh-CN" altLang="en-US" sz="3200" dirty="0"/>
        </a:p>
      </dgm:t>
    </dgm:pt>
    <dgm:pt modelId="{A9C8374E-0E6C-40F1-8947-1203732247A0}" type="parTrans" cxnId="{D0027F65-5B3B-47D3-AEAB-AD21499D9C61}">
      <dgm:prSet/>
      <dgm:spPr/>
      <dgm:t>
        <a:bodyPr/>
        <a:lstStyle/>
        <a:p>
          <a:endParaRPr lang="zh-CN" altLang="en-US"/>
        </a:p>
      </dgm:t>
    </dgm:pt>
    <dgm:pt modelId="{8F775D8E-C364-4876-BA13-016EA485E80E}" type="sibTrans" cxnId="{D0027F65-5B3B-47D3-AEAB-AD21499D9C61}">
      <dgm:prSet/>
      <dgm:spPr/>
      <dgm:t>
        <a:bodyPr/>
        <a:lstStyle/>
        <a:p>
          <a:endParaRPr lang="zh-CN" altLang="en-US"/>
        </a:p>
      </dgm:t>
    </dgm:pt>
    <dgm:pt modelId="{E162A932-080F-4223-8008-676C914A7810}" type="pres">
      <dgm:prSet presAssocID="{6B38DE2C-29BD-4836-ABF6-3DCB518E1176}" presName="Name0" presStyleCnt="0">
        <dgm:presLayoutVars>
          <dgm:dir/>
          <dgm:resizeHandles val="exact"/>
        </dgm:presLayoutVars>
      </dgm:prSet>
      <dgm:spPr/>
    </dgm:pt>
    <dgm:pt modelId="{CEB4B689-4C2A-4CFE-8919-B22CE7480641}" type="pres">
      <dgm:prSet presAssocID="{20F70C20-D170-4B02-9539-3BF583909236}" presName="composite" presStyleCnt="0"/>
      <dgm:spPr/>
    </dgm:pt>
    <dgm:pt modelId="{0E07F9C8-38BF-44FA-9859-4167E0B39A44}" type="pres">
      <dgm:prSet presAssocID="{20F70C20-D170-4B02-9539-3BF583909236}" presName="rect1" presStyleLbl="trAlignAcc1" presStyleIdx="0" presStyleCnt="3" custScaleX="89927" custScaleY="124061">
        <dgm:presLayoutVars>
          <dgm:bulletEnabled val="1"/>
        </dgm:presLayoutVars>
      </dgm:prSet>
      <dgm:spPr/>
    </dgm:pt>
    <dgm:pt modelId="{D043119F-9BAD-4441-9924-A96DBAA80379}" type="pres">
      <dgm:prSet presAssocID="{20F70C20-D170-4B02-9539-3BF583909236}" presName="rect2" presStyleLbl="fgImgPlace1" presStyleIdx="0" presStyleCnt="3" custScaleX="165102" custLinFactNeighborX="-11209"/>
      <dgm:spPr>
        <a:blipFill rotWithShape="1">
          <a:blip xmlns:r="http://schemas.openxmlformats.org/officeDocument/2006/relationships" r:embed="rId1" cstate="email"/>
          <a:srcRect/>
          <a:stretch>
            <a:fillRect l="-41000" r="-41000"/>
          </a:stretch>
        </a:blipFill>
      </dgm:spPr>
    </dgm:pt>
    <dgm:pt modelId="{12C504E8-8D91-4914-A7A8-E703C9A792A0}" type="pres">
      <dgm:prSet presAssocID="{90AC99AF-C210-415A-B040-AA1525617C7D}" presName="sibTrans" presStyleCnt="0"/>
      <dgm:spPr/>
    </dgm:pt>
    <dgm:pt modelId="{A45EC791-B7D9-4233-9E4A-7F5805EDA34F}" type="pres">
      <dgm:prSet presAssocID="{7C2B8C51-E844-41F3-B584-16B905597344}" presName="composite" presStyleCnt="0"/>
      <dgm:spPr/>
    </dgm:pt>
    <dgm:pt modelId="{7EF6C8EF-17ED-46C6-9E71-931E058269FB}" type="pres">
      <dgm:prSet presAssocID="{7C2B8C51-E844-41F3-B584-16B905597344}" presName="rect1" presStyleLbl="trAlignAcc1" presStyleIdx="1" presStyleCnt="3" custScaleX="97863">
        <dgm:presLayoutVars>
          <dgm:bulletEnabled val="1"/>
        </dgm:presLayoutVars>
      </dgm:prSet>
      <dgm:spPr/>
    </dgm:pt>
    <dgm:pt modelId="{5F77B34A-309F-4CCB-A280-AB199A058293}" type="pres">
      <dgm:prSet presAssocID="{7C2B8C51-E844-41F3-B584-16B905597344}" presName="rect2" presStyleLbl="fgImgPlace1" presStyleIdx="1" presStyleCnt="3" custScaleX="167191"/>
      <dgm:spPr>
        <a:blipFill rotWithShape="1">
          <a:blip xmlns:r="http://schemas.openxmlformats.org/officeDocument/2006/relationships" r:embed="rId2"/>
          <a:srcRect/>
          <a:stretch>
            <a:fillRect l="-39000" r="-39000"/>
          </a:stretch>
        </a:blipFill>
      </dgm:spPr>
    </dgm:pt>
    <dgm:pt modelId="{0CD0D91D-0B1E-48F2-812F-DB83D6594200}" type="pres">
      <dgm:prSet presAssocID="{7C44F4DE-9E8D-43E0-859D-CECCB75050EA}" presName="sibTrans" presStyleCnt="0"/>
      <dgm:spPr/>
    </dgm:pt>
    <dgm:pt modelId="{C95CF999-F1F1-4188-A7B7-D5BBFA0970F2}" type="pres">
      <dgm:prSet presAssocID="{362D655D-FECB-4C87-8263-D76D75A79E83}" presName="composite" presStyleCnt="0"/>
      <dgm:spPr/>
    </dgm:pt>
    <dgm:pt modelId="{FF86A0C8-F345-4A1D-84DC-77A4E761A10E}" type="pres">
      <dgm:prSet presAssocID="{362D655D-FECB-4C87-8263-D76D75A79E83}" presName="rect1" presStyleLbl="trAlignAcc1" presStyleIdx="2" presStyleCnt="3" custScaleX="101441">
        <dgm:presLayoutVars>
          <dgm:bulletEnabled val="1"/>
        </dgm:presLayoutVars>
      </dgm:prSet>
      <dgm:spPr/>
    </dgm:pt>
    <dgm:pt modelId="{F80534AF-46B7-4509-A569-145231C1E376}" type="pres">
      <dgm:prSet presAssocID="{362D655D-FECB-4C87-8263-D76D75A79E83}" presName="rect2" presStyleLbl="fgImgPlace1" presStyleIdx="2" presStyleCnt="3" custScaleX="153916"/>
      <dgm:spPr>
        <a:blipFill rotWithShape="1">
          <a:blip xmlns:r="http://schemas.openxmlformats.org/officeDocument/2006/relationships" r:embed="rId3"/>
          <a:srcRect/>
          <a:stretch>
            <a:fillRect l="-42000" r="-42000"/>
          </a:stretch>
        </a:blipFill>
      </dgm:spPr>
    </dgm:pt>
  </dgm:ptLst>
  <dgm:cxnLst>
    <dgm:cxn modelId="{76F5BC12-06FE-4F6C-A9FD-9ABB725479FD}" type="presOf" srcId="{6B38DE2C-29BD-4836-ABF6-3DCB518E1176}" destId="{E162A932-080F-4223-8008-676C914A7810}" srcOrd="0" destOrd="0" presId="urn:microsoft.com/office/officeart/2008/layout/PictureStrips"/>
    <dgm:cxn modelId="{4A4C753B-5DD9-40B6-BE6C-3F26D570CEA5}" srcId="{6B38DE2C-29BD-4836-ABF6-3DCB518E1176}" destId="{20F70C20-D170-4B02-9539-3BF583909236}" srcOrd="0" destOrd="0" parTransId="{10001D56-8FB3-4932-B84D-1DB3B2BBAE92}" sibTransId="{90AC99AF-C210-415A-B040-AA1525617C7D}"/>
    <dgm:cxn modelId="{D0027F65-5B3B-47D3-AEAB-AD21499D9C61}" srcId="{6B38DE2C-29BD-4836-ABF6-3DCB518E1176}" destId="{362D655D-FECB-4C87-8263-D76D75A79E83}" srcOrd="2" destOrd="0" parTransId="{A9C8374E-0E6C-40F1-8947-1203732247A0}" sibTransId="{8F775D8E-C364-4876-BA13-016EA485E80E}"/>
    <dgm:cxn modelId="{A0B6339C-9DE5-44DD-BA50-509D8C885A44}" srcId="{6B38DE2C-29BD-4836-ABF6-3DCB518E1176}" destId="{7C2B8C51-E844-41F3-B584-16B905597344}" srcOrd="1" destOrd="0" parTransId="{80FA52CA-151B-4D30-A5D1-367355BC37B9}" sibTransId="{7C44F4DE-9E8D-43E0-859D-CECCB75050EA}"/>
    <dgm:cxn modelId="{3AF36BA7-8B88-4FC1-BE77-25CFBFA9BA44}" type="presOf" srcId="{362D655D-FECB-4C87-8263-D76D75A79E83}" destId="{FF86A0C8-F345-4A1D-84DC-77A4E761A10E}" srcOrd="0" destOrd="0" presId="urn:microsoft.com/office/officeart/2008/layout/PictureStrips"/>
    <dgm:cxn modelId="{E7EF2AAF-EEB5-4161-84BD-84BCAB719B09}" type="presOf" srcId="{7C2B8C51-E844-41F3-B584-16B905597344}" destId="{7EF6C8EF-17ED-46C6-9E71-931E058269FB}" srcOrd="0" destOrd="0" presId="urn:microsoft.com/office/officeart/2008/layout/PictureStrips"/>
    <dgm:cxn modelId="{4DEA8EB3-C7E2-4706-B7D5-72EEFDC3EF0A}" type="presOf" srcId="{20F70C20-D170-4B02-9539-3BF583909236}" destId="{0E07F9C8-38BF-44FA-9859-4167E0B39A44}" srcOrd="0" destOrd="0" presId="urn:microsoft.com/office/officeart/2008/layout/PictureStrips"/>
    <dgm:cxn modelId="{C0F39C6D-D492-46E9-83CF-3833E2F290FC}" type="presParOf" srcId="{E162A932-080F-4223-8008-676C914A7810}" destId="{CEB4B689-4C2A-4CFE-8919-B22CE7480641}" srcOrd="0" destOrd="0" presId="urn:microsoft.com/office/officeart/2008/layout/PictureStrips"/>
    <dgm:cxn modelId="{B5ABF7A1-6C55-4DB1-A1A7-389A663D6E8F}" type="presParOf" srcId="{CEB4B689-4C2A-4CFE-8919-B22CE7480641}" destId="{0E07F9C8-38BF-44FA-9859-4167E0B39A44}" srcOrd="0" destOrd="0" presId="urn:microsoft.com/office/officeart/2008/layout/PictureStrips"/>
    <dgm:cxn modelId="{71120AD2-9736-45DF-B303-B2DE5B640F3F}" type="presParOf" srcId="{CEB4B689-4C2A-4CFE-8919-B22CE7480641}" destId="{D043119F-9BAD-4441-9924-A96DBAA80379}" srcOrd="1" destOrd="0" presId="urn:microsoft.com/office/officeart/2008/layout/PictureStrips"/>
    <dgm:cxn modelId="{5AB734CD-40B3-44DA-B112-909AAD6DF692}" type="presParOf" srcId="{E162A932-080F-4223-8008-676C914A7810}" destId="{12C504E8-8D91-4914-A7A8-E703C9A792A0}" srcOrd="1" destOrd="0" presId="urn:microsoft.com/office/officeart/2008/layout/PictureStrips"/>
    <dgm:cxn modelId="{0357529C-917E-48CE-9772-1508376EF866}" type="presParOf" srcId="{E162A932-080F-4223-8008-676C914A7810}" destId="{A45EC791-B7D9-4233-9E4A-7F5805EDA34F}" srcOrd="2" destOrd="0" presId="urn:microsoft.com/office/officeart/2008/layout/PictureStrips"/>
    <dgm:cxn modelId="{B07F5958-CD1F-45D0-A3A5-6097CDEBD907}" type="presParOf" srcId="{A45EC791-B7D9-4233-9E4A-7F5805EDA34F}" destId="{7EF6C8EF-17ED-46C6-9E71-931E058269FB}" srcOrd="0" destOrd="0" presId="urn:microsoft.com/office/officeart/2008/layout/PictureStrips"/>
    <dgm:cxn modelId="{A6118F53-E67C-4802-B81B-106F3BBC1173}" type="presParOf" srcId="{A45EC791-B7D9-4233-9E4A-7F5805EDA34F}" destId="{5F77B34A-309F-4CCB-A280-AB199A058293}" srcOrd="1" destOrd="0" presId="urn:microsoft.com/office/officeart/2008/layout/PictureStrips"/>
    <dgm:cxn modelId="{C6B1F01A-F02F-4054-9E33-12143DD2446F}" type="presParOf" srcId="{E162A932-080F-4223-8008-676C914A7810}" destId="{0CD0D91D-0B1E-48F2-812F-DB83D6594200}" srcOrd="3" destOrd="0" presId="urn:microsoft.com/office/officeart/2008/layout/PictureStrips"/>
    <dgm:cxn modelId="{4A6F524A-08D7-4E7F-BC9A-F6EF98BC561F}" type="presParOf" srcId="{E162A932-080F-4223-8008-676C914A7810}" destId="{C95CF999-F1F1-4188-A7B7-D5BBFA0970F2}" srcOrd="4" destOrd="0" presId="urn:microsoft.com/office/officeart/2008/layout/PictureStrips"/>
    <dgm:cxn modelId="{07E08DFF-B048-4DDE-B6AE-399DE8A16390}" type="presParOf" srcId="{C95CF999-F1F1-4188-A7B7-D5BBFA0970F2}" destId="{FF86A0C8-F345-4A1D-84DC-77A4E761A10E}" srcOrd="0" destOrd="0" presId="urn:microsoft.com/office/officeart/2008/layout/PictureStrips"/>
    <dgm:cxn modelId="{9D12463D-1141-40E1-978E-147B73C656AB}" type="presParOf" srcId="{C95CF999-F1F1-4188-A7B7-D5BBFA0970F2}" destId="{F80534AF-46B7-4509-A569-145231C1E376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9BBE32-92E3-455B-8242-F37AACB1948A}" type="doc">
      <dgm:prSet loTypeId="urn:microsoft.com/office/officeart/2005/8/layout/list1#3" loCatId="list" qsTypeId="urn:microsoft.com/office/officeart/2005/8/quickstyle/simple1#5" qsCatId="simple" csTypeId="urn:microsoft.com/office/officeart/2005/8/colors/accent1_2#7" csCatId="accent1" phldr="1"/>
      <dgm:spPr/>
      <dgm:t>
        <a:bodyPr/>
        <a:lstStyle/>
        <a:p>
          <a:endParaRPr lang="zh-CN" altLang="en-US"/>
        </a:p>
      </dgm:t>
    </dgm:pt>
    <dgm:pt modelId="{25D9359B-5F80-4C59-9E1D-0D1BBEA31243}">
      <dgm:prSet phldrT="[文本]" custT="1"/>
      <dgm:spPr>
        <a:solidFill>
          <a:srgbClr val="0070C0"/>
        </a:solidFill>
      </dgm:spPr>
      <dgm:t>
        <a:bodyPr/>
        <a:lstStyle/>
        <a:p>
          <a:r>
            <a:rPr lang="zh-CN" altLang="en-US" sz="2100" dirty="0"/>
            <a:t>患病率高：国内逾</a:t>
          </a:r>
          <a:r>
            <a:rPr lang="zh-CN" altLang="en-US" sz="2100" dirty="0">
              <a:solidFill>
                <a:srgbClr val="FF0000"/>
              </a:solidFill>
            </a:rPr>
            <a:t>千万</a:t>
          </a:r>
          <a:r>
            <a:rPr lang="zh-CN" altLang="en-US" sz="2100" dirty="0"/>
            <a:t>心衰患者</a:t>
          </a:r>
        </a:p>
      </dgm:t>
    </dgm:pt>
    <dgm:pt modelId="{C7422162-2860-4FCB-9AB4-CE65DBDBFEC1}" type="parTrans" cxnId="{2656ACD9-03A8-4DF6-872A-69D3124463A1}">
      <dgm:prSet/>
      <dgm:spPr/>
      <dgm:t>
        <a:bodyPr/>
        <a:lstStyle/>
        <a:p>
          <a:endParaRPr lang="zh-CN" altLang="en-US"/>
        </a:p>
      </dgm:t>
    </dgm:pt>
    <dgm:pt modelId="{19C90CF5-29E5-4AFD-8A78-3C665A15511E}" type="sibTrans" cxnId="{2656ACD9-03A8-4DF6-872A-69D3124463A1}">
      <dgm:prSet/>
      <dgm:spPr/>
      <dgm:t>
        <a:bodyPr/>
        <a:lstStyle/>
        <a:p>
          <a:endParaRPr lang="zh-CN" altLang="en-US"/>
        </a:p>
      </dgm:t>
    </dgm:pt>
    <dgm:pt modelId="{82C6B701-CD50-485C-8710-B708BDBEBE51}">
      <dgm:prSet phldrT="[文本]" custT="1"/>
      <dgm:spPr>
        <a:solidFill>
          <a:srgbClr val="0070C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59196" tIns="0" rIns="159196" bIns="0" numCol="1" spcCol="1270" anchor="ctr" anchorCtr="0"/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>
              <a:solidFill>
                <a:prstClr val="white"/>
              </a:solidFill>
              <a:latin typeface="Arial" panose="020B0604020202020204"/>
              <a:ea typeface="Arial" panose="020B0604020202020204"/>
              <a:cs typeface="+mn-cs"/>
            </a:rPr>
            <a:t>生存率低：</a:t>
          </a:r>
          <a:r>
            <a:rPr lang="en-US" altLang="zh-CN" sz="2100" kern="1200" dirty="0">
              <a:solidFill>
                <a:prstClr val="white"/>
              </a:solidFill>
              <a:latin typeface="Arial" panose="020B0604020202020204"/>
              <a:ea typeface="Arial" panose="020B0604020202020204"/>
              <a:cs typeface="+mn-cs"/>
            </a:rPr>
            <a:t>5</a:t>
          </a:r>
          <a:r>
            <a:rPr lang="zh-CN" altLang="en-US" sz="2100" kern="1200" dirty="0">
              <a:solidFill>
                <a:prstClr val="white"/>
              </a:solidFill>
              <a:latin typeface="Arial" panose="020B0604020202020204"/>
              <a:ea typeface="Arial" panose="020B0604020202020204"/>
              <a:cs typeface="+mn-cs"/>
            </a:rPr>
            <a:t>年生存率低于</a:t>
          </a:r>
          <a:r>
            <a:rPr lang="en-US" altLang="zh-CN" sz="2100" kern="1200" dirty="0">
              <a:solidFill>
                <a:srgbClr val="FF0000"/>
              </a:solidFill>
              <a:latin typeface="Arial" panose="020B0604020202020204"/>
              <a:ea typeface="Arial" panose="020B0604020202020204"/>
              <a:cs typeface="+mn-cs"/>
            </a:rPr>
            <a:t>50%</a:t>
          </a:r>
          <a:endParaRPr lang="zh-CN" altLang="en-US" sz="2100" kern="1200" dirty="0">
            <a:solidFill>
              <a:srgbClr val="FF0000"/>
            </a:solidFill>
            <a:latin typeface="Arial" panose="020B0604020202020204"/>
            <a:ea typeface="Arial" panose="020B0604020202020204"/>
            <a:cs typeface="+mn-cs"/>
          </a:endParaRPr>
        </a:p>
      </dgm:t>
    </dgm:pt>
    <dgm:pt modelId="{A89902DF-4611-4BA1-8052-60BE4B7DAE77}" type="parTrans" cxnId="{1C4E9B07-5649-4738-A33A-9278A2404D11}">
      <dgm:prSet/>
      <dgm:spPr/>
      <dgm:t>
        <a:bodyPr/>
        <a:lstStyle/>
        <a:p>
          <a:endParaRPr lang="zh-CN" altLang="en-US"/>
        </a:p>
      </dgm:t>
    </dgm:pt>
    <dgm:pt modelId="{CD55B2C0-A76E-4744-AAD7-AB44A5220F36}" type="sibTrans" cxnId="{1C4E9B07-5649-4738-A33A-9278A2404D11}">
      <dgm:prSet/>
      <dgm:spPr/>
      <dgm:t>
        <a:bodyPr/>
        <a:lstStyle/>
        <a:p>
          <a:endParaRPr lang="zh-CN" altLang="en-US"/>
        </a:p>
      </dgm:t>
    </dgm:pt>
    <dgm:pt modelId="{43C4600D-0416-455C-A20D-A62ACD4994D2}">
      <dgm:prSet phldrT="[文本]" custT="1"/>
      <dgm:spPr>
        <a:solidFill>
          <a:srgbClr val="0070C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59196" tIns="0" rIns="159196" bIns="0" numCol="1" spcCol="1270" anchor="ctr" anchorCtr="0"/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>
              <a:solidFill>
                <a:prstClr val="white"/>
              </a:solidFill>
              <a:latin typeface="Arial" panose="020B0604020202020204"/>
              <a:ea typeface="Arial" panose="020B0604020202020204"/>
              <a:cs typeface="+mn-cs"/>
            </a:rPr>
            <a:t>治疗有限：药物仅早期保守治疗</a:t>
          </a:r>
        </a:p>
      </dgm:t>
    </dgm:pt>
    <dgm:pt modelId="{AE165206-137E-4257-8DF2-377E25169D2E}" type="parTrans" cxnId="{DFD31783-30A4-42D3-8C31-6696F1840D66}">
      <dgm:prSet/>
      <dgm:spPr/>
      <dgm:t>
        <a:bodyPr/>
        <a:lstStyle/>
        <a:p>
          <a:endParaRPr lang="zh-CN" altLang="en-US"/>
        </a:p>
      </dgm:t>
    </dgm:pt>
    <dgm:pt modelId="{49081D93-9527-4F4A-A03B-C3D3859E13E0}" type="sibTrans" cxnId="{DFD31783-30A4-42D3-8C31-6696F1840D66}">
      <dgm:prSet/>
      <dgm:spPr/>
      <dgm:t>
        <a:bodyPr/>
        <a:lstStyle/>
        <a:p>
          <a:endParaRPr lang="zh-CN" altLang="en-US"/>
        </a:p>
      </dgm:t>
    </dgm:pt>
    <dgm:pt modelId="{01DD023E-DFC4-42BF-9830-8607048DBFEF}" type="pres">
      <dgm:prSet presAssocID="{C39BBE32-92E3-455B-8242-F37AACB1948A}" presName="linear" presStyleCnt="0">
        <dgm:presLayoutVars>
          <dgm:dir/>
          <dgm:animLvl val="lvl"/>
          <dgm:resizeHandles val="exact"/>
        </dgm:presLayoutVars>
      </dgm:prSet>
      <dgm:spPr/>
    </dgm:pt>
    <dgm:pt modelId="{72E15605-66A2-4619-8D99-AD87C87FC4AF}" type="pres">
      <dgm:prSet presAssocID="{25D9359B-5F80-4C59-9E1D-0D1BBEA31243}" presName="parentLin" presStyleCnt="0"/>
      <dgm:spPr/>
    </dgm:pt>
    <dgm:pt modelId="{21436249-75AC-4B0B-8721-D13F25BE421D}" type="pres">
      <dgm:prSet presAssocID="{25D9359B-5F80-4C59-9E1D-0D1BBEA31243}" presName="parentLeftMargin" presStyleLbl="node1" presStyleIdx="0" presStyleCnt="3"/>
      <dgm:spPr/>
    </dgm:pt>
    <dgm:pt modelId="{C1BEC293-1CAB-42B7-9CC9-76287E1C60B5}" type="pres">
      <dgm:prSet presAssocID="{25D9359B-5F80-4C59-9E1D-0D1BBEA31243}" presName="parentText" presStyleLbl="node1" presStyleIdx="0" presStyleCnt="3" custScaleX="121849">
        <dgm:presLayoutVars>
          <dgm:chMax val="0"/>
          <dgm:bulletEnabled val="1"/>
        </dgm:presLayoutVars>
      </dgm:prSet>
      <dgm:spPr/>
    </dgm:pt>
    <dgm:pt modelId="{89CEC801-3ADE-47FB-AF73-55540800D78E}" type="pres">
      <dgm:prSet presAssocID="{25D9359B-5F80-4C59-9E1D-0D1BBEA31243}" presName="negativeSpace" presStyleCnt="0"/>
      <dgm:spPr/>
    </dgm:pt>
    <dgm:pt modelId="{40A1175D-DDBB-46D1-8A1F-E79F7742AC62}" type="pres">
      <dgm:prSet presAssocID="{25D9359B-5F80-4C59-9E1D-0D1BBEA31243}" presName="childText" presStyleLbl="conFgAcc1" presStyleIdx="0" presStyleCnt="3">
        <dgm:presLayoutVars>
          <dgm:bulletEnabled val="1"/>
        </dgm:presLayoutVars>
      </dgm:prSet>
      <dgm:spPr/>
    </dgm:pt>
    <dgm:pt modelId="{84464239-432D-4ED3-9D43-F80CF73D79C4}" type="pres">
      <dgm:prSet presAssocID="{19C90CF5-29E5-4AFD-8A78-3C665A15511E}" presName="spaceBetweenRectangles" presStyleCnt="0"/>
      <dgm:spPr/>
    </dgm:pt>
    <dgm:pt modelId="{F0306652-3E7F-429E-AB3B-F173CCE8BBC9}" type="pres">
      <dgm:prSet presAssocID="{82C6B701-CD50-485C-8710-B708BDBEBE51}" presName="parentLin" presStyleCnt="0"/>
      <dgm:spPr/>
    </dgm:pt>
    <dgm:pt modelId="{25AB8AB5-0572-4E88-8EF2-BB6035946FFB}" type="pres">
      <dgm:prSet presAssocID="{82C6B701-CD50-485C-8710-B708BDBEBE51}" presName="parentLeftMargin" presStyleLbl="node1" presStyleIdx="0" presStyleCnt="3"/>
      <dgm:spPr/>
    </dgm:pt>
    <dgm:pt modelId="{E2015358-6064-477F-9DF3-53ED0AEC4D70}" type="pres">
      <dgm:prSet presAssocID="{82C6B701-CD50-485C-8710-B708BDBEBE51}" presName="parentText" presStyleLbl="node1" presStyleIdx="1" presStyleCnt="3" custScaleX="121947">
        <dgm:presLayoutVars>
          <dgm:chMax val="0"/>
          <dgm:bulletEnabled val="1"/>
        </dgm:presLayoutVars>
      </dgm:prSet>
      <dgm:spPr>
        <a:xfrm>
          <a:off x="300842" y="1464056"/>
          <a:ext cx="4211792" cy="619920"/>
        </a:xfrm>
        <a:prstGeom prst="roundRect">
          <a:avLst/>
        </a:prstGeom>
      </dgm:spPr>
    </dgm:pt>
    <dgm:pt modelId="{14AA4417-E08B-42EC-B3B8-B2F44A15DF1F}" type="pres">
      <dgm:prSet presAssocID="{82C6B701-CD50-485C-8710-B708BDBEBE51}" presName="negativeSpace" presStyleCnt="0"/>
      <dgm:spPr/>
    </dgm:pt>
    <dgm:pt modelId="{64AC9114-5E06-4314-877B-03FC3E8F450D}" type="pres">
      <dgm:prSet presAssocID="{82C6B701-CD50-485C-8710-B708BDBEBE51}" presName="childText" presStyleLbl="conFgAcc1" presStyleIdx="1" presStyleCnt="3">
        <dgm:presLayoutVars>
          <dgm:bulletEnabled val="1"/>
        </dgm:presLayoutVars>
      </dgm:prSet>
      <dgm:spPr/>
    </dgm:pt>
    <dgm:pt modelId="{9421C48E-9035-43EC-ADA6-40F3FAE80C73}" type="pres">
      <dgm:prSet presAssocID="{CD55B2C0-A76E-4744-AAD7-AB44A5220F36}" presName="spaceBetweenRectangles" presStyleCnt="0"/>
      <dgm:spPr/>
    </dgm:pt>
    <dgm:pt modelId="{3F0481F7-470D-436E-B18E-B99B6D701B29}" type="pres">
      <dgm:prSet presAssocID="{43C4600D-0416-455C-A20D-A62ACD4994D2}" presName="parentLin" presStyleCnt="0"/>
      <dgm:spPr/>
    </dgm:pt>
    <dgm:pt modelId="{8F75147D-7594-4826-984F-F80B2AC09548}" type="pres">
      <dgm:prSet presAssocID="{43C4600D-0416-455C-A20D-A62ACD4994D2}" presName="parentLeftMargin" presStyleLbl="node1" presStyleIdx="1" presStyleCnt="3"/>
      <dgm:spPr/>
    </dgm:pt>
    <dgm:pt modelId="{749DCDE2-40F1-4A27-B99E-34F52849307B}" type="pres">
      <dgm:prSet presAssocID="{43C4600D-0416-455C-A20D-A62ACD4994D2}" presName="parentText" presStyleLbl="node1" presStyleIdx="2" presStyleCnt="3" custScaleX="128582">
        <dgm:presLayoutVars>
          <dgm:chMax val="0"/>
          <dgm:bulletEnabled val="1"/>
        </dgm:presLayoutVars>
      </dgm:prSet>
      <dgm:spPr>
        <a:xfrm>
          <a:off x="300842" y="2416617"/>
          <a:ext cx="4211792" cy="619920"/>
        </a:xfrm>
        <a:prstGeom prst="roundRect">
          <a:avLst/>
        </a:prstGeom>
      </dgm:spPr>
    </dgm:pt>
    <dgm:pt modelId="{7E7DBA3B-63B2-4DD1-AFCE-D345346ABBB5}" type="pres">
      <dgm:prSet presAssocID="{43C4600D-0416-455C-A20D-A62ACD4994D2}" presName="negativeSpace" presStyleCnt="0"/>
      <dgm:spPr/>
    </dgm:pt>
    <dgm:pt modelId="{0A416FF9-57C5-444D-B0C6-A1A295490A96}" type="pres">
      <dgm:prSet presAssocID="{43C4600D-0416-455C-A20D-A62ACD4994D2}" presName="childText" presStyleLbl="conFgAcc1" presStyleIdx="2" presStyleCnt="3" custLinFactNeighborX="-196">
        <dgm:presLayoutVars>
          <dgm:bulletEnabled val="1"/>
        </dgm:presLayoutVars>
      </dgm:prSet>
      <dgm:spPr/>
    </dgm:pt>
  </dgm:ptLst>
  <dgm:cxnLst>
    <dgm:cxn modelId="{1C4E9B07-5649-4738-A33A-9278A2404D11}" srcId="{C39BBE32-92E3-455B-8242-F37AACB1948A}" destId="{82C6B701-CD50-485C-8710-B708BDBEBE51}" srcOrd="1" destOrd="0" parTransId="{A89902DF-4611-4BA1-8052-60BE4B7DAE77}" sibTransId="{CD55B2C0-A76E-4744-AAD7-AB44A5220F36}"/>
    <dgm:cxn modelId="{442BB780-07B4-432F-94A8-E64625F4392C}" type="presOf" srcId="{25D9359B-5F80-4C59-9E1D-0D1BBEA31243}" destId="{C1BEC293-1CAB-42B7-9CC9-76287E1C60B5}" srcOrd="1" destOrd="0" presId="urn:microsoft.com/office/officeart/2005/8/layout/list1#3"/>
    <dgm:cxn modelId="{DFD31783-30A4-42D3-8C31-6696F1840D66}" srcId="{C39BBE32-92E3-455B-8242-F37AACB1948A}" destId="{43C4600D-0416-455C-A20D-A62ACD4994D2}" srcOrd="2" destOrd="0" parTransId="{AE165206-137E-4257-8DF2-377E25169D2E}" sibTransId="{49081D93-9527-4F4A-A03B-C3D3859E13E0}"/>
    <dgm:cxn modelId="{621889AB-A541-4A32-B8F4-2A123AE38B12}" type="presOf" srcId="{82C6B701-CD50-485C-8710-B708BDBEBE51}" destId="{25AB8AB5-0572-4E88-8EF2-BB6035946FFB}" srcOrd="0" destOrd="0" presId="urn:microsoft.com/office/officeart/2005/8/layout/list1#3"/>
    <dgm:cxn modelId="{6B20ADB7-6DBF-400F-B041-BF2E9D3C6F7B}" type="presOf" srcId="{43C4600D-0416-455C-A20D-A62ACD4994D2}" destId="{749DCDE2-40F1-4A27-B99E-34F52849307B}" srcOrd="1" destOrd="0" presId="urn:microsoft.com/office/officeart/2005/8/layout/list1#3"/>
    <dgm:cxn modelId="{DA24E4C4-F970-4478-85C2-6918EA5716EF}" type="presOf" srcId="{43C4600D-0416-455C-A20D-A62ACD4994D2}" destId="{8F75147D-7594-4826-984F-F80B2AC09548}" srcOrd="0" destOrd="0" presId="urn:microsoft.com/office/officeart/2005/8/layout/list1#3"/>
    <dgm:cxn modelId="{013486C7-D832-4664-8318-D8007D9C0730}" type="presOf" srcId="{82C6B701-CD50-485C-8710-B708BDBEBE51}" destId="{E2015358-6064-477F-9DF3-53ED0AEC4D70}" srcOrd="1" destOrd="0" presId="urn:microsoft.com/office/officeart/2005/8/layout/list1#3"/>
    <dgm:cxn modelId="{2656ACD9-03A8-4DF6-872A-69D3124463A1}" srcId="{C39BBE32-92E3-455B-8242-F37AACB1948A}" destId="{25D9359B-5F80-4C59-9E1D-0D1BBEA31243}" srcOrd="0" destOrd="0" parTransId="{C7422162-2860-4FCB-9AB4-CE65DBDBFEC1}" sibTransId="{19C90CF5-29E5-4AFD-8A78-3C665A15511E}"/>
    <dgm:cxn modelId="{48C408F3-F77A-41B2-A056-4279D3BDFE7B}" type="presOf" srcId="{C39BBE32-92E3-455B-8242-F37AACB1948A}" destId="{01DD023E-DFC4-42BF-9830-8607048DBFEF}" srcOrd="0" destOrd="0" presId="urn:microsoft.com/office/officeart/2005/8/layout/list1#3"/>
    <dgm:cxn modelId="{CAE86EF8-911B-41E3-ADBF-30A3E26EB9FF}" type="presOf" srcId="{25D9359B-5F80-4C59-9E1D-0D1BBEA31243}" destId="{21436249-75AC-4B0B-8721-D13F25BE421D}" srcOrd="0" destOrd="0" presId="urn:microsoft.com/office/officeart/2005/8/layout/list1#3"/>
    <dgm:cxn modelId="{5D1DF362-E07A-4963-A2C1-2A66628BFF78}" type="presParOf" srcId="{01DD023E-DFC4-42BF-9830-8607048DBFEF}" destId="{72E15605-66A2-4619-8D99-AD87C87FC4AF}" srcOrd="0" destOrd="0" presId="urn:microsoft.com/office/officeart/2005/8/layout/list1#3"/>
    <dgm:cxn modelId="{7C668349-B3AF-40AD-982B-445713849CC8}" type="presParOf" srcId="{72E15605-66A2-4619-8D99-AD87C87FC4AF}" destId="{21436249-75AC-4B0B-8721-D13F25BE421D}" srcOrd="0" destOrd="0" presId="urn:microsoft.com/office/officeart/2005/8/layout/list1#3"/>
    <dgm:cxn modelId="{52D12016-DA27-41FF-AD8A-BED893FE3BF7}" type="presParOf" srcId="{72E15605-66A2-4619-8D99-AD87C87FC4AF}" destId="{C1BEC293-1CAB-42B7-9CC9-76287E1C60B5}" srcOrd="1" destOrd="0" presId="urn:microsoft.com/office/officeart/2005/8/layout/list1#3"/>
    <dgm:cxn modelId="{7CDD4EE9-10A6-464F-AA87-2559EDCB4AC2}" type="presParOf" srcId="{01DD023E-DFC4-42BF-9830-8607048DBFEF}" destId="{89CEC801-3ADE-47FB-AF73-55540800D78E}" srcOrd="1" destOrd="0" presId="urn:microsoft.com/office/officeart/2005/8/layout/list1#3"/>
    <dgm:cxn modelId="{890DEB2E-CF6D-4A0A-B332-4122EF64D75D}" type="presParOf" srcId="{01DD023E-DFC4-42BF-9830-8607048DBFEF}" destId="{40A1175D-DDBB-46D1-8A1F-E79F7742AC62}" srcOrd="2" destOrd="0" presId="urn:microsoft.com/office/officeart/2005/8/layout/list1#3"/>
    <dgm:cxn modelId="{514E96E9-3D7D-4A55-8C07-EF8745469DFF}" type="presParOf" srcId="{01DD023E-DFC4-42BF-9830-8607048DBFEF}" destId="{84464239-432D-4ED3-9D43-F80CF73D79C4}" srcOrd="3" destOrd="0" presId="urn:microsoft.com/office/officeart/2005/8/layout/list1#3"/>
    <dgm:cxn modelId="{CB5DAED1-3C25-4622-869C-CFDEADD73B4D}" type="presParOf" srcId="{01DD023E-DFC4-42BF-9830-8607048DBFEF}" destId="{F0306652-3E7F-429E-AB3B-F173CCE8BBC9}" srcOrd="4" destOrd="0" presId="urn:microsoft.com/office/officeart/2005/8/layout/list1#3"/>
    <dgm:cxn modelId="{764AC66C-83B3-4C32-BA24-ECBE6EE8E3F9}" type="presParOf" srcId="{F0306652-3E7F-429E-AB3B-F173CCE8BBC9}" destId="{25AB8AB5-0572-4E88-8EF2-BB6035946FFB}" srcOrd="0" destOrd="0" presId="urn:microsoft.com/office/officeart/2005/8/layout/list1#3"/>
    <dgm:cxn modelId="{1699EC8E-BCDC-4418-BAD6-27BD8AB9BA89}" type="presParOf" srcId="{F0306652-3E7F-429E-AB3B-F173CCE8BBC9}" destId="{E2015358-6064-477F-9DF3-53ED0AEC4D70}" srcOrd="1" destOrd="0" presId="urn:microsoft.com/office/officeart/2005/8/layout/list1#3"/>
    <dgm:cxn modelId="{AEFDD84D-E820-4C05-B024-ABFF5D383DF0}" type="presParOf" srcId="{01DD023E-DFC4-42BF-9830-8607048DBFEF}" destId="{14AA4417-E08B-42EC-B3B8-B2F44A15DF1F}" srcOrd="5" destOrd="0" presId="urn:microsoft.com/office/officeart/2005/8/layout/list1#3"/>
    <dgm:cxn modelId="{1BDB6A88-BD0B-4F5B-9EB8-6C61BD7CBE10}" type="presParOf" srcId="{01DD023E-DFC4-42BF-9830-8607048DBFEF}" destId="{64AC9114-5E06-4314-877B-03FC3E8F450D}" srcOrd="6" destOrd="0" presId="urn:microsoft.com/office/officeart/2005/8/layout/list1#3"/>
    <dgm:cxn modelId="{24934129-A7CA-4185-95F0-D67A5C04550A}" type="presParOf" srcId="{01DD023E-DFC4-42BF-9830-8607048DBFEF}" destId="{9421C48E-9035-43EC-ADA6-40F3FAE80C73}" srcOrd="7" destOrd="0" presId="urn:microsoft.com/office/officeart/2005/8/layout/list1#3"/>
    <dgm:cxn modelId="{0AF1E69D-78EA-4399-9AB7-3B380B564F88}" type="presParOf" srcId="{01DD023E-DFC4-42BF-9830-8607048DBFEF}" destId="{3F0481F7-470D-436E-B18E-B99B6D701B29}" srcOrd="8" destOrd="0" presId="urn:microsoft.com/office/officeart/2005/8/layout/list1#3"/>
    <dgm:cxn modelId="{A7832D95-BB5C-463A-A01D-1F19AFA47FDF}" type="presParOf" srcId="{3F0481F7-470D-436E-B18E-B99B6D701B29}" destId="{8F75147D-7594-4826-984F-F80B2AC09548}" srcOrd="0" destOrd="0" presId="urn:microsoft.com/office/officeart/2005/8/layout/list1#3"/>
    <dgm:cxn modelId="{6BAD658E-3342-4034-982B-3CDECB0F26E3}" type="presParOf" srcId="{3F0481F7-470D-436E-B18E-B99B6D701B29}" destId="{749DCDE2-40F1-4A27-B99E-34F52849307B}" srcOrd="1" destOrd="0" presId="urn:microsoft.com/office/officeart/2005/8/layout/list1#3"/>
    <dgm:cxn modelId="{B6078BD2-FE5B-4EA5-9E34-D8463FE8628E}" type="presParOf" srcId="{01DD023E-DFC4-42BF-9830-8607048DBFEF}" destId="{7E7DBA3B-63B2-4DD1-AFCE-D345346ABBB5}" srcOrd="9" destOrd="0" presId="urn:microsoft.com/office/officeart/2005/8/layout/list1#3"/>
    <dgm:cxn modelId="{53CA5305-4837-4A60-A490-52752C341FAB}" type="presParOf" srcId="{01DD023E-DFC4-42BF-9830-8607048DBFEF}" destId="{0A416FF9-57C5-444D-B0C6-A1A295490A96}" srcOrd="10" destOrd="0" presId="urn:microsoft.com/office/officeart/2005/8/layout/list1#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BC5F99-47B2-4C18-A8BE-6A66B9CB7E8F}" type="doc">
      <dgm:prSet loTypeId="urn:microsoft.com/office/officeart/2008/layout/HorizontalMultiLevelHierarchy#3" loCatId="hierarchy" qsTypeId="urn:microsoft.com/office/officeart/2005/8/quickstyle/simple1#6" qsCatId="simple" csTypeId="urn:microsoft.com/office/officeart/2005/8/colors/accent1_2#9" csCatId="accent1" phldr="1"/>
      <dgm:spPr/>
      <dgm:t>
        <a:bodyPr/>
        <a:lstStyle/>
        <a:p>
          <a:endParaRPr lang="zh-CN" altLang="en-US"/>
        </a:p>
      </dgm:t>
    </dgm:pt>
    <dgm:pt modelId="{D65D46F0-8D21-4C94-B83F-1762C65D5858}">
      <dgm:prSet phldrT="[文本]"/>
      <dgm:spPr>
        <a:solidFill>
          <a:srgbClr val="0070C0"/>
        </a:solidFill>
      </dgm:spPr>
      <dgm:t>
        <a:bodyPr/>
        <a:lstStyle/>
        <a:p>
          <a:r>
            <a:rPr lang="zh-CN" altLang="en-US" dirty="0"/>
            <a:t>左房压力高</a:t>
          </a:r>
        </a:p>
      </dgm:t>
    </dgm:pt>
    <dgm:pt modelId="{BE567DEF-7281-4360-9BEC-09DE78DB997A}" type="parTrans" cxnId="{1CD3B332-449F-4403-B786-5490AFA57471}">
      <dgm:prSet/>
      <dgm:spPr/>
      <dgm:t>
        <a:bodyPr/>
        <a:lstStyle/>
        <a:p>
          <a:endParaRPr lang="zh-CN" altLang="en-US"/>
        </a:p>
      </dgm:t>
    </dgm:pt>
    <dgm:pt modelId="{0C1C0689-E941-4FA1-A1A7-A8A5BED6A7BB}" type="sibTrans" cxnId="{1CD3B332-449F-4403-B786-5490AFA57471}">
      <dgm:prSet/>
      <dgm:spPr/>
      <dgm:t>
        <a:bodyPr/>
        <a:lstStyle/>
        <a:p>
          <a:endParaRPr lang="zh-CN" altLang="en-US"/>
        </a:p>
      </dgm:t>
    </dgm:pt>
    <dgm:pt modelId="{B849F495-DBF0-4C18-9A71-EC7421648CE0}">
      <dgm:prSet phldrT="[文本]"/>
      <dgm:spPr>
        <a:solidFill>
          <a:srgbClr val="0070C0"/>
        </a:solidFill>
      </dgm:spPr>
      <dgm:t>
        <a:bodyPr/>
        <a:lstStyle/>
        <a:p>
          <a:r>
            <a:rPr lang="zh-CN" altLang="en-US" dirty="0"/>
            <a:t>呼吸困难</a:t>
          </a:r>
        </a:p>
      </dgm:t>
    </dgm:pt>
    <dgm:pt modelId="{0D0A169A-50C3-449B-ABDA-D2225356B98A}" type="parTrans" cxnId="{D1234DC3-58DC-4263-B330-0E15FE37DDE1}">
      <dgm:prSet/>
      <dgm:spPr/>
      <dgm:t>
        <a:bodyPr/>
        <a:lstStyle/>
        <a:p>
          <a:endParaRPr lang="zh-CN" altLang="en-US"/>
        </a:p>
      </dgm:t>
    </dgm:pt>
    <dgm:pt modelId="{D87C32F4-D235-40D4-A7CA-792FE2B54BF3}" type="sibTrans" cxnId="{D1234DC3-58DC-4263-B330-0E15FE37DDE1}">
      <dgm:prSet/>
      <dgm:spPr/>
      <dgm:t>
        <a:bodyPr/>
        <a:lstStyle/>
        <a:p>
          <a:endParaRPr lang="zh-CN" altLang="en-US"/>
        </a:p>
      </dgm:t>
    </dgm:pt>
    <dgm:pt modelId="{ED9473F9-8D2D-45DC-9304-76D63F998FB7}">
      <dgm:prSet phldrT="[文本]"/>
      <dgm:spPr>
        <a:solidFill>
          <a:srgbClr val="0070C0"/>
        </a:solidFill>
      </dgm:spPr>
      <dgm:t>
        <a:bodyPr/>
        <a:lstStyle/>
        <a:p>
          <a:r>
            <a:rPr lang="zh-CN" altLang="en-US" dirty="0"/>
            <a:t>疲乏</a:t>
          </a:r>
        </a:p>
      </dgm:t>
    </dgm:pt>
    <dgm:pt modelId="{7ECA3F4B-B73B-4088-889F-C44D8BA5D159}" type="parTrans" cxnId="{4C3C2126-46B4-4C07-AB62-0441FE45C553}">
      <dgm:prSet/>
      <dgm:spPr/>
      <dgm:t>
        <a:bodyPr/>
        <a:lstStyle/>
        <a:p>
          <a:endParaRPr lang="zh-CN" altLang="en-US"/>
        </a:p>
      </dgm:t>
    </dgm:pt>
    <dgm:pt modelId="{77861E3A-DA62-4920-A28C-4A2E67A36BB2}" type="sibTrans" cxnId="{4C3C2126-46B4-4C07-AB62-0441FE45C553}">
      <dgm:prSet/>
      <dgm:spPr/>
      <dgm:t>
        <a:bodyPr/>
        <a:lstStyle/>
        <a:p>
          <a:endParaRPr lang="zh-CN" altLang="en-US"/>
        </a:p>
      </dgm:t>
    </dgm:pt>
    <dgm:pt modelId="{FB8FD449-13F7-4A63-9FEA-550E202BB78C}">
      <dgm:prSet phldrT="[文本]"/>
      <dgm:spPr>
        <a:solidFill>
          <a:srgbClr val="0070C0"/>
        </a:solidFill>
      </dgm:spPr>
      <dgm:t>
        <a:bodyPr/>
        <a:lstStyle/>
        <a:p>
          <a:r>
            <a:rPr lang="zh-CN" altLang="en-US" dirty="0"/>
            <a:t>淤血</a:t>
          </a:r>
        </a:p>
      </dgm:t>
    </dgm:pt>
    <dgm:pt modelId="{06579D23-E556-406B-AF0E-747C21D5540A}" type="parTrans" cxnId="{37CF7A03-F122-4B39-9989-73D8331A8EB0}">
      <dgm:prSet/>
      <dgm:spPr/>
      <dgm:t>
        <a:bodyPr/>
        <a:lstStyle/>
        <a:p>
          <a:endParaRPr lang="zh-CN" altLang="en-US"/>
        </a:p>
      </dgm:t>
    </dgm:pt>
    <dgm:pt modelId="{34596C39-ECA2-4D7A-A438-963D657052F4}" type="sibTrans" cxnId="{37CF7A03-F122-4B39-9989-73D8331A8EB0}">
      <dgm:prSet/>
      <dgm:spPr/>
      <dgm:t>
        <a:bodyPr/>
        <a:lstStyle/>
        <a:p>
          <a:endParaRPr lang="zh-CN" altLang="en-US"/>
        </a:p>
      </dgm:t>
    </dgm:pt>
    <dgm:pt modelId="{4F28A689-73D6-43AE-BFC0-68B7355CCF83}">
      <dgm:prSet phldrT="[文本]"/>
      <dgm:spPr>
        <a:solidFill>
          <a:srgbClr val="0070C0"/>
        </a:solidFill>
      </dgm:spPr>
      <dgm:t>
        <a:bodyPr/>
        <a:lstStyle/>
        <a:p>
          <a:r>
            <a:rPr lang="zh-CN" altLang="en-US" dirty="0"/>
            <a:t>液体潴留</a:t>
          </a:r>
        </a:p>
      </dgm:t>
    </dgm:pt>
    <dgm:pt modelId="{6CF6E33E-F857-4470-92AC-981521D28517}" type="parTrans" cxnId="{2AF0A7E7-F606-43A3-8401-9A4E51236C92}">
      <dgm:prSet/>
      <dgm:spPr/>
      <dgm:t>
        <a:bodyPr/>
        <a:lstStyle/>
        <a:p>
          <a:endParaRPr lang="zh-CN" altLang="en-US"/>
        </a:p>
      </dgm:t>
    </dgm:pt>
    <dgm:pt modelId="{8CE67695-F371-4046-B68A-3D78B55E9384}" type="sibTrans" cxnId="{2AF0A7E7-F606-43A3-8401-9A4E51236C92}">
      <dgm:prSet/>
      <dgm:spPr/>
      <dgm:t>
        <a:bodyPr/>
        <a:lstStyle/>
        <a:p>
          <a:endParaRPr lang="zh-CN" altLang="en-US"/>
        </a:p>
      </dgm:t>
    </dgm:pt>
    <dgm:pt modelId="{549BC009-57DD-4C0F-B52E-531BC735867F}" type="pres">
      <dgm:prSet presAssocID="{F4BC5F99-47B2-4C18-A8BE-6A66B9CB7E8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D850BAB-EA4A-4BFE-A557-FBC5162794A8}" type="pres">
      <dgm:prSet presAssocID="{D65D46F0-8D21-4C94-B83F-1762C65D5858}" presName="root1" presStyleCnt="0"/>
      <dgm:spPr/>
    </dgm:pt>
    <dgm:pt modelId="{F331E608-E127-4985-AA21-F061E281BB22}" type="pres">
      <dgm:prSet presAssocID="{D65D46F0-8D21-4C94-B83F-1762C65D5858}" presName="LevelOneTextNode" presStyleLbl="node0" presStyleIdx="0" presStyleCnt="1">
        <dgm:presLayoutVars>
          <dgm:chPref val="3"/>
        </dgm:presLayoutVars>
      </dgm:prSet>
      <dgm:spPr/>
    </dgm:pt>
    <dgm:pt modelId="{CCC587FE-2019-47F7-AFFA-04F562FDCCC9}" type="pres">
      <dgm:prSet presAssocID="{D65D46F0-8D21-4C94-B83F-1762C65D5858}" presName="level2hierChild" presStyleCnt="0"/>
      <dgm:spPr/>
    </dgm:pt>
    <dgm:pt modelId="{9364E821-FFD7-4F9A-BEC5-CD39E7114AFA}" type="pres">
      <dgm:prSet presAssocID="{0D0A169A-50C3-449B-ABDA-D2225356B98A}" presName="conn2-1" presStyleLbl="parChTrans1D2" presStyleIdx="0" presStyleCnt="4"/>
      <dgm:spPr/>
    </dgm:pt>
    <dgm:pt modelId="{BB24CFD6-9957-4E74-B262-4F40E4B8DD5C}" type="pres">
      <dgm:prSet presAssocID="{0D0A169A-50C3-449B-ABDA-D2225356B98A}" presName="connTx" presStyleLbl="parChTrans1D2" presStyleIdx="0" presStyleCnt="4"/>
      <dgm:spPr/>
    </dgm:pt>
    <dgm:pt modelId="{45B6DDFD-41E5-4ADF-B70C-DE63F7C3258E}" type="pres">
      <dgm:prSet presAssocID="{B849F495-DBF0-4C18-9A71-EC7421648CE0}" presName="root2" presStyleCnt="0"/>
      <dgm:spPr/>
    </dgm:pt>
    <dgm:pt modelId="{706FCBC6-96C9-4236-81E4-789B358F5790}" type="pres">
      <dgm:prSet presAssocID="{B849F495-DBF0-4C18-9A71-EC7421648CE0}" presName="LevelTwoTextNode" presStyleLbl="node2" presStyleIdx="0" presStyleCnt="4">
        <dgm:presLayoutVars>
          <dgm:chPref val="3"/>
        </dgm:presLayoutVars>
      </dgm:prSet>
      <dgm:spPr/>
    </dgm:pt>
    <dgm:pt modelId="{E7481667-0F73-460B-9EB8-4A66BFD01A8F}" type="pres">
      <dgm:prSet presAssocID="{B849F495-DBF0-4C18-9A71-EC7421648CE0}" presName="level3hierChild" presStyleCnt="0"/>
      <dgm:spPr/>
    </dgm:pt>
    <dgm:pt modelId="{F414E515-30D1-48A5-9B46-81494F51A107}" type="pres">
      <dgm:prSet presAssocID="{7ECA3F4B-B73B-4088-889F-C44D8BA5D159}" presName="conn2-1" presStyleLbl="parChTrans1D2" presStyleIdx="1" presStyleCnt="4"/>
      <dgm:spPr/>
    </dgm:pt>
    <dgm:pt modelId="{172CDFD4-97E7-4AE7-976B-A6F30E8005C5}" type="pres">
      <dgm:prSet presAssocID="{7ECA3F4B-B73B-4088-889F-C44D8BA5D159}" presName="connTx" presStyleLbl="parChTrans1D2" presStyleIdx="1" presStyleCnt="4"/>
      <dgm:spPr/>
    </dgm:pt>
    <dgm:pt modelId="{D6C342E5-2812-4F62-905D-78AAB354A71B}" type="pres">
      <dgm:prSet presAssocID="{ED9473F9-8D2D-45DC-9304-76D63F998FB7}" presName="root2" presStyleCnt="0"/>
      <dgm:spPr/>
    </dgm:pt>
    <dgm:pt modelId="{8208273C-3BE8-41DE-83E8-6078068DCC13}" type="pres">
      <dgm:prSet presAssocID="{ED9473F9-8D2D-45DC-9304-76D63F998FB7}" presName="LevelTwoTextNode" presStyleLbl="node2" presStyleIdx="1" presStyleCnt="4">
        <dgm:presLayoutVars>
          <dgm:chPref val="3"/>
        </dgm:presLayoutVars>
      </dgm:prSet>
      <dgm:spPr/>
    </dgm:pt>
    <dgm:pt modelId="{D4F4406E-2711-451B-8288-8C51EA95B235}" type="pres">
      <dgm:prSet presAssocID="{ED9473F9-8D2D-45DC-9304-76D63F998FB7}" presName="level3hierChild" presStyleCnt="0"/>
      <dgm:spPr/>
    </dgm:pt>
    <dgm:pt modelId="{9D58E276-9967-42AA-9F91-F4ABC2B224EC}" type="pres">
      <dgm:prSet presAssocID="{06579D23-E556-406B-AF0E-747C21D5540A}" presName="conn2-1" presStyleLbl="parChTrans1D2" presStyleIdx="2" presStyleCnt="4"/>
      <dgm:spPr/>
    </dgm:pt>
    <dgm:pt modelId="{4BC3606C-EED6-4E98-93E3-DCE30DD79157}" type="pres">
      <dgm:prSet presAssocID="{06579D23-E556-406B-AF0E-747C21D5540A}" presName="connTx" presStyleLbl="parChTrans1D2" presStyleIdx="2" presStyleCnt="4"/>
      <dgm:spPr/>
    </dgm:pt>
    <dgm:pt modelId="{89CFF9E8-966C-408D-B2AA-34752A6D3336}" type="pres">
      <dgm:prSet presAssocID="{FB8FD449-13F7-4A63-9FEA-550E202BB78C}" presName="root2" presStyleCnt="0"/>
      <dgm:spPr/>
    </dgm:pt>
    <dgm:pt modelId="{9D154FCA-8BAA-46CA-9CDF-BB5AA38D681D}" type="pres">
      <dgm:prSet presAssocID="{FB8FD449-13F7-4A63-9FEA-550E202BB78C}" presName="LevelTwoTextNode" presStyleLbl="node2" presStyleIdx="2" presStyleCnt="4">
        <dgm:presLayoutVars>
          <dgm:chPref val="3"/>
        </dgm:presLayoutVars>
      </dgm:prSet>
      <dgm:spPr/>
    </dgm:pt>
    <dgm:pt modelId="{FD5F5FEB-87E7-4F1B-BFD8-85FE6A38FBC3}" type="pres">
      <dgm:prSet presAssocID="{FB8FD449-13F7-4A63-9FEA-550E202BB78C}" presName="level3hierChild" presStyleCnt="0"/>
      <dgm:spPr/>
    </dgm:pt>
    <dgm:pt modelId="{EE0C0C2C-16D3-41D7-B4F8-C7F68EB60100}" type="pres">
      <dgm:prSet presAssocID="{6CF6E33E-F857-4470-92AC-981521D28517}" presName="conn2-1" presStyleLbl="parChTrans1D2" presStyleIdx="3" presStyleCnt="4"/>
      <dgm:spPr/>
    </dgm:pt>
    <dgm:pt modelId="{E1552C5A-1A4F-47D2-A3C0-FDB3F2985BA6}" type="pres">
      <dgm:prSet presAssocID="{6CF6E33E-F857-4470-92AC-981521D28517}" presName="connTx" presStyleLbl="parChTrans1D2" presStyleIdx="3" presStyleCnt="4"/>
      <dgm:spPr/>
    </dgm:pt>
    <dgm:pt modelId="{77B86EC7-5B6B-4861-9A60-C7A0FEE6FA13}" type="pres">
      <dgm:prSet presAssocID="{4F28A689-73D6-43AE-BFC0-68B7355CCF83}" presName="root2" presStyleCnt="0"/>
      <dgm:spPr/>
    </dgm:pt>
    <dgm:pt modelId="{59465D08-BE15-4E1A-9047-FE74B4FBCE17}" type="pres">
      <dgm:prSet presAssocID="{4F28A689-73D6-43AE-BFC0-68B7355CCF83}" presName="LevelTwoTextNode" presStyleLbl="node2" presStyleIdx="3" presStyleCnt="4">
        <dgm:presLayoutVars>
          <dgm:chPref val="3"/>
        </dgm:presLayoutVars>
      </dgm:prSet>
      <dgm:spPr/>
    </dgm:pt>
    <dgm:pt modelId="{16F620F3-3252-402D-A831-8312021821A1}" type="pres">
      <dgm:prSet presAssocID="{4F28A689-73D6-43AE-BFC0-68B7355CCF83}" presName="level3hierChild" presStyleCnt="0"/>
      <dgm:spPr/>
    </dgm:pt>
  </dgm:ptLst>
  <dgm:cxnLst>
    <dgm:cxn modelId="{37CF7A03-F122-4B39-9989-73D8331A8EB0}" srcId="{D65D46F0-8D21-4C94-B83F-1762C65D5858}" destId="{FB8FD449-13F7-4A63-9FEA-550E202BB78C}" srcOrd="2" destOrd="0" parTransId="{06579D23-E556-406B-AF0E-747C21D5540A}" sibTransId="{34596C39-ECA2-4D7A-A438-963D657052F4}"/>
    <dgm:cxn modelId="{1DE29913-551F-42FB-90E3-F81C79B60332}" type="presOf" srcId="{6CF6E33E-F857-4470-92AC-981521D28517}" destId="{E1552C5A-1A4F-47D2-A3C0-FDB3F2985BA6}" srcOrd="1" destOrd="0" presId="urn:microsoft.com/office/officeart/2008/layout/HorizontalMultiLevelHierarchy#3"/>
    <dgm:cxn modelId="{9C8DD816-1FEA-4718-911D-509284663772}" type="presOf" srcId="{B849F495-DBF0-4C18-9A71-EC7421648CE0}" destId="{706FCBC6-96C9-4236-81E4-789B358F5790}" srcOrd="0" destOrd="0" presId="urn:microsoft.com/office/officeart/2008/layout/HorizontalMultiLevelHierarchy#3"/>
    <dgm:cxn modelId="{B6CE3D19-8AD3-4500-8273-996EDB588235}" type="presOf" srcId="{0D0A169A-50C3-449B-ABDA-D2225356B98A}" destId="{BB24CFD6-9957-4E74-B262-4F40E4B8DD5C}" srcOrd="1" destOrd="0" presId="urn:microsoft.com/office/officeart/2008/layout/HorizontalMultiLevelHierarchy#3"/>
    <dgm:cxn modelId="{4825AB21-826E-4A40-9F4C-A06E78EC671D}" type="presOf" srcId="{ED9473F9-8D2D-45DC-9304-76D63F998FB7}" destId="{8208273C-3BE8-41DE-83E8-6078068DCC13}" srcOrd="0" destOrd="0" presId="urn:microsoft.com/office/officeart/2008/layout/HorizontalMultiLevelHierarchy#3"/>
    <dgm:cxn modelId="{4C3C2126-46B4-4C07-AB62-0441FE45C553}" srcId="{D65D46F0-8D21-4C94-B83F-1762C65D5858}" destId="{ED9473F9-8D2D-45DC-9304-76D63F998FB7}" srcOrd="1" destOrd="0" parTransId="{7ECA3F4B-B73B-4088-889F-C44D8BA5D159}" sibTransId="{77861E3A-DA62-4920-A28C-4A2E67A36BB2}"/>
    <dgm:cxn modelId="{1CD3B332-449F-4403-B786-5490AFA57471}" srcId="{F4BC5F99-47B2-4C18-A8BE-6A66B9CB7E8F}" destId="{D65D46F0-8D21-4C94-B83F-1762C65D5858}" srcOrd="0" destOrd="0" parTransId="{BE567DEF-7281-4360-9BEC-09DE78DB997A}" sibTransId="{0C1C0689-E941-4FA1-A1A7-A8A5BED6A7BB}"/>
    <dgm:cxn modelId="{0FDB493B-0AF3-4EF6-8D12-C8E7C90A3737}" type="presOf" srcId="{D65D46F0-8D21-4C94-B83F-1762C65D5858}" destId="{F331E608-E127-4985-AA21-F061E281BB22}" srcOrd="0" destOrd="0" presId="urn:microsoft.com/office/officeart/2008/layout/HorizontalMultiLevelHierarchy#3"/>
    <dgm:cxn modelId="{B1C7AC4A-A1FC-4C13-83E3-906A83CC77F6}" type="presOf" srcId="{06579D23-E556-406B-AF0E-747C21D5540A}" destId="{9D58E276-9967-42AA-9F91-F4ABC2B224EC}" srcOrd="0" destOrd="0" presId="urn:microsoft.com/office/officeart/2008/layout/HorizontalMultiLevelHierarchy#3"/>
    <dgm:cxn modelId="{422A054D-A4B1-4DC8-BDFF-0C6B64D9CB9E}" type="presOf" srcId="{7ECA3F4B-B73B-4088-889F-C44D8BA5D159}" destId="{172CDFD4-97E7-4AE7-976B-A6F30E8005C5}" srcOrd="1" destOrd="0" presId="urn:microsoft.com/office/officeart/2008/layout/HorizontalMultiLevelHierarchy#3"/>
    <dgm:cxn modelId="{AF3C0B73-F2C3-4569-A11F-676BE2F152A4}" type="presOf" srcId="{4F28A689-73D6-43AE-BFC0-68B7355CCF83}" destId="{59465D08-BE15-4E1A-9047-FE74B4FBCE17}" srcOrd="0" destOrd="0" presId="urn:microsoft.com/office/officeart/2008/layout/HorizontalMultiLevelHierarchy#3"/>
    <dgm:cxn modelId="{DEB0AE83-85B6-448F-8057-1E8795CE2298}" type="presOf" srcId="{0D0A169A-50C3-449B-ABDA-D2225356B98A}" destId="{9364E821-FFD7-4F9A-BEC5-CD39E7114AFA}" srcOrd="0" destOrd="0" presId="urn:microsoft.com/office/officeart/2008/layout/HorizontalMultiLevelHierarchy#3"/>
    <dgm:cxn modelId="{DC0CE08D-45B8-444E-96FE-7EE49D97B612}" type="presOf" srcId="{06579D23-E556-406B-AF0E-747C21D5540A}" destId="{4BC3606C-EED6-4E98-93E3-DCE30DD79157}" srcOrd="1" destOrd="0" presId="urn:microsoft.com/office/officeart/2008/layout/HorizontalMultiLevelHierarchy#3"/>
    <dgm:cxn modelId="{D1234DC3-58DC-4263-B330-0E15FE37DDE1}" srcId="{D65D46F0-8D21-4C94-B83F-1762C65D5858}" destId="{B849F495-DBF0-4C18-9A71-EC7421648CE0}" srcOrd="0" destOrd="0" parTransId="{0D0A169A-50C3-449B-ABDA-D2225356B98A}" sibTransId="{D87C32F4-D235-40D4-A7CA-792FE2B54BF3}"/>
    <dgm:cxn modelId="{0A5685D7-0059-41B6-B956-1892406B0DEB}" type="presOf" srcId="{FB8FD449-13F7-4A63-9FEA-550E202BB78C}" destId="{9D154FCA-8BAA-46CA-9CDF-BB5AA38D681D}" srcOrd="0" destOrd="0" presId="urn:microsoft.com/office/officeart/2008/layout/HorizontalMultiLevelHierarchy#3"/>
    <dgm:cxn modelId="{9189A9DD-6D04-49DC-B08C-9244CBEAB147}" type="presOf" srcId="{F4BC5F99-47B2-4C18-A8BE-6A66B9CB7E8F}" destId="{549BC009-57DD-4C0F-B52E-531BC735867F}" srcOrd="0" destOrd="0" presId="urn:microsoft.com/office/officeart/2008/layout/HorizontalMultiLevelHierarchy#3"/>
    <dgm:cxn modelId="{9E99A5E0-0B0E-4673-8705-9E9F32F99A03}" type="presOf" srcId="{6CF6E33E-F857-4470-92AC-981521D28517}" destId="{EE0C0C2C-16D3-41D7-B4F8-C7F68EB60100}" srcOrd="0" destOrd="0" presId="urn:microsoft.com/office/officeart/2008/layout/HorizontalMultiLevelHierarchy#3"/>
    <dgm:cxn modelId="{2AF0A7E7-F606-43A3-8401-9A4E51236C92}" srcId="{D65D46F0-8D21-4C94-B83F-1762C65D5858}" destId="{4F28A689-73D6-43AE-BFC0-68B7355CCF83}" srcOrd="3" destOrd="0" parTransId="{6CF6E33E-F857-4470-92AC-981521D28517}" sibTransId="{8CE67695-F371-4046-B68A-3D78B55E9384}"/>
    <dgm:cxn modelId="{D4F42BF0-D8C9-416B-AC17-EA3AC9B10D4F}" type="presOf" srcId="{7ECA3F4B-B73B-4088-889F-C44D8BA5D159}" destId="{F414E515-30D1-48A5-9B46-81494F51A107}" srcOrd="0" destOrd="0" presId="urn:microsoft.com/office/officeart/2008/layout/HorizontalMultiLevelHierarchy#3"/>
    <dgm:cxn modelId="{7C2F3F47-FE1B-4C32-84DF-EDDC6CDD6DD7}" type="presParOf" srcId="{549BC009-57DD-4C0F-B52E-531BC735867F}" destId="{CD850BAB-EA4A-4BFE-A557-FBC5162794A8}" srcOrd="0" destOrd="0" presId="urn:microsoft.com/office/officeart/2008/layout/HorizontalMultiLevelHierarchy#3"/>
    <dgm:cxn modelId="{EA420353-B5F6-40FF-91AA-EB485C67B519}" type="presParOf" srcId="{CD850BAB-EA4A-4BFE-A557-FBC5162794A8}" destId="{F331E608-E127-4985-AA21-F061E281BB22}" srcOrd="0" destOrd="0" presId="urn:microsoft.com/office/officeart/2008/layout/HorizontalMultiLevelHierarchy#3"/>
    <dgm:cxn modelId="{0F60D97D-79EC-4BB4-B8D1-331C605264D5}" type="presParOf" srcId="{CD850BAB-EA4A-4BFE-A557-FBC5162794A8}" destId="{CCC587FE-2019-47F7-AFFA-04F562FDCCC9}" srcOrd="1" destOrd="0" presId="urn:microsoft.com/office/officeart/2008/layout/HorizontalMultiLevelHierarchy#3"/>
    <dgm:cxn modelId="{CD355125-0A0B-41A2-AB19-FC581B28E190}" type="presParOf" srcId="{CCC587FE-2019-47F7-AFFA-04F562FDCCC9}" destId="{9364E821-FFD7-4F9A-BEC5-CD39E7114AFA}" srcOrd="0" destOrd="0" presId="urn:microsoft.com/office/officeart/2008/layout/HorizontalMultiLevelHierarchy#3"/>
    <dgm:cxn modelId="{76E5B27D-7439-4FCA-97EB-6485A3C5B60B}" type="presParOf" srcId="{9364E821-FFD7-4F9A-BEC5-CD39E7114AFA}" destId="{BB24CFD6-9957-4E74-B262-4F40E4B8DD5C}" srcOrd="0" destOrd="0" presId="urn:microsoft.com/office/officeart/2008/layout/HorizontalMultiLevelHierarchy#3"/>
    <dgm:cxn modelId="{96996DE6-1E49-45C7-9107-36D019E3D7CA}" type="presParOf" srcId="{CCC587FE-2019-47F7-AFFA-04F562FDCCC9}" destId="{45B6DDFD-41E5-4ADF-B70C-DE63F7C3258E}" srcOrd="1" destOrd="0" presId="urn:microsoft.com/office/officeart/2008/layout/HorizontalMultiLevelHierarchy#3"/>
    <dgm:cxn modelId="{4956D39D-223E-4353-BB95-FD40360B87D4}" type="presParOf" srcId="{45B6DDFD-41E5-4ADF-B70C-DE63F7C3258E}" destId="{706FCBC6-96C9-4236-81E4-789B358F5790}" srcOrd="0" destOrd="0" presId="urn:microsoft.com/office/officeart/2008/layout/HorizontalMultiLevelHierarchy#3"/>
    <dgm:cxn modelId="{848901B2-9167-43C7-9122-19C6EAD6AF76}" type="presParOf" srcId="{45B6DDFD-41E5-4ADF-B70C-DE63F7C3258E}" destId="{E7481667-0F73-460B-9EB8-4A66BFD01A8F}" srcOrd="1" destOrd="0" presId="urn:microsoft.com/office/officeart/2008/layout/HorizontalMultiLevelHierarchy#3"/>
    <dgm:cxn modelId="{ADD64AA3-1802-4199-BEAE-CEEF57E06F0B}" type="presParOf" srcId="{CCC587FE-2019-47F7-AFFA-04F562FDCCC9}" destId="{F414E515-30D1-48A5-9B46-81494F51A107}" srcOrd="2" destOrd="0" presId="urn:microsoft.com/office/officeart/2008/layout/HorizontalMultiLevelHierarchy#3"/>
    <dgm:cxn modelId="{02F8D053-0C33-4340-9715-9C3443DF6C82}" type="presParOf" srcId="{F414E515-30D1-48A5-9B46-81494F51A107}" destId="{172CDFD4-97E7-4AE7-976B-A6F30E8005C5}" srcOrd="0" destOrd="0" presId="urn:microsoft.com/office/officeart/2008/layout/HorizontalMultiLevelHierarchy#3"/>
    <dgm:cxn modelId="{AAC309EB-A4DE-4149-9581-42CA5A82AF01}" type="presParOf" srcId="{CCC587FE-2019-47F7-AFFA-04F562FDCCC9}" destId="{D6C342E5-2812-4F62-905D-78AAB354A71B}" srcOrd="3" destOrd="0" presId="urn:microsoft.com/office/officeart/2008/layout/HorizontalMultiLevelHierarchy#3"/>
    <dgm:cxn modelId="{86FFC91B-91FB-4B94-B4C3-657A5BDEABC2}" type="presParOf" srcId="{D6C342E5-2812-4F62-905D-78AAB354A71B}" destId="{8208273C-3BE8-41DE-83E8-6078068DCC13}" srcOrd="0" destOrd="0" presId="urn:microsoft.com/office/officeart/2008/layout/HorizontalMultiLevelHierarchy#3"/>
    <dgm:cxn modelId="{A6CE6BE4-4808-4F54-BDE7-1F047E1A02B0}" type="presParOf" srcId="{D6C342E5-2812-4F62-905D-78AAB354A71B}" destId="{D4F4406E-2711-451B-8288-8C51EA95B235}" srcOrd="1" destOrd="0" presId="urn:microsoft.com/office/officeart/2008/layout/HorizontalMultiLevelHierarchy#3"/>
    <dgm:cxn modelId="{A9A7348C-73AB-4416-A20D-566C37362461}" type="presParOf" srcId="{CCC587FE-2019-47F7-AFFA-04F562FDCCC9}" destId="{9D58E276-9967-42AA-9F91-F4ABC2B224EC}" srcOrd="4" destOrd="0" presId="urn:microsoft.com/office/officeart/2008/layout/HorizontalMultiLevelHierarchy#3"/>
    <dgm:cxn modelId="{5EFF8156-3DDF-45C9-8B8E-005EC4EC512C}" type="presParOf" srcId="{9D58E276-9967-42AA-9F91-F4ABC2B224EC}" destId="{4BC3606C-EED6-4E98-93E3-DCE30DD79157}" srcOrd="0" destOrd="0" presId="urn:microsoft.com/office/officeart/2008/layout/HorizontalMultiLevelHierarchy#3"/>
    <dgm:cxn modelId="{B8B9B03E-437E-46F3-8723-051A61BECAA1}" type="presParOf" srcId="{CCC587FE-2019-47F7-AFFA-04F562FDCCC9}" destId="{89CFF9E8-966C-408D-B2AA-34752A6D3336}" srcOrd="5" destOrd="0" presId="urn:microsoft.com/office/officeart/2008/layout/HorizontalMultiLevelHierarchy#3"/>
    <dgm:cxn modelId="{8F7C0E30-9173-4F8C-87F1-585CE6A2F497}" type="presParOf" srcId="{89CFF9E8-966C-408D-B2AA-34752A6D3336}" destId="{9D154FCA-8BAA-46CA-9CDF-BB5AA38D681D}" srcOrd="0" destOrd="0" presId="urn:microsoft.com/office/officeart/2008/layout/HorizontalMultiLevelHierarchy#3"/>
    <dgm:cxn modelId="{D2063EA4-25A6-4E59-A254-A9E8BF5569F8}" type="presParOf" srcId="{89CFF9E8-966C-408D-B2AA-34752A6D3336}" destId="{FD5F5FEB-87E7-4F1B-BFD8-85FE6A38FBC3}" srcOrd="1" destOrd="0" presId="urn:microsoft.com/office/officeart/2008/layout/HorizontalMultiLevelHierarchy#3"/>
    <dgm:cxn modelId="{AEF3E110-64F2-4DB3-BC36-132AD339AD2A}" type="presParOf" srcId="{CCC587FE-2019-47F7-AFFA-04F562FDCCC9}" destId="{EE0C0C2C-16D3-41D7-B4F8-C7F68EB60100}" srcOrd="6" destOrd="0" presId="urn:microsoft.com/office/officeart/2008/layout/HorizontalMultiLevelHierarchy#3"/>
    <dgm:cxn modelId="{ED285EEA-F1AD-4A2D-B6AC-9B1D885B7063}" type="presParOf" srcId="{EE0C0C2C-16D3-41D7-B4F8-C7F68EB60100}" destId="{E1552C5A-1A4F-47D2-A3C0-FDB3F2985BA6}" srcOrd="0" destOrd="0" presId="urn:microsoft.com/office/officeart/2008/layout/HorizontalMultiLevelHierarchy#3"/>
    <dgm:cxn modelId="{857F74F9-9055-438D-A4B1-F9968DC7F182}" type="presParOf" srcId="{CCC587FE-2019-47F7-AFFA-04F562FDCCC9}" destId="{77B86EC7-5B6B-4861-9A60-C7A0FEE6FA13}" srcOrd="7" destOrd="0" presId="urn:microsoft.com/office/officeart/2008/layout/HorizontalMultiLevelHierarchy#3"/>
    <dgm:cxn modelId="{9F8025E3-6439-4C56-93D2-8679678BDA6A}" type="presParOf" srcId="{77B86EC7-5B6B-4861-9A60-C7A0FEE6FA13}" destId="{59465D08-BE15-4E1A-9047-FE74B4FBCE17}" srcOrd="0" destOrd="0" presId="urn:microsoft.com/office/officeart/2008/layout/HorizontalMultiLevelHierarchy#3"/>
    <dgm:cxn modelId="{ADA385CF-BE09-4406-BB7B-F21A4E8D5609}" type="presParOf" srcId="{77B86EC7-5B6B-4861-9A60-C7A0FEE6FA13}" destId="{16F620F3-3252-402D-A831-8312021821A1}" srcOrd="1" destOrd="0" presId="urn:microsoft.com/office/officeart/2008/layout/HorizontalMultiLevelHierarchy#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7F9C8-38BF-44FA-9859-4167E0B39A44}">
      <dsp:nvSpPr>
        <dsp:cNvPr id="0" name=""/>
        <dsp:cNvSpPr/>
      </dsp:nvSpPr>
      <dsp:spPr>
        <a:xfrm>
          <a:off x="3228351" y="134751"/>
          <a:ext cx="3968017" cy="171067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976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Arial"/>
              <a:cs typeface="+mn-cs"/>
            </a:rPr>
            <a:t>抗凝治疗</a:t>
          </a:r>
          <a:r>
            <a:rPr lang="en-US" altLang="zh-CN" sz="3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Arial"/>
              <a:cs typeface="+mn-cs"/>
            </a:rPr>
            <a:t>(</a:t>
          </a:r>
          <a:r>
            <a:rPr lang="zh-CN" altLang="en-US" sz="3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Arial"/>
              <a:cs typeface="+mn-cs"/>
            </a:rPr>
            <a:t>药物</a:t>
          </a:r>
          <a:r>
            <a:rPr lang="en-US" altLang="zh-CN" sz="3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Arial"/>
              <a:cs typeface="+mn-cs"/>
            </a:rPr>
            <a:t>)</a:t>
          </a:r>
          <a:endParaRPr lang="zh-CN" altLang="en-US" sz="32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"/>
            <a:ea typeface="Arial"/>
            <a:cs typeface="+mn-cs"/>
          </a:endParaRPr>
        </a:p>
      </dsp:txBody>
      <dsp:txXfrm>
        <a:off x="3228351" y="134751"/>
        <a:ext cx="3968017" cy="1710679"/>
      </dsp:txXfrm>
    </dsp:sp>
    <dsp:sp modelId="{D043119F-9BAD-4441-9924-A96DBAA80379}">
      <dsp:nvSpPr>
        <dsp:cNvPr id="0" name=""/>
        <dsp:cNvSpPr/>
      </dsp:nvSpPr>
      <dsp:spPr>
        <a:xfrm>
          <a:off x="2399877" y="101465"/>
          <a:ext cx="1593616" cy="1447847"/>
        </a:xfrm>
        <a:prstGeom prst="rect">
          <a:avLst/>
        </a:prstGeom>
        <a:blipFill rotWithShape="1">
          <a:blip xmlns:r="http://schemas.openxmlformats.org/officeDocument/2006/relationships" r:embed="rId1" cstate="email"/>
          <a:srcRect/>
          <a:stretch>
            <a:fillRect l="-41000" r="-4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F6C8EF-17ED-46C6-9E71-931E058269FB}">
      <dsp:nvSpPr>
        <dsp:cNvPr id="0" name=""/>
        <dsp:cNvSpPr/>
      </dsp:nvSpPr>
      <dsp:spPr>
        <a:xfrm>
          <a:off x="2970761" y="2202414"/>
          <a:ext cx="4318192" cy="137890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976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600" b="1" kern="1200" dirty="0">
              <a:latin typeface="+mn-ea"/>
              <a:ea typeface="+mn-ea"/>
            </a:rPr>
            <a:t>  </a:t>
          </a:r>
          <a:r>
            <a:rPr lang="zh-CN" altLang="en-US" sz="3200" b="1" kern="1200" dirty="0">
              <a:latin typeface="+mn-ea"/>
              <a:ea typeface="+mn-ea"/>
            </a:rPr>
            <a:t>溶栓治疗</a:t>
          </a:r>
          <a:r>
            <a:rPr lang="en-US" altLang="zh-CN" sz="3200" b="1" kern="1200" dirty="0">
              <a:latin typeface="+mn-ea"/>
              <a:ea typeface="+mn-ea"/>
            </a:rPr>
            <a:t>(CDT)</a:t>
          </a:r>
          <a:endParaRPr lang="zh-CN" altLang="en-US" sz="3200" kern="1200" dirty="0"/>
        </a:p>
      </dsp:txBody>
      <dsp:txXfrm>
        <a:off x="2970761" y="2202414"/>
        <a:ext cx="4318192" cy="1378902"/>
      </dsp:txXfrm>
    </dsp:sp>
    <dsp:sp modelId="{5F77B34A-309F-4CCB-A280-AB199A058293}">
      <dsp:nvSpPr>
        <dsp:cNvPr id="0" name=""/>
        <dsp:cNvSpPr/>
      </dsp:nvSpPr>
      <dsp:spPr>
        <a:xfrm>
          <a:off x="2415485" y="2003239"/>
          <a:ext cx="1613780" cy="1447847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86A0C8-F345-4A1D-84DC-77A4E761A10E}">
      <dsp:nvSpPr>
        <dsp:cNvPr id="0" name=""/>
        <dsp:cNvSpPr/>
      </dsp:nvSpPr>
      <dsp:spPr>
        <a:xfrm>
          <a:off x="2820318" y="3938298"/>
          <a:ext cx="4476071" cy="137890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976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600" b="1" kern="1200" dirty="0">
              <a:latin typeface="+mn-ea"/>
              <a:ea typeface="+mn-ea"/>
            </a:rPr>
            <a:t>  </a:t>
          </a:r>
          <a:r>
            <a:rPr lang="zh-CN" altLang="en-US" sz="3200" b="1" kern="1200" dirty="0">
              <a:latin typeface="+mn-ea"/>
              <a:ea typeface="+mn-ea"/>
            </a:rPr>
            <a:t>血栓清除术</a:t>
          </a:r>
          <a:r>
            <a:rPr lang="en-US" altLang="zh-CN" sz="3200" b="1" kern="1200" dirty="0">
              <a:latin typeface="+mn-ea"/>
              <a:ea typeface="+mn-ea"/>
            </a:rPr>
            <a:t>(PMT)</a:t>
          </a:r>
          <a:endParaRPr lang="zh-CN" altLang="en-US" sz="3200" kern="1200" dirty="0"/>
        </a:p>
      </dsp:txBody>
      <dsp:txXfrm>
        <a:off x="2820318" y="3938298"/>
        <a:ext cx="4476071" cy="1378902"/>
      </dsp:txXfrm>
    </dsp:sp>
    <dsp:sp modelId="{F80534AF-46B7-4509-A569-145231C1E376}">
      <dsp:nvSpPr>
        <dsp:cNvPr id="0" name=""/>
        <dsp:cNvSpPr/>
      </dsp:nvSpPr>
      <dsp:spPr>
        <a:xfrm>
          <a:off x="2408049" y="3739124"/>
          <a:ext cx="1485645" cy="1447847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42000" r="-4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1175D-DDBB-46D1-8A1F-E79F7742AC62}">
      <dsp:nvSpPr>
        <dsp:cNvPr id="0" name=""/>
        <dsp:cNvSpPr/>
      </dsp:nvSpPr>
      <dsp:spPr>
        <a:xfrm>
          <a:off x="0" y="308619"/>
          <a:ext cx="501603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BEC293-1CAB-42B7-9CC9-76287E1C60B5}">
      <dsp:nvSpPr>
        <dsp:cNvPr id="0" name=""/>
        <dsp:cNvSpPr/>
      </dsp:nvSpPr>
      <dsp:spPr>
        <a:xfrm>
          <a:off x="250801" y="28179"/>
          <a:ext cx="4278391" cy="560880"/>
        </a:xfrm>
        <a:prstGeom prst="round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716" tIns="0" rIns="13271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患病率高：国内逾</a:t>
          </a:r>
          <a:r>
            <a:rPr lang="zh-CN" altLang="en-US" sz="2100" kern="1200" dirty="0">
              <a:solidFill>
                <a:srgbClr val="FF0000"/>
              </a:solidFill>
            </a:rPr>
            <a:t>千万</a:t>
          </a:r>
          <a:r>
            <a:rPr lang="zh-CN" altLang="en-US" sz="2100" kern="1200" dirty="0"/>
            <a:t>心衰患者</a:t>
          </a:r>
        </a:p>
      </dsp:txBody>
      <dsp:txXfrm>
        <a:off x="278181" y="55559"/>
        <a:ext cx="4223631" cy="506120"/>
      </dsp:txXfrm>
    </dsp:sp>
    <dsp:sp modelId="{64AC9114-5E06-4314-877B-03FC3E8F450D}">
      <dsp:nvSpPr>
        <dsp:cNvPr id="0" name=""/>
        <dsp:cNvSpPr/>
      </dsp:nvSpPr>
      <dsp:spPr>
        <a:xfrm>
          <a:off x="0" y="1170459"/>
          <a:ext cx="501603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015358-6064-477F-9DF3-53ED0AEC4D70}">
      <dsp:nvSpPr>
        <dsp:cNvPr id="0" name=""/>
        <dsp:cNvSpPr/>
      </dsp:nvSpPr>
      <dsp:spPr>
        <a:xfrm>
          <a:off x="250801" y="890019"/>
          <a:ext cx="4281832" cy="560880"/>
        </a:xfrm>
        <a:prstGeom prst="roundRect">
          <a:avLst/>
        </a:prstGeom>
        <a:solidFill>
          <a:srgbClr val="0070C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196" tIns="0" rIns="15919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>
              <a:solidFill>
                <a:prstClr val="white"/>
              </a:solidFill>
              <a:latin typeface="Arial" panose="020B0604020202020204"/>
              <a:ea typeface="Arial" panose="020B0604020202020204"/>
              <a:cs typeface="+mn-cs"/>
            </a:rPr>
            <a:t>生存率低：</a:t>
          </a:r>
          <a:r>
            <a:rPr lang="en-US" altLang="zh-CN" sz="2100" kern="1200" dirty="0">
              <a:solidFill>
                <a:prstClr val="white"/>
              </a:solidFill>
              <a:latin typeface="Arial" panose="020B0604020202020204"/>
              <a:ea typeface="Arial" panose="020B0604020202020204"/>
              <a:cs typeface="+mn-cs"/>
            </a:rPr>
            <a:t>5</a:t>
          </a:r>
          <a:r>
            <a:rPr lang="zh-CN" altLang="en-US" sz="2100" kern="1200" dirty="0">
              <a:solidFill>
                <a:prstClr val="white"/>
              </a:solidFill>
              <a:latin typeface="Arial" panose="020B0604020202020204"/>
              <a:ea typeface="Arial" panose="020B0604020202020204"/>
              <a:cs typeface="+mn-cs"/>
            </a:rPr>
            <a:t>年生存率低于</a:t>
          </a:r>
          <a:r>
            <a:rPr lang="en-US" altLang="zh-CN" sz="2100" kern="1200" dirty="0">
              <a:solidFill>
                <a:srgbClr val="FF0000"/>
              </a:solidFill>
              <a:latin typeface="Arial" panose="020B0604020202020204"/>
              <a:ea typeface="Arial" panose="020B0604020202020204"/>
              <a:cs typeface="+mn-cs"/>
            </a:rPr>
            <a:t>50%</a:t>
          </a:r>
          <a:endParaRPr lang="zh-CN" altLang="en-US" sz="2100" kern="1200" dirty="0">
            <a:solidFill>
              <a:srgbClr val="FF0000"/>
            </a:solidFill>
            <a:latin typeface="Arial" panose="020B0604020202020204"/>
            <a:ea typeface="Arial" panose="020B0604020202020204"/>
            <a:cs typeface="+mn-cs"/>
          </a:endParaRPr>
        </a:p>
      </dsp:txBody>
      <dsp:txXfrm>
        <a:off x="278181" y="917399"/>
        <a:ext cx="4227072" cy="506120"/>
      </dsp:txXfrm>
    </dsp:sp>
    <dsp:sp modelId="{0A416FF9-57C5-444D-B0C6-A1A295490A96}">
      <dsp:nvSpPr>
        <dsp:cNvPr id="0" name=""/>
        <dsp:cNvSpPr/>
      </dsp:nvSpPr>
      <dsp:spPr>
        <a:xfrm>
          <a:off x="0" y="2032299"/>
          <a:ext cx="501603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9DCDE2-40F1-4A27-B99E-34F52849307B}">
      <dsp:nvSpPr>
        <dsp:cNvPr id="0" name=""/>
        <dsp:cNvSpPr/>
      </dsp:nvSpPr>
      <dsp:spPr>
        <a:xfrm>
          <a:off x="250801" y="1751859"/>
          <a:ext cx="4514802" cy="560880"/>
        </a:xfrm>
        <a:prstGeom prst="roundRect">
          <a:avLst/>
        </a:prstGeom>
        <a:solidFill>
          <a:srgbClr val="0070C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196" tIns="0" rIns="15919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>
              <a:solidFill>
                <a:prstClr val="white"/>
              </a:solidFill>
              <a:latin typeface="Arial" panose="020B0604020202020204"/>
              <a:ea typeface="Arial" panose="020B0604020202020204"/>
              <a:cs typeface="+mn-cs"/>
            </a:rPr>
            <a:t>治疗有限：药物仅早期保守治疗</a:t>
          </a:r>
        </a:p>
      </dsp:txBody>
      <dsp:txXfrm>
        <a:off x="278181" y="1779239"/>
        <a:ext cx="4460042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0C0C2C-16D3-41D7-B4F8-C7F68EB60100}">
      <dsp:nvSpPr>
        <dsp:cNvPr id="0" name=""/>
        <dsp:cNvSpPr/>
      </dsp:nvSpPr>
      <dsp:spPr>
        <a:xfrm>
          <a:off x="1339258" y="1314890"/>
          <a:ext cx="327776" cy="9368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3888" y="0"/>
              </a:lnTo>
              <a:lnTo>
                <a:pt x="163888" y="936859"/>
              </a:lnTo>
              <a:lnTo>
                <a:pt x="327776" y="9368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478333" y="1758507"/>
        <a:ext cx="49627" cy="49627"/>
      </dsp:txXfrm>
    </dsp:sp>
    <dsp:sp modelId="{9D58E276-9967-42AA-9F91-F4ABC2B224EC}">
      <dsp:nvSpPr>
        <dsp:cNvPr id="0" name=""/>
        <dsp:cNvSpPr/>
      </dsp:nvSpPr>
      <dsp:spPr>
        <a:xfrm>
          <a:off x="1339258" y="1314890"/>
          <a:ext cx="327776" cy="3122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3888" y="0"/>
              </a:lnTo>
              <a:lnTo>
                <a:pt x="163888" y="312286"/>
              </a:lnTo>
              <a:lnTo>
                <a:pt x="327776" y="3122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491828" y="1459716"/>
        <a:ext cx="22636" cy="22636"/>
      </dsp:txXfrm>
    </dsp:sp>
    <dsp:sp modelId="{F414E515-30D1-48A5-9B46-81494F51A107}">
      <dsp:nvSpPr>
        <dsp:cNvPr id="0" name=""/>
        <dsp:cNvSpPr/>
      </dsp:nvSpPr>
      <dsp:spPr>
        <a:xfrm>
          <a:off x="1339258" y="1002604"/>
          <a:ext cx="327776" cy="312286"/>
        </a:xfrm>
        <a:custGeom>
          <a:avLst/>
          <a:gdLst/>
          <a:ahLst/>
          <a:cxnLst/>
          <a:rect l="0" t="0" r="0" b="0"/>
          <a:pathLst>
            <a:path>
              <a:moveTo>
                <a:pt x="0" y="312286"/>
              </a:moveTo>
              <a:lnTo>
                <a:pt x="163888" y="312286"/>
              </a:lnTo>
              <a:lnTo>
                <a:pt x="163888" y="0"/>
              </a:lnTo>
              <a:lnTo>
                <a:pt x="32777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491828" y="1147429"/>
        <a:ext cx="22636" cy="22636"/>
      </dsp:txXfrm>
    </dsp:sp>
    <dsp:sp modelId="{9364E821-FFD7-4F9A-BEC5-CD39E7114AFA}">
      <dsp:nvSpPr>
        <dsp:cNvPr id="0" name=""/>
        <dsp:cNvSpPr/>
      </dsp:nvSpPr>
      <dsp:spPr>
        <a:xfrm>
          <a:off x="1339258" y="378031"/>
          <a:ext cx="327776" cy="936859"/>
        </a:xfrm>
        <a:custGeom>
          <a:avLst/>
          <a:gdLst/>
          <a:ahLst/>
          <a:cxnLst/>
          <a:rect l="0" t="0" r="0" b="0"/>
          <a:pathLst>
            <a:path>
              <a:moveTo>
                <a:pt x="0" y="936859"/>
              </a:moveTo>
              <a:lnTo>
                <a:pt x="163888" y="936859"/>
              </a:lnTo>
              <a:lnTo>
                <a:pt x="163888" y="0"/>
              </a:lnTo>
              <a:lnTo>
                <a:pt x="32777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478333" y="821647"/>
        <a:ext cx="49627" cy="49627"/>
      </dsp:txXfrm>
    </dsp:sp>
    <dsp:sp modelId="{F331E608-E127-4985-AA21-F061E281BB22}">
      <dsp:nvSpPr>
        <dsp:cNvPr id="0" name=""/>
        <dsp:cNvSpPr/>
      </dsp:nvSpPr>
      <dsp:spPr>
        <a:xfrm rot="16200000">
          <a:off x="-225461" y="1065061"/>
          <a:ext cx="2629781" cy="499658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 dirty="0"/>
            <a:t>左房压力高</a:t>
          </a:r>
        </a:p>
      </dsp:txBody>
      <dsp:txXfrm>
        <a:off x="-225461" y="1065061"/>
        <a:ext cx="2629781" cy="499658"/>
      </dsp:txXfrm>
    </dsp:sp>
    <dsp:sp modelId="{706FCBC6-96C9-4236-81E4-789B358F5790}">
      <dsp:nvSpPr>
        <dsp:cNvPr id="0" name=""/>
        <dsp:cNvSpPr/>
      </dsp:nvSpPr>
      <dsp:spPr>
        <a:xfrm>
          <a:off x="1667034" y="128201"/>
          <a:ext cx="1638880" cy="499658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 dirty="0"/>
            <a:t>呼吸困难</a:t>
          </a:r>
        </a:p>
      </dsp:txBody>
      <dsp:txXfrm>
        <a:off x="1667034" y="128201"/>
        <a:ext cx="1638880" cy="499658"/>
      </dsp:txXfrm>
    </dsp:sp>
    <dsp:sp modelId="{8208273C-3BE8-41DE-83E8-6078068DCC13}">
      <dsp:nvSpPr>
        <dsp:cNvPr id="0" name=""/>
        <dsp:cNvSpPr/>
      </dsp:nvSpPr>
      <dsp:spPr>
        <a:xfrm>
          <a:off x="1667034" y="752775"/>
          <a:ext cx="1638880" cy="499658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 dirty="0"/>
            <a:t>疲乏</a:t>
          </a:r>
        </a:p>
      </dsp:txBody>
      <dsp:txXfrm>
        <a:off x="1667034" y="752775"/>
        <a:ext cx="1638880" cy="499658"/>
      </dsp:txXfrm>
    </dsp:sp>
    <dsp:sp modelId="{9D154FCA-8BAA-46CA-9CDF-BB5AA38D681D}">
      <dsp:nvSpPr>
        <dsp:cNvPr id="0" name=""/>
        <dsp:cNvSpPr/>
      </dsp:nvSpPr>
      <dsp:spPr>
        <a:xfrm>
          <a:off x="1667034" y="1377348"/>
          <a:ext cx="1638880" cy="499658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 dirty="0"/>
            <a:t>淤血</a:t>
          </a:r>
        </a:p>
      </dsp:txBody>
      <dsp:txXfrm>
        <a:off x="1667034" y="1377348"/>
        <a:ext cx="1638880" cy="499658"/>
      </dsp:txXfrm>
    </dsp:sp>
    <dsp:sp modelId="{59465D08-BE15-4E1A-9047-FE74B4FBCE17}">
      <dsp:nvSpPr>
        <dsp:cNvPr id="0" name=""/>
        <dsp:cNvSpPr/>
      </dsp:nvSpPr>
      <dsp:spPr>
        <a:xfrm>
          <a:off x="1667034" y="2001921"/>
          <a:ext cx="1638880" cy="499658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kern="1200" dirty="0"/>
            <a:t>液体潴留</a:t>
          </a:r>
        </a:p>
      </dsp:txBody>
      <dsp:txXfrm>
        <a:off x="1667034" y="2001921"/>
        <a:ext cx="1638880" cy="4996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#3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#3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R"/>
                        <dgm:param type="endPts" val="midL"/>
                      </dgm:alg>
                    </dgm:if>
                    <dgm:else name="Name1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160522" cy="757000"/>
          </a:xfrm>
          <a:prstGeom prst="rect">
            <a:avLst/>
          </a:prstGeom>
        </p:spPr>
        <p:txBody>
          <a:bodyPr vert="horz" lIns="141011" tIns="70505" rIns="141011" bIns="70505" rtlCol="0"/>
          <a:lstStyle>
            <a:lvl1pPr algn="l">
              <a:defRPr sz="1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438460" y="0"/>
            <a:ext cx="4160522" cy="757000"/>
          </a:xfrm>
          <a:prstGeom prst="rect">
            <a:avLst/>
          </a:prstGeom>
        </p:spPr>
        <p:txBody>
          <a:bodyPr vert="horz" lIns="141011" tIns="70505" rIns="141011" bIns="70505" rtlCol="0"/>
          <a:lstStyle>
            <a:lvl1pPr algn="r">
              <a:defRPr sz="1900"/>
            </a:lvl1pPr>
          </a:lstStyle>
          <a:p>
            <a:fld id="{0F9B84EA-7D68-4D60-9CB1-D50884785D1C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14330608"/>
            <a:ext cx="4160522" cy="757000"/>
          </a:xfrm>
          <a:prstGeom prst="rect">
            <a:avLst/>
          </a:prstGeom>
        </p:spPr>
        <p:txBody>
          <a:bodyPr vert="horz" lIns="141011" tIns="70505" rIns="141011" bIns="70505" rtlCol="0" anchor="b"/>
          <a:lstStyle>
            <a:lvl1pPr algn="l">
              <a:defRPr sz="1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438460" y="14330608"/>
            <a:ext cx="4160522" cy="757000"/>
          </a:xfrm>
          <a:prstGeom prst="rect">
            <a:avLst/>
          </a:prstGeom>
        </p:spPr>
        <p:txBody>
          <a:bodyPr vert="horz" lIns="141011" tIns="70505" rIns="141011" bIns="70505" rtlCol="0" anchor="b"/>
          <a:lstStyle>
            <a:lvl1pPr algn="r">
              <a:defRPr sz="19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160522" cy="754380"/>
          </a:xfrm>
          <a:prstGeom prst="rect">
            <a:avLst/>
          </a:prstGeom>
        </p:spPr>
        <p:txBody>
          <a:bodyPr vert="horz" lIns="141011" tIns="70505" rIns="141011" bIns="70505" rtlCol="0"/>
          <a:lstStyle>
            <a:lvl1pPr algn="l">
              <a:defRPr sz="19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438460" y="2"/>
            <a:ext cx="4160522" cy="754380"/>
          </a:xfrm>
          <a:prstGeom prst="rect">
            <a:avLst/>
          </a:prstGeom>
        </p:spPr>
        <p:txBody>
          <a:bodyPr vert="horz" lIns="141011" tIns="70505" rIns="141011" bIns="70505" rtlCol="0"/>
          <a:lstStyle>
            <a:lvl1pPr algn="r">
              <a:defRPr sz="1900" smtClean="0"/>
            </a:lvl1pPr>
          </a:lstStyle>
          <a:p>
            <a:pPr>
              <a:defRPr/>
            </a:pPr>
            <a:fld id="{BEB1AE57-91D8-4108-8A5C-7B63D632B2B6}" type="datetimeFigureOut">
              <a:rPr lang="zh-CN" altLang="en-US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227013" y="1133475"/>
            <a:ext cx="10055226" cy="5656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41011" tIns="70505" rIns="141011" bIns="70505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60121" y="7166614"/>
            <a:ext cx="7680960" cy="6789419"/>
          </a:xfrm>
          <a:prstGeom prst="rect">
            <a:avLst/>
          </a:prstGeom>
        </p:spPr>
        <p:txBody>
          <a:bodyPr vert="horz" lIns="141011" tIns="70505" rIns="141011" bIns="70505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14330606"/>
            <a:ext cx="4160522" cy="754380"/>
          </a:xfrm>
          <a:prstGeom prst="rect">
            <a:avLst/>
          </a:prstGeom>
        </p:spPr>
        <p:txBody>
          <a:bodyPr vert="horz" lIns="141011" tIns="70505" rIns="141011" bIns="70505" rtlCol="0" anchor="b"/>
          <a:lstStyle>
            <a:lvl1pPr algn="l">
              <a:defRPr sz="19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438460" y="14330606"/>
            <a:ext cx="4160522" cy="754380"/>
          </a:xfrm>
          <a:prstGeom prst="rect">
            <a:avLst/>
          </a:prstGeom>
        </p:spPr>
        <p:txBody>
          <a:bodyPr vert="horz" lIns="141011" tIns="70505" rIns="141011" bIns="70505" rtlCol="0" anchor="b"/>
          <a:lstStyle>
            <a:lvl1pPr algn="r">
              <a:defRPr sz="1900" smtClean="0"/>
            </a:lvl1pPr>
          </a:lstStyle>
          <a:p>
            <a:pPr>
              <a:defRPr/>
            </a:pPr>
            <a:fld id="{58E94DB7-6BD0-41E8-B4E6-DA4C8BA169DB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2714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931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0B99-45FE-D965-FC01-1C5F2016A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3A83B-167E-CFA7-64EB-2CDE19884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C996B-0F4A-D7B8-1C35-CD2D0987C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BA0A5-8891-4CCF-05AD-F93CA765F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408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351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FACD0-184D-A49F-6860-6EE5A3D6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FC821-1FE3-297B-60AA-ED7F420DF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4DB7B-5E69-479E-1F42-C254AC766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71968-F451-E9F2-05F7-13E331317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501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071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6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4ADF-83DC-F579-521F-F80D98A3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9B8C0-F023-60A6-D602-74BE32121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ADAB7-9205-13D3-8644-882DC633F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54864-69FF-7673-DD21-3FD3225EC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053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944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2132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489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238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559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48009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D26B-35AD-D94C-F15B-D23B70BD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2B790D-3DC6-3654-2AB1-D7B8E32C7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E1D03A-16C5-0E69-FB9E-89F842EFD89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15451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5AB9-9D80-40D0-8312-F4319D19F80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95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E94DB7-6BD0-41E8-B4E6-DA4C8BA169DB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C6CEF-009D-8E37-A331-53CEF1E1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C94DEE-9AF0-074D-C833-73FCCE824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120979-7ACE-F012-355C-1DE80D5B9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9DF07D-2E42-951A-138A-82DE839F2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E94DB7-6BD0-41E8-B4E6-DA4C8BA169D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1922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94DB7-6BD0-41E8-B4E6-DA4C8BA169DB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94DB7-6BD0-41E8-B4E6-DA4C8BA169D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475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E4B89-89D7-6093-9D7D-CE441C193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CAFA54-EF9F-068A-C12D-642604FF0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CAD53C-C444-3B0C-544C-CF7C1388E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1E620E-5E4F-9073-9EA8-20AEE4A392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94DB7-6BD0-41E8-B4E6-DA4C8BA169D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6256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94DB7-6BD0-41E8-B4E6-DA4C8BA169DB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94DB7-6BD0-41E8-B4E6-DA4C8BA169D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019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microsoft.com/office/2007/relationships/hdphoto" Target="../media/hdphoto2.wdp"/><Relationship Id="rId4" Type="http://schemas.openxmlformats.org/officeDocument/2006/relationships/image" Target="../media/image5.jpe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7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cxnSp>
        <p:nvCxnSpPr>
          <p:cNvPr id="15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90600"/>
            <a:ext cx="10515600" cy="51863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6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前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8"/>
          <p:cNvSpPr/>
          <p:nvPr userDrawn="1"/>
        </p:nvSpPr>
        <p:spPr bwMode="auto">
          <a:xfrm>
            <a:off x="1236372" y="2279561"/>
            <a:ext cx="9410600" cy="3982674"/>
          </a:xfrm>
          <a:prstGeom prst="rect">
            <a:avLst/>
          </a:prstGeom>
          <a:solidFill>
            <a:srgbClr val="FFFFFF">
              <a:alpha val="58038"/>
            </a:srgbClr>
          </a:solidFill>
          <a:ln w="25400">
            <a:solidFill>
              <a:srgbClr val="00B0F0"/>
            </a:solidFill>
            <a:miter lim="800000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7" name="椭圆 16"/>
          <p:cNvSpPr/>
          <p:nvPr userDrawn="1"/>
        </p:nvSpPr>
        <p:spPr>
          <a:xfrm>
            <a:off x="5386070" y="1208955"/>
            <a:ext cx="1471930" cy="1471930"/>
          </a:xfrm>
          <a:prstGeom prst="ellipse">
            <a:avLst/>
          </a:prstGeom>
          <a:ln>
            <a:solidFill>
              <a:srgbClr val="0170C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/>
        </p:nvSpPr>
        <p:spPr>
          <a:xfrm>
            <a:off x="7227570" y="1208955"/>
            <a:ext cx="1471930" cy="1471930"/>
          </a:xfrm>
          <a:prstGeom prst="ellipse">
            <a:avLst/>
          </a:prstGeom>
          <a:ln>
            <a:solidFill>
              <a:srgbClr val="0170C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 userDrawn="1"/>
        </p:nvSpPr>
        <p:spPr>
          <a:xfrm>
            <a:off x="8984615" y="1208955"/>
            <a:ext cx="1471930" cy="1471930"/>
          </a:xfrm>
          <a:prstGeom prst="ellipse">
            <a:avLst/>
          </a:prstGeom>
          <a:ln>
            <a:solidFill>
              <a:srgbClr val="0170C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1"/>
          </p:nvPr>
        </p:nvSpPr>
        <p:spPr>
          <a:xfrm>
            <a:off x="1465996" y="2585501"/>
            <a:ext cx="8990549" cy="3599485"/>
          </a:xfrm>
          <a:ln>
            <a:noFill/>
          </a:ln>
        </p:spPr>
        <p:txBody>
          <a:bodyPr>
            <a:normAutofit/>
          </a:bodyPr>
          <a:lstStyle>
            <a:lvl1pPr>
              <a:defRPr lang="zh-CN" altLang="en-US" sz="18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26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0" i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占位符 31"/>
          <p:cNvSpPr>
            <a:spLocks noGrp="1"/>
          </p:cNvSpPr>
          <p:nvPr>
            <p:ph type="body" sz="quarter" idx="13" hasCustomPrompt="1"/>
          </p:nvPr>
        </p:nvSpPr>
        <p:spPr>
          <a:xfrm>
            <a:off x="5550067" y="1913172"/>
            <a:ext cx="2579688" cy="668338"/>
          </a:xfrm>
          <a:noFill/>
          <a:ln>
            <a:noFill/>
          </a:ln>
          <a:effectLst/>
        </p:spPr>
        <p:txBody>
          <a:bodyPr lIns="0" anchor="ctr">
            <a:noAutofit/>
          </a:bodyPr>
          <a:lstStyle>
            <a:lvl1pPr marL="228600" indent="-228600" algn="l">
              <a:buNone/>
              <a:defRPr kumimoji="0" lang="zh-CN" altLang="en-US" sz="2400" b="0" i="0" u="none" strike="noStrike" kern="1200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输入标题</a:t>
            </a:r>
          </a:p>
        </p:txBody>
      </p:sp>
      <p:sp>
        <p:nvSpPr>
          <p:cNvPr id="43" name="文本占位符 31"/>
          <p:cNvSpPr>
            <a:spLocks noGrp="1"/>
          </p:cNvSpPr>
          <p:nvPr>
            <p:ph type="body" sz="quarter" idx="14" hasCustomPrompt="1"/>
          </p:nvPr>
        </p:nvSpPr>
        <p:spPr>
          <a:xfrm>
            <a:off x="5550067" y="2722040"/>
            <a:ext cx="2579688" cy="668338"/>
          </a:xfrm>
          <a:noFill/>
          <a:ln>
            <a:noFill/>
          </a:ln>
          <a:effectLst/>
        </p:spPr>
        <p:txBody>
          <a:bodyPr lIns="0" anchor="ctr">
            <a:noAutofit/>
          </a:bodyPr>
          <a:lstStyle>
            <a:lvl1pPr marL="228600" indent="-228600" algn="l">
              <a:buNone/>
              <a:defRPr kumimoji="0" lang="zh-CN" altLang="en-US" sz="2400" b="0" i="0" u="none" strike="noStrike" kern="1200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输入标题</a:t>
            </a:r>
          </a:p>
        </p:txBody>
      </p:sp>
      <p:sp>
        <p:nvSpPr>
          <p:cNvPr id="44" name="文本占位符 31"/>
          <p:cNvSpPr>
            <a:spLocks noGrp="1"/>
          </p:cNvSpPr>
          <p:nvPr>
            <p:ph type="body" sz="quarter" idx="15" hasCustomPrompt="1"/>
          </p:nvPr>
        </p:nvSpPr>
        <p:spPr>
          <a:xfrm>
            <a:off x="5550067" y="3530908"/>
            <a:ext cx="2579688" cy="668338"/>
          </a:xfrm>
          <a:noFill/>
          <a:ln>
            <a:noFill/>
          </a:ln>
          <a:effectLst/>
        </p:spPr>
        <p:txBody>
          <a:bodyPr lIns="0" anchor="ctr">
            <a:noAutofit/>
          </a:bodyPr>
          <a:lstStyle>
            <a:lvl1pPr marL="228600" indent="-228600" algn="l">
              <a:buNone/>
              <a:defRPr kumimoji="0" lang="zh-CN" altLang="en-US" sz="2400" b="0" i="0" u="none" strike="noStrike" kern="1200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输入标题</a:t>
            </a:r>
          </a:p>
        </p:txBody>
      </p:sp>
      <p:sp>
        <p:nvSpPr>
          <p:cNvPr id="45" name="文本占位符 31"/>
          <p:cNvSpPr>
            <a:spLocks noGrp="1"/>
          </p:cNvSpPr>
          <p:nvPr>
            <p:ph type="body" sz="quarter" idx="16" hasCustomPrompt="1"/>
          </p:nvPr>
        </p:nvSpPr>
        <p:spPr>
          <a:xfrm>
            <a:off x="5550067" y="4339776"/>
            <a:ext cx="2579688" cy="668338"/>
          </a:xfrm>
          <a:noFill/>
          <a:ln>
            <a:noFill/>
          </a:ln>
          <a:effectLst/>
        </p:spPr>
        <p:txBody>
          <a:bodyPr lIns="0" anchor="ctr">
            <a:noAutofit/>
          </a:bodyPr>
          <a:lstStyle>
            <a:lvl1pPr marL="228600" indent="-228600" algn="l">
              <a:buNone/>
              <a:defRPr kumimoji="0" lang="zh-CN" altLang="en-US" sz="2400" b="0" i="0" u="none" strike="noStrike" kern="1200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输入标题</a:t>
            </a:r>
          </a:p>
        </p:txBody>
      </p:sp>
      <p:sp>
        <p:nvSpPr>
          <p:cNvPr id="46" name="文本占位符 31"/>
          <p:cNvSpPr>
            <a:spLocks noGrp="1"/>
          </p:cNvSpPr>
          <p:nvPr>
            <p:ph type="body" sz="quarter" idx="17" hasCustomPrompt="1"/>
          </p:nvPr>
        </p:nvSpPr>
        <p:spPr>
          <a:xfrm>
            <a:off x="5550067" y="5148645"/>
            <a:ext cx="2579688" cy="668338"/>
          </a:xfrm>
          <a:noFill/>
          <a:ln>
            <a:noFill/>
          </a:ln>
          <a:effectLst/>
        </p:spPr>
        <p:txBody>
          <a:bodyPr lIns="0" anchor="ctr">
            <a:noAutofit/>
          </a:bodyPr>
          <a:lstStyle>
            <a:lvl1pPr marL="228600" indent="-228600" algn="l">
              <a:buNone/>
              <a:defRPr kumimoji="0" lang="zh-CN" altLang="en-US" sz="2400" b="0" i="0" u="none" strike="noStrike" kern="1200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输入标题</a:t>
            </a:r>
          </a:p>
        </p:txBody>
      </p:sp>
      <p:sp>
        <p:nvSpPr>
          <p:cNvPr id="47" name="文本占位符 31"/>
          <p:cNvSpPr>
            <a:spLocks noGrp="1"/>
          </p:cNvSpPr>
          <p:nvPr>
            <p:ph type="body" sz="quarter" idx="18" hasCustomPrompt="1"/>
          </p:nvPr>
        </p:nvSpPr>
        <p:spPr>
          <a:xfrm>
            <a:off x="3863414" y="1889726"/>
            <a:ext cx="1376652" cy="668338"/>
          </a:xfrm>
          <a:noFill/>
          <a:ln>
            <a:noFill/>
          </a:ln>
          <a:effectLst/>
        </p:spPr>
        <p:txBody>
          <a:bodyPr lIns="108000" anchor="ctr">
            <a:noAutofit/>
          </a:bodyPr>
          <a:lstStyle>
            <a:lvl1pPr marL="228600" indent="-228600" algn="l">
              <a:buNone/>
              <a:defRPr kumimoji="0" lang="zh-CN" altLang="en-US" sz="2800" b="1" i="0" u="none" strike="noStrike" kern="1200" cap="none" spc="0" normalizeH="0" baseline="0" dirty="0">
                <a:ln>
                  <a:noFill/>
                </a:ln>
                <a:solidFill>
                  <a:srgbClr val="0170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48" name="文本占位符 31"/>
          <p:cNvSpPr>
            <a:spLocks noGrp="1"/>
          </p:cNvSpPr>
          <p:nvPr>
            <p:ph type="body" sz="quarter" idx="19" hasCustomPrompt="1"/>
          </p:nvPr>
        </p:nvSpPr>
        <p:spPr>
          <a:xfrm>
            <a:off x="3863414" y="2696619"/>
            <a:ext cx="1376652" cy="668338"/>
          </a:xfrm>
          <a:noFill/>
          <a:ln>
            <a:noFill/>
          </a:ln>
          <a:effectLst/>
        </p:spPr>
        <p:txBody>
          <a:bodyPr lIns="108000" anchor="ctr">
            <a:noAutofit/>
          </a:bodyPr>
          <a:lstStyle>
            <a:lvl1pPr marL="228600" indent="-228600" algn="l">
              <a:buNone/>
              <a:defRPr kumimoji="0" lang="zh-CN" altLang="en-US" sz="2800" b="1" i="0" u="none" strike="noStrike" kern="1200" cap="none" spc="0" normalizeH="0" baseline="0" dirty="0">
                <a:ln>
                  <a:noFill/>
                </a:ln>
                <a:solidFill>
                  <a:srgbClr val="0170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49" name="文本占位符 31"/>
          <p:cNvSpPr>
            <a:spLocks noGrp="1"/>
          </p:cNvSpPr>
          <p:nvPr>
            <p:ph type="body" sz="quarter" idx="20" hasCustomPrompt="1"/>
          </p:nvPr>
        </p:nvSpPr>
        <p:spPr>
          <a:xfrm>
            <a:off x="3863414" y="3503512"/>
            <a:ext cx="1376652" cy="668338"/>
          </a:xfrm>
          <a:noFill/>
          <a:ln>
            <a:noFill/>
          </a:ln>
          <a:effectLst/>
        </p:spPr>
        <p:txBody>
          <a:bodyPr lIns="108000" anchor="ctr">
            <a:noAutofit/>
          </a:bodyPr>
          <a:lstStyle>
            <a:lvl1pPr marL="228600" indent="-228600" algn="l">
              <a:buNone/>
              <a:defRPr kumimoji="0" lang="zh-CN" altLang="en-US" sz="2800" b="1" i="0" u="none" strike="noStrike" kern="1200" cap="none" spc="0" normalizeH="0" baseline="0" dirty="0">
                <a:ln>
                  <a:noFill/>
                </a:ln>
                <a:solidFill>
                  <a:srgbClr val="0170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50" name="文本占位符 31"/>
          <p:cNvSpPr>
            <a:spLocks noGrp="1"/>
          </p:cNvSpPr>
          <p:nvPr>
            <p:ph type="body" sz="quarter" idx="21" hasCustomPrompt="1"/>
          </p:nvPr>
        </p:nvSpPr>
        <p:spPr>
          <a:xfrm>
            <a:off x="3863414" y="4310405"/>
            <a:ext cx="1376652" cy="668338"/>
          </a:xfrm>
          <a:noFill/>
          <a:ln>
            <a:noFill/>
          </a:ln>
          <a:effectLst/>
        </p:spPr>
        <p:txBody>
          <a:bodyPr lIns="108000" anchor="ctr">
            <a:noAutofit/>
          </a:bodyPr>
          <a:lstStyle>
            <a:lvl1pPr marL="228600" indent="-228600" algn="l">
              <a:buNone/>
              <a:defRPr kumimoji="0" lang="zh-CN" altLang="en-US" sz="2800" b="1" i="0" u="none" strike="noStrike" kern="1200" cap="none" spc="0" normalizeH="0" baseline="0" dirty="0">
                <a:ln>
                  <a:noFill/>
                </a:ln>
                <a:solidFill>
                  <a:srgbClr val="0170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51" name="文本占位符 31"/>
          <p:cNvSpPr>
            <a:spLocks noGrp="1"/>
          </p:cNvSpPr>
          <p:nvPr>
            <p:ph type="body" sz="quarter" idx="22" hasCustomPrompt="1"/>
          </p:nvPr>
        </p:nvSpPr>
        <p:spPr>
          <a:xfrm>
            <a:off x="3863414" y="5117299"/>
            <a:ext cx="1376652" cy="668338"/>
          </a:xfrm>
          <a:noFill/>
          <a:ln>
            <a:noFill/>
          </a:ln>
          <a:effectLst/>
        </p:spPr>
        <p:txBody>
          <a:bodyPr lIns="108000" anchor="ctr">
            <a:noAutofit/>
          </a:bodyPr>
          <a:lstStyle>
            <a:lvl1pPr marL="228600" indent="-228600" algn="l">
              <a:buNone/>
              <a:defRPr kumimoji="0" lang="zh-CN" altLang="en-US" sz="2800" b="1" i="0" u="none" strike="noStrike" kern="1200" cap="none" spc="0" normalizeH="0" baseline="0" dirty="0">
                <a:ln>
                  <a:noFill/>
                </a:ln>
                <a:solidFill>
                  <a:srgbClr val="0170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en-US" altLang="zh-CN" dirty="0"/>
              <a:t>05</a:t>
            </a:r>
            <a:endParaRPr kumimoji="1" lang="zh-CN" altLang="en-US" dirty="0"/>
          </a:p>
        </p:txBody>
      </p:sp>
      <p:sp>
        <p:nvSpPr>
          <p:cNvPr id="21" name="文本占位符 31"/>
          <p:cNvSpPr txBox="1"/>
          <p:nvPr userDrawn="1"/>
        </p:nvSpPr>
        <p:spPr>
          <a:xfrm>
            <a:off x="4622800" y="945672"/>
            <a:ext cx="2716604" cy="668338"/>
          </a:xfrm>
          <a:prstGeom prst="rect">
            <a:avLst/>
          </a:prstGeom>
        </p:spPr>
        <p:txBody>
          <a:bodyPr vert="horz" lIns="108000" anchor="ctr" anchorCtr="0">
            <a:noAutofit/>
          </a:bodyPr>
          <a:lstStyle>
            <a:lvl1pPr marL="228600" indent="-22860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0" lang="zh-CN" altLang="en-US" sz="2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defRPr/>
            </a:pPr>
            <a:r>
              <a:rPr kumimoji="1" lang="zh-CN" altLang="en-US" sz="4000" dirty="0">
                <a:solidFill>
                  <a:srgbClr val="015695"/>
                </a:solidFill>
              </a:rPr>
              <a:t>目录</a:t>
            </a: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占位符 31"/>
          <p:cNvSpPr>
            <a:spLocks noGrp="1"/>
          </p:cNvSpPr>
          <p:nvPr>
            <p:ph type="body" sz="quarter" idx="18" hasCustomPrompt="1"/>
          </p:nvPr>
        </p:nvSpPr>
        <p:spPr>
          <a:xfrm>
            <a:off x="4419974" y="4834734"/>
            <a:ext cx="3459644" cy="1188983"/>
          </a:xfrm>
          <a:noFill/>
          <a:ln>
            <a:noFill/>
          </a:ln>
          <a:effectLst/>
        </p:spPr>
        <p:txBody>
          <a:bodyPr lIns="108000" anchor="ctr">
            <a:noAutofit/>
          </a:bodyPr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 kumimoji="0" lang="zh-CN" altLang="en-US" sz="1600" b="0" i="0" u="none" strike="noStrike" kern="1200" cap="none" spc="0" normalizeH="0" baseline="0" dirty="0">
                <a:ln>
                  <a:noFill/>
                </a:ln>
                <a:solidFill>
                  <a:srgbClr val="0170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您的内容打在这里，或者通过复制您的文本后，在此框中选择粘贴，并选择只保留文字。文字。</a:t>
            </a:r>
          </a:p>
        </p:txBody>
      </p:sp>
      <p:sp>
        <p:nvSpPr>
          <p:cNvPr id="29" name="对角圆角矩形 28"/>
          <p:cNvSpPr/>
          <p:nvPr userDrawn="1"/>
        </p:nvSpPr>
        <p:spPr>
          <a:xfrm>
            <a:off x="798490" y="2515665"/>
            <a:ext cx="3501782" cy="1770206"/>
          </a:xfrm>
          <a:prstGeom prst="round2DiagRect">
            <a:avLst/>
          </a:prstGeom>
          <a:blipFill dpi="0" rotWithShape="0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40000" sy="40000" flip="none" algn="tl"/>
          </a:blipFill>
          <a:ln w="19050">
            <a:solidFill>
              <a:schemeClr val="bg1"/>
            </a:solidFill>
          </a:ln>
          <a:effectLst>
            <a:outerShdw blurRad="76200" dist="76200" dir="54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对角圆角矩形 29"/>
          <p:cNvSpPr/>
          <p:nvPr userDrawn="1"/>
        </p:nvSpPr>
        <p:spPr>
          <a:xfrm>
            <a:off x="4432176" y="2515665"/>
            <a:ext cx="3501782" cy="1770206"/>
          </a:xfrm>
          <a:prstGeom prst="round2DiagRect">
            <a:avLst/>
          </a:prstGeom>
          <a:blipFill dpi="0" rotWithShape="0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chemeClr val="bg1"/>
            </a:solidFill>
          </a:ln>
          <a:effectLst>
            <a:outerShdw blurRad="76200" dist="76200" dir="54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对角圆角矩形 30"/>
          <p:cNvSpPr/>
          <p:nvPr userDrawn="1"/>
        </p:nvSpPr>
        <p:spPr>
          <a:xfrm>
            <a:off x="8051586" y="2515665"/>
            <a:ext cx="3501782" cy="1770206"/>
          </a:xfrm>
          <a:prstGeom prst="round2DiagRect">
            <a:avLst/>
          </a:prstGeom>
          <a:blipFill dpi="0" rotWithShape="0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chemeClr val="bg1"/>
            </a:solidFill>
          </a:ln>
          <a:effectLst>
            <a:outerShdw blurRad="76200" dist="76200" dir="54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31"/>
          <p:cNvSpPr>
            <a:spLocks noGrp="1"/>
          </p:cNvSpPr>
          <p:nvPr>
            <p:ph type="body" sz="quarter" idx="13" hasCustomPrompt="1"/>
          </p:nvPr>
        </p:nvSpPr>
        <p:spPr>
          <a:xfrm>
            <a:off x="1283726" y="2077637"/>
            <a:ext cx="2579688" cy="668338"/>
          </a:xfrm>
          <a:solidFill>
            <a:srgbClr val="0170C1"/>
          </a:solidFill>
          <a:ln>
            <a:solidFill>
              <a:schemeClr val="bg1"/>
            </a:solidFill>
          </a:ln>
          <a:effectLst/>
        </p:spPr>
        <p:txBody>
          <a:bodyPr lIns="0" anchor="ctr">
            <a:noAutofit/>
          </a:bodyPr>
          <a:lstStyle>
            <a:lvl1pPr marL="228600" indent="-228600" algn="l">
              <a:buNone/>
              <a:defRPr kumimoji="0" lang="zh-CN" altLang="en-US" sz="2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输入标题</a:t>
            </a: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9" hasCustomPrompt="1"/>
          </p:nvPr>
        </p:nvSpPr>
        <p:spPr>
          <a:xfrm>
            <a:off x="8512633" y="2077637"/>
            <a:ext cx="2579688" cy="668338"/>
          </a:xfrm>
          <a:solidFill>
            <a:srgbClr val="0170C1"/>
          </a:solidFill>
          <a:ln>
            <a:solidFill>
              <a:schemeClr val="bg1"/>
            </a:solidFill>
          </a:ln>
          <a:effectLst/>
        </p:spPr>
        <p:txBody>
          <a:bodyPr lIns="0" anchor="ctr">
            <a:noAutofit/>
          </a:bodyPr>
          <a:lstStyle>
            <a:lvl1pPr marL="228600" indent="-228600" algn="l">
              <a:buNone/>
              <a:defRPr kumimoji="0" lang="zh-CN" altLang="en-US" sz="2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输入标题</a:t>
            </a:r>
          </a:p>
        </p:txBody>
      </p:sp>
      <p:sp>
        <p:nvSpPr>
          <p:cNvPr id="33" name="文本占位符 31"/>
          <p:cNvSpPr>
            <a:spLocks noGrp="1"/>
          </p:cNvSpPr>
          <p:nvPr>
            <p:ph type="body" sz="quarter" idx="20" hasCustomPrompt="1"/>
          </p:nvPr>
        </p:nvSpPr>
        <p:spPr>
          <a:xfrm>
            <a:off x="4878947" y="2077637"/>
            <a:ext cx="2579688" cy="668338"/>
          </a:xfrm>
          <a:solidFill>
            <a:srgbClr val="00B0F0"/>
          </a:solidFill>
          <a:ln>
            <a:solidFill>
              <a:schemeClr val="bg1"/>
            </a:solidFill>
          </a:ln>
          <a:effectLst/>
        </p:spPr>
        <p:txBody>
          <a:bodyPr lIns="0" anchor="ctr">
            <a:noAutofit/>
          </a:bodyPr>
          <a:lstStyle>
            <a:lvl1pPr marL="228600" indent="-228600" algn="l">
              <a:buNone/>
              <a:defRPr kumimoji="0" lang="zh-CN" altLang="en-US" sz="2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输入标题</a:t>
            </a:r>
          </a:p>
        </p:txBody>
      </p:sp>
      <p:sp>
        <p:nvSpPr>
          <p:cNvPr id="34" name="文本占位符 31"/>
          <p:cNvSpPr>
            <a:spLocks noGrp="1"/>
          </p:cNvSpPr>
          <p:nvPr>
            <p:ph type="body" sz="quarter" idx="21" hasCustomPrompt="1"/>
          </p:nvPr>
        </p:nvSpPr>
        <p:spPr>
          <a:xfrm>
            <a:off x="785208" y="4834734"/>
            <a:ext cx="3459644" cy="1188983"/>
          </a:xfrm>
          <a:noFill/>
          <a:ln>
            <a:noFill/>
          </a:ln>
          <a:effectLst/>
        </p:spPr>
        <p:txBody>
          <a:bodyPr lIns="108000" anchor="ctr">
            <a:noAutofit/>
          </a:bodyPr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 kumimoji="0" lang="zh-CN" altLang="en-US" sz="1600" b="0" i="0" u="none" strike="noStrike" kern="1200" cap="none" spc="0" normalizeH="0" baseline="0" dirty="0">
                <a:ln>
                  <a:noFill/>
                </a:ln>
                <a:solidFill>
                  <a:srgbClr val="0170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您的内容打在这里，或者通过复制您的文本后，在此框中选择粘贴，并选择只保留文字。文字。</a:t>
            </a:r>
          </a:p>
        </p:txBody>
      </p:sp>
      <p:sp>
        <p:nvSpPr>
          <p:cNvPr id="35" name="文本占位符 31"/>
          <p:cNvSpPr>
            <a:spLocks noGrp="1"/>
          </p:cNvSpPr>
          <p:nvPr>
            <p:ph type="body" sz="quarter" idx="22" hasCustomPrompt="1"/>
          </p:nvPr>
        </p:nvSpPr>
        <p:spPr>
          <a:xfrm>
            <a:off x="8113983" y="4834734"/>
            <a:ext cx="3459644" cy="1188983"/>
          </a:xfrm>
          <a:noFill/>
          <a:ln>
            <a:noFill/>
          </a:ln>
          <a:effectLst/>
        </p:spPr>
        <p:txBody>
          <a:bodyPr lIns="108000" anchor="ctr">
            <a:noAutofit/>
          </a:bodyPr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 kumimoji="0" lang="zh-CN" altLang="en-US" sz="1600" b="0" i="0" u="none" strike="noStrike" kern="1200" cap="none" spc="0" normalizeH="0" baseline="0" dirty="0">
                <a:ln>
                  <a:noFill/>
                </a:ln>
                <a:solidFill>
                  <a:srgbClr val="0170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您的内容打在这里，或者通过复制您的文本后，在此框中选择粘贴，并选择只保留文字。文字。</a:t>
            </a:r>
          </a:p>
        </p:txBody>
      </p:sp>
      <p:cxnSp>
        <p:nvCxnSpPr>
          <p:cNvPr id="21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内容占位符 13"/>
          <p:cNvSpPr>
            <a:spLocks noGrp="1"/>
          </p:cNvSpPr>
          <p:nvPr>
            <p:ph sz="quarter" idx="23" hasCustomPrompt="1"/>
          </p:nvPr>
        </p:nvSpPr>
        <p:spPr>
          <a:xfrm>
            <a:off x="914400" y="723900"/>
            <a:ext cx="8737600" cy="6477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此处插入副标题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占位符 31"/>
          <p:cNvSpPr>
            <a:spLocks noGrp="1"/>
          </p:cNvSpPr>
          <p:nvPr>
            <p:ph type="body" sz="quarter" idx="21" hasCustomPrompt="1"/>
          </p:nvPr>
        </p:nvSpPr>
        <p:spPr>
          <a:xfrm>
            <a:off x="1021272" y="4865994"/>
            <a:ext cx="2439103" cy="1126462"/>
          </a:xfrm>
          <a:noFill/>
          <a:ln>
            <a:noFill/>
          </a:ln>
          <a:effectLst/>
        </p:spPr>
        <p:txBody>
          <a:bodyPr wrap="square" lIns="108000" anchor="ctr">
            <a:spAutoFit/>
          </a:bodyPr>
          <a:lstStyle>
            <a:lvl1pPr marL="0" marR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600" b="0" i="0" u="none" strike="noStrike" kern="1200" cap="none" spc="0" normalizeH="0" baseline="0" dirty="0">
                <a:ln>
                  <a:noFill/>
                </a:ln>
                <a:solidFill>
                  <a:srgbClr val="0170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此处添加详细文本描述，建议与标题相关并符合整体语言风格，语言描述尽量简洁生动。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23" name="Rectangle 74"/>
          <p:cNvSpPr/>
          <p:nvPr userDrawn="1"/>
        </p:nvSpPr>
        <p:spPr>
          <a:xfrm>
            <a:off x="1045887" y="2202783"/>
            <a:ext cx="2414488" cy="2033745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+mn-ea"/>
            </a:endParaRPr>
          </a:p>
        </p:txBody>
      </p:sp>
      <p:sp>
        <p:nvSpPr>
          <p:cNvPr id="27" name="Rectangle 90"/>
          <p:cNvSpPr/>
          <p:nvPr userDrawn="1"/>
        </p:nvSpPr>
        <p:spPr>
          <a:xfrm>
            <a:off x="3617345" y="2202783"/>
            <a:ext cx="2414488" cy="2033745"/>
          </a:xfrm>
          <a:prstGeom prst="rect">
            <a:avLst/>
          </a:prstGeom>
          <a:solidFill>
            <a:srgbClr val="33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+mn-ea"/>
            </a:endParaRPr>
          </a:p>
        </p:txBody>
      </p:sp>
      <p:cxnSp>
        <p:nvCxnSpPr>
          <p:cNvPr id="28" name="Straight Connector 97"/>
          <p:cNvCxnSpPr/>
          <p:nvPr userDrawn="1"/>
        </p:nvCxnSpPr>
        <p:spPr>
          <a:xfrm>
            <a:off x="3953278" y="3958580"/>
            <a:ext cx="1962509" cy="2"/>
          </a:xfrm>
          <a:prstGeom prst="line">
            <a:avLst/>
          </a:prstGeom>
          <a:ln w="38100" cmpd="sng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127"/>
          <p:cNvSpPr/>
          <p:nvPr userDrawn="1"/>
        </p:nvSpPr>
        <p:spPr>
          <a:xfrm>
            <a:off x="6200378" y="2197100"/>
            <a:ext cx="2414488" cy="2033745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+mn-ea"/>
            </a:endParaRPr>
          </a:p>
        </p:txBody>
      </p:sp>
      <p:cxnSp>
        <p:nvCxnSpPr>
          <p:cNvPr id="38" name="Straight Connector 130"/>
          <p:cNvCxnSpPr/>
          <p:nvPr userDrawn="1"/>
        </p:nvCxnSpPr>
        <p:spPr>
          <a:xfrm>
            <a:off x="4802102" y="3958580"/>
            <a:ext cx="1962509" cy="2"/>
          </a:xfrm>
          <a:prstGeom prst="line">
            <a:avLst/>
          </a:prstGeom>
          <a:ln w="38100" cmpd="sng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159"/>
          <p:cNvSpPr/>
          <p:nvPr userDrawn="1"/>
        </p:nvSpPr>
        <p:spPr>
          <a:xfrm>
            <a:off x="8766795" y="2191575"/>
            <a:ext cx="2414488" cy="2033745"/>
          </a:xfrm>
          <a:prstGeom prst="rect">
            <a:avLst/>
          </a:prstGeom>
          <a:solidFill>
            <a:srgbClr val="33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+mn-ea"/>
            </a:endParaRPr>
          </a:p>
        </p:txBody>
      </p:sp>
      <p:cxnSp>
        <p:nvCxnSpPr>
          <p:cNvPr id="41" name="Straight Connector 161"/>
          <p:cNvCxnSpPr/>
          <p:nvPr userDrawn="1"/>
        </p:nvCxnSpPr>
        <p:spPr>
          <a:xfrm>
            <a:off x="7815089" y="3958580"/>
            <a:ext cx="1962509" cy="2"/>
          </a:xfrm>
          <a:prstGeom prst="line">
            <a:avLst/>
          </a:prstGeom>
          <a:ln w="38100" cmpd="sng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组合 78"/>
          <p:cNvGrpSpPr/>
          <p:nvPr userDrawn="1"/>
        </p:nvGrpSpPr>
        <p:grpSpPr>
          <a:xfrm>
            <a:off x="4418644" y="2432565"/>
            <a:ext cx="814544" cy="725728"/>
            <a:chOff x="3332164" y="207963"/>
            <a:chExt cx="509588" cy="454025"/>
          </a:xfrm>
          <a:solidFill>
            <a:schemeClr val="bg1"/>
          </a:solidFill>
        </p:grpSpPr>
        <p:sp>
          <p:nvSpPr>
            <p:cNvPr id="44" name="Freeform 41"/>
            <p:cNvSpPr>
              <a:spLocks noEditPoints="1"/>
            </p:cNvSpPr>
            <p:nvPr/>
          </p:nvSpPr>
          <p:spPr bwMode="auto">
            <a:xfrm>
              <a:off x="3332164" y="207963"/>
              <a:ext cx="509588" cy="454025"/>
            </a:xfrm>
            <a:custGeom>
              <a:avLst/>
              <a:gdLst>
                <a:gd name="T0" fmla="*/ 229 w 236"/>
                <a:gd name="T1" fmla="*/ 0 h 210"/>
                <a:gd name="T2" fmla="*/ 7 w 236"/>
                <a:gd name="T3" fmla="*/ 0 h 210"/>
                <a:gd name="T4" fmla="*/ 0 w 236"/>
                <a:gd name="T5" fmla="*/ 7 h 210"/>
                <a:gd name="T6" fmla="*/ 0 w 236"/>
                <a:gd name="T7" fmla="*/ 202 h 210"/>
                <a:gd name="T8" fmla="*/ 7 w 236"/>
                <a:gd name="T9" fmla="*/ 210 h 210"/>
                <a:gd name="T10" fmla="*/ 229 w 236"/>
                <a:gd name="T11" fmla="*/ 210 h 210"/>
                <a:gd name="T12" fmla="*/ 236 w 236"/>
                <a:gd name="T13" fmla="*/ 202 h 210"/>
                <a:gd name="T14" fmla="*/ 236 w 236"/>
                <a:gd name="T15" fmla="*/ 7 h 210"/>
                <a:gd name="T16" fmla="*/ 229 w 236"/>
                <a:gd name="T17" fmla="*/ 0 h 210"/>
                <a:gd name="T18" fmla="*/ 182 w 236"/>
                <a:gd name="T19" fmla="*/ 16 h 210"/>
                <a:gd name="T20" fmla="*/ 192 w 236"/>
                <a:gd name="T21" fmla="*/ 26 h 210"/>
                <a:gd name="T22" fmla="*/ 182 w 236"/>
                <a:gd name="T23" fmla="*/ 36 h 210"/>
                <a:gd name="T24" fmla="*/ 172 w 236"/>
                <a:gd name="T25" fmla="*/ 26 h 210"/>
                <a:gd name="T26" fmla="*/ 182 w 236"/>
                <a:gd name="T27" fmla="*/ 16 h 210"/>
                <a:gd name="T28" fmla="*/ 153 w 236"/>
                <a:gd name="T29" fmla="*/ 16 h 210"/>
                <a:gd name="T30" fmla="*/ 163 w 236"/>
                <a:gd name="T31" fmla="*/ 26 h 210"/>
                <a:gd name="T32" fmla="*/ 153 w 236"/>
                <a:gd name="T33" fmla="*/ 36 h 210"/>
                <a:gd name="T34" fmla="*/ 143 w 236"/>
                <a:gd name="T35" fmla="*/ 26 h 210"/>
                <a:gd name="T36" fmla="*/ 153 w 236"/>
                <a:gd name="T37" fmla="*/ 16 h 210"/>
                <a:gd name="T38" fmla="*/ 221 w 236"/>
                <a:gd name="T39" fmla="*/ 195 h 210"/>
                <a:gd name="T40" fmla="*/ 15 w 236"/>
                <a:gd name="T41" fmla="*/ 195 h 210"/>
                <a:gd name="T42" fmla="*/ 15 w 236"/>
                <a:gd name="T43" fmla="*/ 52 h 210"/>
                <a:gd name="T44" fmla="*/ 221 w 236"/>
                <a:gd name="T45" fmla="*/ 52 h 210"/>
                <a:gd name="T46" fmla="*/ 221 w 236"/>
                <a:gd name="T47" fmla="*/ 195 h 210"/>
                <a:gd name="T48" fmla="*/ 211 w 236"/>
                <a:gd name="T49" fmla="*/ 36 h 210"/>
                <a:gd name="T50" fmla="*/ 201 w 236"/>
                <a:gd name="T51" fmla="*/ 26 h 210"/>
                <a:gd name="T52" fmla="*/ 211 w 236"/>
                <a:gd name="T53" fmla="*/ 16 h 210"/>
                <a:gd name="T54" fmla="*/ 221 w 236"/>
                <a:gd name="T55" fmla="*/ 26 h 210"/>
                <a:gd name="T56" fmla="*/ 211 w 236"/>
                <a:gd name="T57" fmla="*/ 36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10">
                  <a:moveTo>
                    <a:pt x="22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206"/>
                    <a:pt x="3" y="210"/>
                    <a:pt x="7" y="210"/>
                  </a:cubicBezTo>
                  <a:cubicBezTo>
                    <a:pt x="229" y="210"/>
                    <a:pt x="229" y="210"/>
                    <a:pt x="229" y="210"/>
                  </a:cubicBezTo>
                  <a:cubicBezTo>
                    <a:pt x="233" y="210"/>
                    <a:pt x="236" y="206"/>
                    <a:pt x="236" y="202"/>
                  </a:cubicBezTo>
                  <a:cubicBezTo>
                    <a:pt x="236" y="7"/>
                    <a:pt x="236" y="7"/>
                    <a:pt x="236" y="7"/>
                  </a:cubicBezTo>
                  <a:cubicBezTo>
                    <a:pt x="236" y="3"/>
                    <a:pt x="233" y="0"/>
                    <a:pt x="229" y="0"/>
                  </a:cubicBezTo>
                  <a:close/>
                  <a:moveTo>
                    <a:pt x="182" y="16"/>
                  </a:moveTo>
                  <a:cubicBezTo>
                    <a:pt x="187" y="16"/>
                    <a:pt x="192" y="21"/>
                    <a:pt x="192" y="26"/>
                  </a:cubicBezTo>
                  <a:cubicBezTo>
                    <a:pt x="192" y="32"/>
                    <a:pt x="187" y="36"/>
                    <a:pt x="182" y="36"/>
                  </a:cubicBezTo>
                  <a:cubicBezTo>
                    <a:pt x="176" y="36"/>
                    <a:pt x="172" y="32"/>
                    <a:pt x="172" y="26"/>
                  </a:cubicBezTo>
                  <a:cubicBezTo>
                    <a:pt x="172" y="21"/>
                    <a:pt x="176" y="16"/>
                    <a:pt x="182" y="16"/>
                  </a:cubicBezTo>
                  <a:close/>
                  <a:moveTo>
                    <a:pt x="153" y="16"/>
                  </a:moveTo>
                  <a:cubicBezTo>
                    <a:pt x="158" y="16"/>
                    <a:pt x="163" y="21"/>
                    <a:pt x="163" y="26"/>
                  </a:cubicBezTo>
                  <a:cubicBezTo>
                    <a:pt x="163" y="32"/>
                    <a:pt x="158" y="36"/>
                    <a:pt x="153" y="36"/>
                  </a:cubicBezTo>
                  <a:cubicBezTo>
                    <a:pt x="147" y="36"/>
                    <a:pt x="143" y="32"/>
                    <a:pt x="143" y="26"/>
                  </a:cubicBezTo>
                  <a:cubicBezTo>
                    <a:pt x="143" y="21"/>
                    <a:pt x="147" y="16"/>
                    <a:pt x="153" y="16"/>
                  </a:cubicBezTo>
                  <a:close/>
                  <a:moveTo>
                    <a:pt x="221" y="195"/>
                  </a:moveTo>
                  <a:cubicBezTo>
                    <a:pt x="15" y="195"/>
                    <a:pt x="15" y="195"/>
                    <a:pt x="15" y="195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221" y="52"/>
                    <a:pt x="221" y="52"/>
                    <a:pt x="221" y="52"/>
                  </a:cubicBezTo>
                  <a:lnTo>
                    <a:pt x="221" y="195"/>
                  </a:lnTo>
                  <a:close/>
                  <a:moveTo>
                    <a:pt x="211" y="36"/>
                  </a:moveTo>
                  <a:cubicBezTo>
                    <a:pt x="206" y="36"/>
                    <a:pt x="201" y="32"/>
                    <a:pt x="201" y="26"/>
                  </a:cubicBezTo>
                  <a:cubicBezTo>
                    <a:pt x="201" y="21"/>
                    <a:pt x="206" y="16"/>
                    <a:pt x="211" y="16"/>
                  </a:cubicBezTo>
                  <a:cubicBezTo>
                    <a:pt x="217" y="16"/>
                    <a:pt x="221" y="21"/>
                    <a:pt x="221" y="26"/>
                  </a:cubicBezTo>
                  <a:cubicBezTo>
                    <a:pt x="221" y="32"/>
                    <a:pt x="217" y="36"/>
                    <a:pt x="211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45" name="Freeform 42"/>
            <p:cNvSpPr/>
            <p:nvPr/>
          </p:nvSpPr>
          <p:spPr bwMode="auto">
            <a:xfrm>
              <a:off x="3405189" y="400051"/>
              <a:ext cx="120650" cy="153988"/>
            </a:xfrm>
            <a:custGeom>
              <a:avLst/>
              <a:gdLst>
                <a:gd name="T0" fmla="*/ 47 w 56"/>
                <a:gd name="T1" fmla="*/ 71 h 71"/>
                <a:gd name="T2" fmla="*/ 42 w 56"/>
                <a:gd name="T3" fmla="*/ 70 h 71"/>
                <a:gd name="T4" fmla="*/ 4 w 56"/>
                <a:gd name="T5" fmla="*/ 43 h 71"/>
                <a:gd name="T6" fmla="*/ 0 w 56"/>
                <a:gd name="T7" fmla="*/ 36 h 71"/>
                <a:gd name="T8" fmla="*/ 4 w 56"/>
                <a:gd name="T9" fmla="*/ 29 h 71"/>
                <a:gd name="T10" fmla="*/ 42 w 56"/>
                <a:gd name="T11" fmla="*/ 2 h 71"/>
                <a:gd name="T12" fmla="*/ 54 w 56"/>
                <a:gd name="T13" fmla="*/ 4 h 71"/>
                <a:gd name="T14" fmla="*/ 51 w 56"/>
                <a:gd name="T15" fmla="*/ 16 h 71"/>
                <a:gd name="T16" fmla="*/ 23 w 56"/>
                <a:gd name="T17" fmla="*/ 36 h 71"/>
                <a:gd name="T18" fmla="*/ 51 w 56"/>
                <a:gd name="T19" fmla="*/ 56 h 71"/>
                <a:gd name="T20" fmla="*/ 54 w 56"/>
                <a:gd name="T21" fmla="*/ 67 h 71"/>
                <a:gd name="T22" fmla="*/ 47 w 56"/>
                <a:gd name="T23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" h="71">
                  <a:moveTo>
                    <a:pt x="47" y="71"/>
                  </a:moveTo>
                  <a:cubicBezTo>
                    <a:pt x="45" y="71"/>
                    <a:pt x="43" y="71"/>
                    <a:pt x="42" y="70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1" y="41"/>
                    <a:pt x="0" y="39"/>
                    <a:pt x="0" y="36"/>
                  </a:cubicBezTo>
                  <a:cubicBezTo>
                    <a:pt x="0" y="33"/>
                    <a:pt x="1" y="31"/>
                    <a:pt x="4" y="29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5" y="0"/>
                    <a:pt x="51" y="1"/>
                    <a:pt x="54" y="4"/>
                  </a:cubicBezTo>
                  <a:cubicBezTo>
                    <a:pt x="56" y="8"/>
                    <a:pt x="55" y="14"/>
                    <a:pt x="51" y="1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55" y="58"/>
                    <a:pt x="56" y="64"/>
                    <a:pt x="54" y="67"/>
                  </a:cubicBezTo>
                  <a:cubicBezTo>
                    <a:pt x="52" y="70"/>
                    <a:pt x="49" y="71"/>
                    <a:pt x="47" y="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46" name="Freeform 43"/>
            <p:cNvSpPr/>
            <p:nvPr/>
          </p:nvSpPr>
          <p:spPr bwMode="auto">
            <a:xfrm>
              <a:off x="3646489" y="400051"/>
              <a:ext cx="122238" cy="153988"/>
            </a:xfrm>
            <a:custGeom>
              <a:avLst/>
              <a:gdLst>
                <a:gd name="T0" fmla="*/ 9 w 56"/>
                <a:gd name="T1" fmla="*/ 71 h 71"/>
                <a:gd name="T2" fmla="*/ 2 w 56"/>
                <a:gd name="T3" fmla="*/ 67 h 71"/>
                <a:gd name="T4" fmla="*/ 4 w 56"/>
                <a:gd name="T5" fmla="*/ 56 h 71"/>
                <a:gd name="T6" fmla="*/ 33 w 56"/>
                <a:gd name="T7" fmla="*/ 36 h 71"/>
                <a:gd name="T8" fmla="*/ 4 w 56"/>
                <a:gd name="T9" fmla="*/ 16 h 71"/>
                <a:gd name="T10" fmla="*/ 2 w 56"/>
                <a:gd name="T11" fmla="*/ 4 h 71"/>
                <a:gd name="T12" fmla="*/ 14 w 56"/>
                <a:gd name="T13" fmla="*/ 2 h 71"/>
                <a:gd name="T14" fmla="*/ 52 w 56"/>
                <a:gd name="T15" fmla="*/ 29 h 71"/>
                <a:gd name="T16" fmla="*/ 56 w 56"/>
                <a:gd name="T17" fmla="*/ 36 h 71"/>
                <a:gd name="T18" fmla="*/ 52 w 56"/>
                <a:gd name="T19" fmla="*/ 43 h 71"/>
                <a:gd name="T20" fmla="*/ 14 w 56"/>
                <a:gd name="T21" fmla="*/ 70 h 71"/>
                <a:gd name="T22" fmla="*/ 9 w 56"/>
                <a:gd name="T23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" h="71">
                  <a:moveTo>
                    <a:pt x="9" y="71"/>
                  </a:moveTo>
                  <a:cubicBezTo>
                    <a:pt x="7" y="71"/>
                    <a:pt x="4" y="70"/>
                    <a:pt x="2" y="67"/>
                  </a:cubicBezTo>
                  <a:cubicBezTo>
                    <a:pt x="0" y="64"/>
                    <a:pt x="1" y="58"/>
                    <a:pt x="4" y="5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1" y="14"/>
                    <a:pt x="0" y="8"/>
                    <a:pt x="2" y="4"/>
                  </a:cubicBezTo>
                  <a:cubicBezTo>
                    <a:pt x="5" y="1"/>
                    <a:pt x="10" y="0"/>
                    <a:pt x="14" y="2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55" y="31"/>
                    <a:pt x="56" y="33"/>
                    <a:pt x="56" y="36"/>
                  </a:cubicBezTo>
                  <a:cubicBezTo>
                    <a:pt x="56" y="39"/>
                    <a:pt x="55" y="41"/>
                    <a:pt x="52" y="43"/>
                  </a:cubicBezTo>
                  <a:cubicBezTo>
                    <a:pt x="14" y="70"/>
                    <a:pt x="14" y="70"/>
                    <a:pt x="14" y="70"/>
                  </a:cubicBezTo>
                  <a:cubicBezTo>
                    <a:pt x="13" y="71"/>
                    <a:pt x="11" y="71"/>
                    <a:pt x="9" y="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47" name="Freeform 44"/>
            <p:cNvSpPr/>
            <p:nvPr/>
          </p:nvSpPr>
          <p:spPr bwMode="auto">
            <a:xfrm>
              <a:off x="3536951" y="384176"/>
              <a:ext cx="100013" cy="184150"/>
            </a:xfrm>
            <a:custGeom>
              <a:avLst/>
              <a:gdLst>
                <a:gd name="T0" fmla="*/ 9 w 46"/>
                <a:gd name="T1" fmla="*/ 85 h 85"/>
                <a:gd name="T2" fmla="*/ 6 w 46"/>
                <a:gd name="T3" fmla="*/ 84 h 85"/>
                <a:gd name="T4" fmla="*/ 1 w 46"/>
                <a:gd name="T5" fmla="*/ 73 h 85"/>
                <a:gd name="T6" fmla="*/ 29 w 46"/>
                <a:gd name="T7" fmla="*/ 7 h 85"/>
                <a:gd name="T8" fmla="*/ 40 w 46"/>
                <a:gd name="T9" fmla="*/ 2 h 85"/>
                <a:gd name="T10" fmla="*/ 44 w 46"/>
                <a:gd name="T11" fmla="*/ 13 h 85"/>
                <a:gd name="T12" fmla="*/ 17 w 46"/>
                <a:gd name="T13" fmla="*/ 79 h 85"/>
                <a:gd name="T14" fmla="*/ 9 w 46"/>
                <a:gd name="T15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85">
                  <a:moveTo>
                    <a:pt x="9" y="85"/>
                  </a:moveTo>
                  <a:cubicBezTo>
                    <a:pt x="8" y="85"/>
                    <a:pt x="7" y="84"/>
                    <a:pt x="6" y="84"/>
                  </a:cubicBezTo>
                  <a:cubicBezTo>
                    <a:pt x="2" y="82"/>
                    <a:pt x="0" y="77"/>
                    <a:pt x="1" y="73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0" y="2"/>
                    <a:pt x="35" y="0"/>
                    <a:pt x="40" y="2"/>
                  </a:cubicBezTo>
                  <a:cubicBezTo>
                    <a:pt x="44" y="4"/>
                    <a:pt x="46" y="9"/>
                    <a:pt x="44" y="13"/>
                  </a:cubicBezTo>
                  <a:cubicBezTo>
                    <a:pt x="17" y="79"/>
                    <a:pt x="17" y="79"/>
                    <a:pt x="17" y="79"/>
                  </a:cubicBezTo>
                  <a:cubicBezTo>
                    <a:pt x="16" y="83"/>
                    <a:pt x="13" y="85"/>
                    <a:pt x="9" y="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</p:grpSp>
      <p:grpSp>
        <p:nvGrpSpPr>
          <p:cNvPr id="48" name="组合 83"/>
          <p:cNvGrpSpPr/>
          <p:nvPr userDrawn="1"/>
        </p:nvGrpSpPr>
        <p:grpSpPr>
          <a:xfrm>
            <a:off x="9502060" y="2322181"/>
            <a:ext cx="943956" cy="946494"/>
            <a:chOff x="3292476" y="115888"/>
            <a:chExt cx="590550" cy="592138"/>
          </a:xfrm>
          <a:solidFill>
            <a:schemeClr val="bg1"/>
          </a:solidFill>
        </p:grpSpPr>
        <p:sp>
          <p:nvSpPr>
            <p:cNvPr id="49" name="Freeform 526"/>
            <p:cNvSpPr>
              <a:spLocks noEditPoints="1"/>
            </p:cNvSpPr>
            <p:nvPr/>
          </p:nvSpPr>
          <p:spPr bwMode="auto">
            <a:xfrm>
              <a:off x="3292476" y="115888"/>
              <a:ext cx="590550" cy="592138"/>
            </a:xfrm>
            <a:custGeom>
              <a:avLst/>
              <a:gdLst>
                <a:gd name="T0" fmla="*/ 137 w 274"/>
                <a:gd name="T1" fmla="*/ 0 h 274"/>
                <a:gd name="T2" fmla="*/ 0 w 274"/>
                <a:gd name="T3" fmla="*/ 137 h 274"/>
                <a:gd name="T4" fmla="*/ 137 w 274"/>
                <a:gd name="T5" fmla="*/ 274 h 274"/>
                <a:gd name="T6" fmla="*/ 274 w 274"/>
                <a:gd name="T7" fmla="*/ 137 h 274"/>
                <a:gd name="T8" fmla="*/ 137 w 274"/>
                <a:gd name="T9" fmla="*/ 0 h 274"/>
                <a:gd name="T10" fmla="*/ 137 w 274"/>
                <a:gd name="T11" fmla="*/ 262 h 274"/>
                <a:gd name="T12" fmla="*/ 12 w 274"/>
                <a:gd name="T13" fmla="*/ 137 h 274"/>
                <a:gd name="T14" fmla="*/ 137 w 274"/>
                <a:gd name="T15" fmla="*/ 12 h 274"/>
                <a:gd name="T16" fmla="*/ 262 w 274"/>
                <a:gd name="T17" fmla="*/ 137 h 274"/>
                <a:gd name="T18" fmla="*/ 137 w 274"/>
                <a:gd name="T19" fmla="*/ 262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4" h="274">
                  <a:moveTo>
                    <a:pt x="137" y="0"/>
                  </a:moveTo>
                  <a:cubicBezTo>
                    <a:pt x="61" y="0"/>
                    <a:pt x="0" y="61"/>
                    <a:pt x="0" y="137"/>
                  </a:cubicBezTo>
                  <a:cubicBezTo>
                    <a:pt x="0" y="212"/>
                    <a:pt x="61" y="274"/>
                    <a:pt x="137" y="274"/>
                  </a:cubicBezTo>
                  <a:cubicBezTo>
                    <a:pt x="213" y="274"/>
                    <a:pt x="274" y="212"/>
                    <a:pt x="274" y="137"/>
                  </a:cubicBezTo>
                  <a:cubicBezTo>
                    <a:pt x="274" y="61"/>
                    <a:pt x="213" y="0"/>
                    <a:pt x="137" y="0"/>
                  </a:cubicBezTo>
                  <a:close/>
                  <a:moveTo>
                    <a:pt x="137" y="262"/>
                  </a:moveTo>
                  <a:cubicBezTo>
                    <a:pt x="68" y="262"/>
                    <a:pt x="12" y="206"/>
                    <a:pt x="12" y="137"/>
                  </a:cubicBezTo>
                  <a:cubicBezTo>
                    <a:pt x="12" y="68"/>
                    <a:pt x="68" y="12"/>
                    <a:pt x="137" y="12"/>
                  </a:cubicBezTo>
                  <a:cubicBezTo>
                    <a:pt x="206" y="12"/>
                    <a:pt x="262" y="68"/>
                    <a:pt x="262" y="137"/>
                  </a:cubicBezTo>
                  <a:cubicBezTo>
                    <a:pt x="262" y="206"/>
                    <a:pt x="206" y="262"/>
                    <a:pt x="137" y="2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50" name="Freeform 527"/>
            <p:cNvSpPr/>
            <p:nvPr/>
          </p:nvSpPr>
          <p:spPr bwMode="auto">
            <a:xfrm>
              <a:off x="3490914" y="166688"/>
              <a:ext cx="341313" cy="231775"/>
            </a:xfrm>
            <a:custGeom>
              <a:avLst/>
              <a:gdLst>
                <a:gd name="T0" fmla="*/ 27 w 158"/>
                <a:gd name="T1" fmla="*/ 70 h 108"/>
                <a:gd name="T2" fmla="*/ 45 w 158"/>
                <a:gd name="T3" fmla="*/ 66 h 108"/>
                <a:gd name="T4" fmla="*/ 93 w 158"/>
                <a:gd name="T5" fmla="*/ 108 h 108"/>
                <a:gd name="T6" fmla="*/ 158 w 158"/>
                <a:gd name="T7" fmla="*/ 100 h 108"/>
                <a:gd name="T8" fmla="*/ 45 w 158"/>
                <a:gd name="T9" fmla="*/ 0 h 108"/>
                <a:gd name="T10" fmla="*/ 0 w 158"/>
                <a:gd name="T11" fmla="*/ 9 h 108"/>
                <a:gd name="T12" fmla="*/ 27 w 158"/>
                <a:gd name="T13" fmla="*/ 7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108">
                  <a:moveTo>
                    <a:pt x="27" y="70"/>
                  </a:moveTo>
                  <a:cubicBezTo>
                    <a:pt x="32" y="67"/>
                    <a:pt x="39" y="66"/>
                    <a:pt x="45" y="66"/>
                  </a:cubicBezTo>
                  <a:cubicBezTo>
                    <a:pt x="69" y="66"/>
                    <a:pt x="90" y="84"/>
                    <a:pt x="93" y="108"/>
                  </a:cubicBezTo>
                  <a:cubicBezTo>
                    <a:pt x="158" y="100"/>
                    <a:pt x="158" y="100"/>
                    <a:pt x="158" y="100"/>
                  </a:cubicBezTo>
                  <a:cubicBezTo>
                    <a:pt x="151" y="44"/>
                    <a:pt x="103" y="0"/>
                    <a:pt x="45" y="0"/>
                  </a:cubicBezTo>
                  <a:cubicBezTo>
                    <a:pt x="29" y="0"/>
                    <a:pt x="14" y="3"/>
                    <a:pt x="0" y="9"/>
                  </a:cubicBezTo>
                  <a:lnTo>
                    <a:pt x="27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51" name="Freeform 528"/>
            <p:cNvSpPr/>
            <p:nvPr/>
          </p:nvSpPr>
          <p:spPr bwMode="auto">
            <a:xfrm>
              <a:off x="3683001" y="425451"/>
              <a:ext cx="149225" cy="84138"/>
            </a:xfrm>
            <a:custGeom>
              <a:avLst/>
              <a:gdLst>
                <a:gd name="T0" fmla="*/ 0 w 69"/>
                <a:gd name="T1" fmla="*/ 13 h 39"/>
                <a:gd name="T2" fmla="*/ 61 w 69"/>
                <a:gd name="T3" fmla="*/ 39 h 39"/>
                <a:gd name="T4" fmla="*/ 69 w 69"/>
                <a:gd name="T5" fmla="*/ 8 h 39"/>
                <a:gd name="T6" fmla="*/ 3 w 69"/>
                <a:gd name="T7" fmla="*/ 0 h 39"/>
                <a:gd name="T8" fmla="*/ 0 w 69"/>
                <a:gd name="T9" fmla="*/ 1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39">
                  <a:moveTo>
                    <a:pt x="0" y="13"/>
                  </a:moveTo>
                  <a:cubicBezTo>
                    <a:pt x="61" y="39"/>
                    <a:pt x="61" y="39"/>
                    <a:pt x="61" y="39"/>
                  </a:cubicBezTo>
                  <a:cubicBezTo>
                    <a:pt x="65" y="29"/>
                    <a:pt x="68" y="19"/>
                    <a:pt x="69" y="8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5"/>
                    <a:pt x="2" y="9"/>
                    <a:pt x="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52" name="Freeform 529"/>
            <p:cNvSpPr/>
            <p:nvPr/>
          </p:nvSpPr>
          <p:spPr bwMode="auto">
            <a:xfrm>
              <a:off x="3368676" y="254001"/>
              <a:ext cx="139700" cy="111125"/>
            </a:xfrm>
            <a:custGeom>
              <a:avLst/>
              <a:gdLst>
                <a:gd name="T0" fmla="*/ 65 w 65"/>
                <a:gd name="T1" fmla="*/ 42 h 51"/>
                <a:gd name="T2" fmla="*/ 14 w 65"/>
                <a:gd name="T3" fmla="*/ 0 h 51"/>
                <a:gd name="T4" fmla="*/ 0 w 65"/>
                <a:gd name="T5" fmla="*/ 22 h 51"/>
                <a:gd name="T6" fmla="*/ 60 w 65"/>
                <a:gd name="T7" fmla="*/ 51 h 51"/>
                <a:gd name="T8" fmla="*/ 65 w 65"/>
                <a:gd name="T9" fmla="*/ 4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51">
                  <a:moveTo>
                    <a:pt x="65" y="42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9" y="7"/>
                    <a:pt x="4" y="14"/>
                    <a:pt x="0" y="22"/>
                  </a:cubicBezTo>
                  <a:cubicBezTo>
                    <a:pt x="60" y="51"/>
                    <a:pt x="60" y="51"/>
                    <a:pt x="60" y="51"/>
                  </a:cubicBezTo>
                  <a:cubicBezTo>
                    <a:pt x="61" y="48"/>
                    <a:pt x="63" y="45"/>
                    <a:pt x="65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53" name="Freeform 530"/>
            <p:cNvSpPr/>
            <p:nvPr/>
          </p:nvSpPr>
          <p:spPr bwMode="auto">
            <a:xfrm>
              <a:off x="3630614" y="465138"/>
              <a:ext cx="168275" cy="166688"/>
            </a:xfrm>
            <a:custGeom>
              <a:avLst/>
              <a:gdLst>
                <a:gd name="T0" fmla="*/ 21 w 78"/>
                <a:gd name="T1" fmla="*/ 0 h 77"/>
                <a:gd name="T2" fmla="*/ 0 w 78"/>
                <a:gd name="T3" fmla="*/ 18 h 77"/>
                <a:gd name="T4" fmla="*/ 30 w 78"/>
                <a:gd name="T5" fmla="*/ 77 h 77"/>
                <a:gd name="T6" fmla="*/ 78 w 78"/>
                <a:gd name="T7" fmla="*/ 33 h 77"/>
                <a:gd name="T8" fmla="*/ 21 w 78"/>
                <a:gd name="T9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77">
                  <a:moveTo>
                    <a:pt x="21" y="0"/>
                  </a:moveTo>
                  <a:cubicBezTo>
                    <a:pt x="16" y="8"/>
                    <a:pt x="9" y="14"/>
                    <a:pt x="0" y="18"/>
                  </a:cubicBezTo>
                  <a:cubicBezTo>
                    <a:pt x="30" y="77"/>
                    <a:pt x="30" y="77"/>
                    <a:pt x="30" y="77"/>
                  </a:cubicBezTo>
                  <a:cubicBezTo>
                    <a:pt x="50" y="67"/>
                    <a:pt x="67" y="52"/>
                    <a:pt x="78" y="33"/>
                  </a:cubicBez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54" name="Freeform 531"/>
            <p:cNvSpPr/>
            <p:nvPr/>
          </p:nvSpPr>
          <p:spPr bwMode="auto">
            <a:xfrm>
              <a:off x="3341689" y="414338"/>
              <a:ext cx="244475" cy="242888"/>
            </a:xfrm>
            <a:custGeom>
              <a:avLst/>
              <a:gdLst>
                <a:gd name="T0" fmla="*/ 113 w 113"/>
                <a:gd name="T1" fmla="*/ 47 h 113"/>
                <a:gd name="T2" fmla="*/ 66 w 113"/>
                <a:gd name="T3" fmla="*/ 0 h 113"/>
                <a:gd name="T4" fmla="*/ 0 w 113"/>
                <a:gd name="T5" fmla="*/ 0 h 113"/>
                <a:gd name="T6" fmla="*/ 112 w 113"/>
                <a:gd name="T7" fmla="*/ 113 h 113"/>
                <a:gd name="T8" fmla="*/ 113 w 113"/>
                <a:gd name="T9" fmla="*/ 4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113">
                  <a:moveTo>
                    <a:pt x="113" y="47"/>
                  </a:moveTo>
                  <a:cubicBezTo>
                    <a:pt x="87" y="46"/>
                    <a:pt x="67" y="25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62"/>
                    <a:pt x="51" y="112"/>
                    <a:pt x="112" y="113"/>
                  </a:cubicBezTo>
                  <a:lnTo>
                    <a:pt x="113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55" name="Freeform 532"/>
            <p:cNvSpPr/>
            <p:nvPr/>
          </p:nvSpPr>
          <p:spPr bwMode="auto">
            <a:xfrm>
              <a:off x="3348039" y="330201"/>
              <a:ext cx="142875" cy="58738"/>
            </a:xfrm>
            <a:custGeom>
              <a:avLst/>
              <a:gdLst>
                <a:gd name="T0" fmla="*/ 64 w 66"/>
                <a:gd name="T1" fmla="*/ 27 h 27"/>
                <a:gd name="T2" fmla="*/ 66 w 66"/>
                <a:gd name="T3" fmla="*/ 21 h 27"/>
                <a:gd name="T4" fmla="*/ 4 w 66"/>
                <a:gd name="T5" fmla="*/ 0 h 27"/>
                <a:gd name="T6" fmla="*/ 0 w 66"/>
                <a:gd name="T7" fmla="*/ 12 h 27"/>
                <a:gd name="T8" fmla="*/ 64 w 66"/>
                <a:gd name="T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27">
                  <a:moveTo>
                    <a:pt x="64" y="27"/>
                  </a:moveTo>
                  <a:cubicBezTo>
                    <a:pt x="65" y="25"/>
                    <a:pt x="65" y="23"/>
                    <a:pt x="66" y="2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4"/>
                    <a:pt x="1" y="8"/>
                    <a:pt x="0" y="12"/>
                  </a:cubicBezTo>
                  <a:lnTo>
                    <a:pt x="64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56" name="Freeform 533"/>
            <p:cNvSpPr>
              <a:spLocks noEditPoints="1"/>
            </p:cNvSpPr>
            <p:nvPr/>
          </p:nvSpPr>
          <p:spPr bwMode="auto">
            <a:xfrm>
              <a:off x="3503614" y="328613"/>
              <a:ext cx="168275" cy="165100"/>
            </a:xfrm>
            <a:custGeom>
              <a:avLst/>
              <a:gdLst>
                <a:gd name="T0" fmla="*/ 39 w 78"/>
                <a:gd name="T1" fmla="*/ 0 h 77"/>
                <a:gd name="T2" fmla="*/ 0 w 78"/>
                <a:gd name="T3" fmla="*/ 39 h 77"/>
                <a:gd name="T4" fmla="*/ 39 w 78"/>
                <a:gd name="T5" fmla="*/ 77 h 77"/>
                <a:gd name="T6" fmla="*/ 78 w 78"/>
                <a:gd name="T7" fmla="*/ 39 h 77"/>
                <a:gd name="T8" fmla="*/ 39 w 78"/>
                <a:gd name="T9" fmla="*/ 0 h 77"/>
                <a:gd name="T10" fmla="*/ 39 w 78"/>
                <a:gd name="T11" fmla="*/ 69 h 77"/>
                <a:gd name="T12" fmla="*/ 9 w 78"/>
                <a:gd name="T13" fmla="*/ 39 h 77"/>
                <a:gd name="T14" fmla="*/ 39 w 78"/>
                <a:gd name="T15" fmla="*/ 9 h 77"/>
                <a:gd name="T16" fmla="*/ 69 w 78"/>
                <a:gd name="T17" fmla="*/ 39 h 77"/>
                <a:gd name="T18" fmla="*/ 39 w 78"/>
                <a:gd name="T19" fmla="*/ 69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" h="77"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60"/>
                    <a:pt x="18" y="77"/>
                    <a:pt x="39" y="77"/>
                  </a:cubicBezTo>
                  <a:cubicBezTo>
                    <a:pt x="60" y="77"/>
                    <a:pt x="78" y="60"/>
                    <a:pt x="78" y="39"/>
                  </a:cubicBezTo>
                  <a:cubicBezTo>
                    <a:pt x="78" y="17"/>
                    <a:pt x="60" y="0"/>
                    <a:pt x="39" y="0"/>
                  </a:cubicBezTo>
                  <a:close/>
                  <a:moveTo>
                    <a:pt x="39" y="69"/>
                  </a:moveTo>
                  <a:cubicBezTo>
                    <a:pt x="23" y="69"/>
                    <a:pt x="9" y="55"/>
                    <a:pt x="9" y="39"/>
                  </a:cubicBezTo>
                  <a:cubicBezTo>
                    <a:pt x="9" y="22"/>
                    <a:pt x="23" y="9"/>
                    <a:pt x="39" y="9"/>
                  </a:cubicBezTo>
                  <a:cubicBezTo>
                    <a:pt x="55" y="9"/>
                    <a:pt x="69" y="22"/>
                    <a:pt x="69" y="39"/>
                  </a:cubicBezTo>
                  <a:cubicBezTo>
                    <a:pt x="69" y="55"/>
                    <a:pt x="55" y="69"/>
                    <a:pt x="39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</p:grpSp>
      <p:grpSp>
        <p:nvGrpSpPr>
          <p:cNvPr id="57" name="组合 92"/>
          <p:cNvGrpSpPr/>
          <p:nvPr userDrawn="1"/>
        </p:nvGrpSpPr>
        <p:grpSpPr>
          <a:xfrm>
            <a:off x="1798230" y="2384350"/>
            <a:ext cx="905894" cy="822156"/>
            <a:chOff x="8356601" y="152401"/>
            <a:chExt cx="566738" cy="514350"/>
          </a:xfrm>
          <a:solidFill>
            <a:schemeClr val="bg1"/>
          </a:solidFill>
        </p:grpSpPr>
        <p:sp>
          <p:nvSpPr>
            <p:cNvPr id="58" name="Rectangle 541"/>
            <p:cNvSpPr>
              <a:spLocks noChangeArrowheads="1"/>
            </p:cNvSpPr>
            <p:nvPr/>
          </p:nvSpPr>
          <p:spPr bwMode="auto">
            <a:xfrm>
              <a:off x="8564564" y="614363"/>
              <a:ext cx="149225" cy="3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59" name="Freeform 542"/>
            <p:cNvSpPr/>
            <p:nvPr/>
          </p:nvSpPr>
          <p:spPr bwMode="auto">
            <a:xfrm>
              <a:off x="8520114" y="654051"/>
              <a:ext cx="241300" cy="12700"/>
            </a:xfrm>
            <a:custGeom>
              <a:avLst/>
              <a:gdLst>
                <a:gd name="T0" fmla="*/ 107 w 112"/>
                <a:gd name="T1" fmla="*/ 0 h 6"/>
                <a:gd name="T2" fmla="*/ 4 w 112"/>
                <a:gd name="T3" fmla="*/ 0 h 6"/>
                <a:gd name="T4" fmla="*/ 0 w 112"/>
                <a:gd name="T5" fmla="*/ 5 h 6"/>
                <a:gd name="T6" fmla="*/ 0 w 112"/>
                <a:gd name="T7" fmla="*/ 6 h 6"/>
                <a:gd name="T8" fmla="*/ 112 w 112"/>
                <a:gd name="T9" fmla="*/ 6 h 6"/>
                <a:gd name="T10" fmla="*/ 112 w 112"/>
                <a:gd name="T11" fmla="*/ 5 h 6"/>
                <a:gd name="T12" fmla="*/ 107 w 11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" h="6">
                  <a:moveTo>
                    <a:pt x="10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2"/>
                    <a:pt x="110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60" name="Freeform 543"/>
            <p:cNvSpPr/>
            <p:nvPr/>
          </p:nvSpPr>
          <p:spPr bwMode="auto">
            <a:xfrm>
              <a:off x="8356601" y="193676"/>
              <a:ext cx="566738" cy="412750"/>
            </a:xfrm>
            <a:custGeom>
              <a:avLst/>
              <a:gdLst>
                <a:gd name="T0" fmla="*/ 257 w 263"/>
                <a:gd name="T1" fmla="*/ 0 h 191"/>
                <a:gd name="T2" fmla="*/ 232 w 263"/>
                <a:gd name="T3" fmla="*/ 0 h 191"/>
                <a:gd name="T4" fmla="*/ 224 w 263"/>
                <a:gd name="T5" fmla="*/ 10 h 191"/>
                <a:gd name="T6" fmla="*/ 219 w 263"/>
                <a:gd name="T7" fmla="*/ 16 h 191"/>
                <a:gd name="T8" fmla="*/ 247 w 263"/>
                <a:gd name="T9" fmla="*/ 16 h 191"/>
                <a:gd name="T10" fmla="*/ 247 w 263"/>
                <a:gd name="T11" fmla="*/ 150 h 191"/>
                <a:gd name="T12" fmla="*/ 16 w 263"/>
                <a:gd name="T13" fmla="*/ 150 h 191"/>
                <a:gd name="T14" fmla="*/ 16 w 263"/>
                <a:gd name="T15" fmla="*/ 16 h 191"/>
                <a:gd name="T16" fmla="*/ 158 w 263"/>
                <a:gd name="T17" fmla="*/ 16 h 191"/>
                <a:gd name="T18" fmla="*/ 181 w 263"/>
                <a:gd name="T19" fmla="*/ 0 h 191"/>
                <a:gd name="T20" fmla="*/ 7 w 263"/>
                <a:gd name="T21" fmla="*/ 0 h 191"/>
                <a:gd name="T22" fmla="*/ 0 w 263"/>
                <a:gd name="T23" fmla="*/ 7 h 191"/>
                <a:gd name="T24" fmla="*/ 0 w 263"/>
                <a:gd name="T25" fmla="*/ 185 h 191"/>
                <a:gd name="T26" fmla="*/ 7 w 263"/>
                <a:gd name="T27" fmla="*/ 191 h 191"/>
                <a:gd name="T28" fmla="*/ 257 w 263"/>
                <a:gd name="T29" fmla="*/ 191 h 191"/>
                <a:gd name="T30" fmla="*/ 263 w 263"/>
                <a:gd name="T31" fmla="*/ 185 h 191"/>
                <a:gd name="T32" fmla="*/ 263 w 263"/>
                <a:gd name="T33" fmla="*/ 7 h 191"/>
                <a:gd name="T34" fmla="*/ 257 w 263"/>
                <a:gd name="T35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3" h="191">
                  <a:moveTo>
                    <a:pt x="257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230" y="3"/>
                    <a:pt x="227" y="6"/>
                    <a:pt x="224" y="10"/>
                  </a:cubicBezTo>
                  <a:cubicBezTo>
                    <a:pt x="219" y="16"/>
                    <a:pt x="219" y="16"/>
                    <a:pt x="219" y="16"/>
                  </a:cubicBezTo>
                  <a:cubicBezTo>
                    <a:pt x="247" y="16"/>
                    <a:pt x="247" y="16"/>
                    <a:pt x="247" y="16"/>
                  </a:cubicBezTo>
                  <a:cubicBezTo>
                    <a:pt x="247" y="150"/>
                    <a:pt x="247" y="150"/>
                    <a:pt x="247" y="150"/>
                  </a:cubicBezTo>
                  <a:cubicBezTo>
                    <a:pt x="16" y="150"/>
                    <a:pt x="16" y="150"/>
                    <a:pt x="16" y="150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8" y="16"/>
                    <a:pt x="158" y="16"/>
                    <a:pt x="158" y="16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188"/>
                    <a:pt x="3" y="191"/>
                    <a:pt x="7" y="191"/>
                  </a:cubicBezTo>
                  <a:cubicBezTo>
                    <a:pt x="257" y="191"/>
                    <a:pt x="257" y="191"/>
                    <a:pt x="257" y="191"/>
                  </a:cubicBezTo>
                  <a:cubicBezTo>
                    <a:pt x="260" y="191"/>
                    <a:pt x="263" y="188"/>
                    <a:pt x="263" y="185"/>
                  </a:cubicBezTo>
                  <a:cubicBezTo>
                    <a:pt x="263" y="7"/>
                    <a:pt x="263" y="7"/>
                    <a:pt x="263" y="7"/>
                  </a:cubicBezTo>
                  <a:cubicBezTo>
                    <a:pt x="263" y="3"/>
                    <a:pt x="260" y="0"/>
                    <a:pt x="25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61" name="Freeform 544"/>
            <p:cNvSpPr/>
            <p:nvPr/>
          </p:nvSpPr>
          <p:spPr bwMode="auto">
            <a:xfrm>
              <a:off x="8472489" y="384176"/>
              <a:ext cx="125413" cy="103188"/>
            </a:xfrm>
            <a:custGeom>
              <a:avLst/>
              <a:gdLst>
                <a:gd name="T0" fmla="*/ 18 w 58"/>
                <a:gd name="T1" fmla="*/ 12 h 48"/>
                <a:gd name="T2" fmla="*/ 0 w 58"/>
                <a:gd name="T3" fmla="*/ 44 h 48"/>
                <a:gd name="T4" fmla="*/ 6 w 58"/>
                <a:gd name="T5" fmla="*/ 46 h 48"/>
                <a:gd name="T6" fmla="*/ 19 w 58"/>
                <a:gd name="T7" fmla="*/ 35 h 48"/>
                <a:gd name="T8" fmla="*/ 16 w 58"/>
                <a:gd name="T9" fmla="*/ 47 h 48"/>
                <a:gd name="T10" fmla="*/ 41 w 58"/>
                <a:gd name="T11" fmla="*/ 40 h 48"/>
                <a:gd name="T12" fmla="*/ 58 w 58"/>
                <a:gd name="T13" fmla="*/ 18 h 48"/>
                <a:gd name="T14" fmla="*/ 42 w 58"/>
                <a:gd name="T15" fmla="*/ 0 h 48"/>
                <a:gd name="T16" fmla="*/ 18 w 58"/>
                <a:gd name="T17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48">
                  <a:moveTo>
                    <a:pt x="18" y="12"/>
                  </a:moveTo>
                  <a:cubicBezTo>
                    <a:pt x="8" y="27"/>
                    <a:pt x="17" y="43"/>
                    <a:pt x="0" y="44"/>
                  </a:cubicBezTo>
                  <a:cubicBezTo>
                    <a:pt x="0" y="44"/>
                    <a:pt x="2" y="45"/>
                    <a:pt x="6" y="46"/>
                  </a:cubicBezTo>
                  <a:cubicBezTo>
                    <a:pt x="13" y="47"/>
                    <a:pt x="18" y="44"/>
                    <a:pt x="19" y="35"/>
                  </a:cubicBezTo>
                  <a:cubicBezTo>
                    <a:pt x="19" y="35"/>
                    <a:pt x="21" y="40"/>
                    <a:pt x="16" y="47"/>
                  </a:cubicBezTo>
                  <a:cubicBezTo>
                    <a:pt x="23" y="48"/>
                    <a:pt x="35" y="45"/>
                    <a:pt x="41" y="40"/>
                  </a:cubicBezTo>
                  <a:cubicBezTo>
                    <a:pt x="55" y="29"/>
                    <a:pt x="58" y="18"/>
                    <a:pt x="58" y="18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25" y="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62" name="Freeform 545"/>
            <p:cNvSpPr/>
            <p:nvPr/>
          </p:nvSpPr>
          <p:spPr bwMode="auto">
            <a:xfrm>
              <a:off x="8585201" y="152401"/>
              <a:ext cx="271463" cy="250825"/>
            </a:xfrm>
            <a:custGeom>
              <a:avLst/>
              <a:gdLst>
                <a:gd name="T0" fmla="*/ 103 w 126"/>
                <a:gd name="T1" fmla="*/ 14 h 116"/>
                <a:gd name="T2" fmla="*/ 32 w 126"/>
                <a:gd name="T3" fmla="*/ 63 h 116"/>
                <a:gd name="T4" fmla="*/ 3 w 126"/>
                <a:gd name="T5" fmla="*/ 95 h 116"/>
                <a:gd name="T6" fmla="*/ 18 w 126"/>
                <a:gd name="T7" fmla="*/ 111 h 116"/>
                <a:gd name="T8" fmla="*/ 53 w 126"/>
                <a:gd name="T9" fmla="*/ 87 h 116"/>
                <a:gd name="T10" fmla="*/ 110 w 126"/>
                <a:gd name="T11" fmla="*/ 22 h 116"/>
                <a:gd name="T12" fmla="*/ 103 w 126"/>
                <a:gd name="T13" fmla="*/ 1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116">
                  <a:moveTo>
                    <a:pt x="103" y="14"/>
                  </a:moveTo>
                  <a:cubicBezTo>
                    <a:pt x="83" y="27"/>
                    <a:pt x="51" y="49"/>
                    <a:pt x="32" y="63"/>
                  </a:cubicBezTo>
                  <a:cubicBezTo>
                    <a:pt x="12" y="76"/>
                    <a:pt x="0" y="91"/>
                    <a:pt x="3" y="95"/>
                  </a:cubicBezTo>
                  <a:cubicBezTo>
                    <a:pt x="7" y="100"/>
                    <a:pt x="14" y="107"/>
                    <a:pt x="18" y="111"/>
                  </a:cubicBezTo>
                  <a:cubicBezTo>
                    <a:pt x="22" y="116"/>
                    <a:pt x="38" y="105"/>
                    <a:pt x="53" y="87"/>
                  </a:cubicBezTo>
                  <a:cubicBezTo>
                    <a:pt x="69" y="69"/>
                    <a:pt x="94" y="40"/>
                    <a:pt x="110" y="22"/>
                  </a:cubicBezTo>
                  <a:cubicBezTo>
                    <a:pt x="126" y="4"/>
                    <a:pt x="122" y="0"/>
                    <a:pt x="103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  <p:sp>
          <p:nvSpPr>
            <p:cNvPr id="63" name="Freeform 546"/>
            <p:cNvSpPr/>
            <p:nvPr/>
          </p:nvSpPr>
          <p:spPr bwMode="auto">
            <a:xfrm>
              <a:off x="8564564" y="358776"/>
              <a:ext cx="58738" cy="60325"/>
            </a:xfrm>
            <a:custGeom>
              <a:avLst/>
              <a:gdLst>
                <a:gd name="T0" fmla="*/ 9 w 27"/>
                <a:gd name="T1" fmla="*/ 1 h 28"/>
                <a:gd name="T2" fmla="*/ 4 w 27"/>
                <a:gd name="T3" fmla="*/ 1 h 28"/>
                <a:gd name="T4" fmla="*/ 3 w 27"/>
                <a:gd name="T5" fmla="*/ 5 h 28"/>
                <a:gd name="T6" fmla="*/ 2 w 27"/>
                <a:gd name="T7" fmla="*/ 6 h 28"/>
                <a:gd name="T8" fmla="*/ 1 w 27"/>
                <a:gd name="T9" fmla="*/ 10 h 28"/>
                <a:gd name="T10" fmla="*/ 16 w 27"/>
                <a:gd name="T11" fmla="*/ 26 h 28"/>
                <a:gd name="T12" fmla="*/ 20 w 27"/>
                <a:gd name="T13" fmla="*/ 26 h 28"/>
                <a:gd name="T14" fmla="*/ 21 w 27"/>
                <a:gd name="T15" fmla="*/ 26 h 28"/>
                <a:gd name="T16" fmla="*/ 25 w 27"/>
                <a:gd name="T17" fmla="*/ 24 h 28"/>
                <a:gd name="T18" fmla="*/ 26 w 27"/>
                <a:gd name="T19" fmla="*/ 19 h 28"/>
                <a:gd name="T20" fmla="*/ 9 w 27"/>
                <a:gd name="T21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" h="28">
                  <a:moveTo>
                    <a:pt x="9" y="1"/>
                  </a:moveTo>
                  <a:cubicBezTo>
                    <a:pt x="8" y="0"/>
                    <a:pt x="6" y="0"/>
                    <a:pt x="4" y="1"/>
                  </a:cubicBezTo>
                  <a:cubicBezTo>
                    <a:pt x="3" y="2"/>
                    <a:pt x="2" y="4"/>
                    <a:pt x="3" y="5"/>
                  </a:cubicBezTo>
                  <a:cubicBezTo>
                    <a:pt x="2" y="5"/>
                    <a:pt x="2" y="5"/>
                    <a:pt x="2" y="6"/>
                  </a:cubicBezTo>
                  <a:cubicBezTo>
                    <a:pt x="0" y="7"/>
                    <a:pt x="0" y="9"/>
                    <a:pt x="1" y="10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8"/>
                    <a:pt x="19" y="28"/>
                    <a:pt x="20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4" y="26"/>
                    <a:pt x="25" y="24"/>
                  </a:cubicBezTo>
                  <a:cubicBezTo>
                    <a:pt x="26" y="23"/>
                    <a:pt x="27" y="21"/>
                    <a:pt x="26" y="19"/>
                  </a:cubicBezTo>
                  <a:lnTo>
                    <a:pt x="9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3600">
                <a:latin typeface="+mn-ea"/>
              </a:endParaRPr>
            </a:p>
          </p:txBody>
        </p:sp>
      </p:grpSp>
      <p:sp>
        <p:nvSpPr>
          <p:cNvPr id="64" name="Freeform 25"/>
          <p:cNvSpPr>
            <a:spLocks noEditPoints="1"/>
          </p:cNvSpPr>
          <p:nvPr userDrawn="1"/>
        </p:nvSpPr>
        <p:spPr bwMode="auto">
          <a:xfrm>
            <a:off x="6929995" y="2427634"/>
            <a:ext cx="977524" cy="735588"/>
          </a:xfrm>
          <a:custGeom>
            <a:avLst/>
            <a:gdLst>
              <a:gd name="T0" fmla="*/ 679 w 778"/>
              <a:gd name="T1" fmla="*/ 367 h 584"/>
              <a:gd name="T2" fmla="*/ 535 w 778"/>
              <a:gd name="T3" fmla="*/ 146 h 584"/>
              <a:gd name="T4" fmla="*/ 439 w 778"/>
              <a:gd name="T5" fmla="*/ 269 h 584"/>
              <a:gd name="T6" fmla="*/ 391 w 778"/>
              <a:gd name="T7" fmla="*/ 219 h 584"/>
              <a:gd name="T8" fmla="*/ 245 w 778"/>
              <a:gd name="T9" fmla="*/ 389 h 584"/>
              <a:gd name="T10" fmla="*/ 195 w 778"/>
              <a:gd name="T11" fmla="*/ 341 h 584"/>
              <a:gd name="T12" fmla="*/ 97 w 778"/>
              <a:gd name="T13" fmla="*/ 487 h 584"/>
              <a:gd name="T14" fmla="*/ 679 w 778"/>
              <a:gd name="T15" fmla="*/ 487 h 584"/>
              <a:gd name="T16" fmla="*/ 679 w 778"/>
              <a:gd name="T17" fmla="*/ 367 h 584"/>
              <a:gd name="T18" fmla="*/ 730 w 778"/>
              <a:gd name="T19" fmla="*/ 0 h 584"/>
              <a:gd name="T20" fmla="*/ 49 w 778"/>
              <a:gd name="T21" fmla="*/ 0 h 584"/>
              <a:gd name="T22" fmla="*/ 0 w 778"/>
              <a:gd name="T23" fmla="*/ 49 h 584"/>
              <a:gd name="T24" fmla="*/ 0 w 778"/>
              <a:gd name="T25" fmla="*/ 535 h 584"/>
              <a:gd name="T26" fmla="*/ 49 w 778"/>
              <a:gd name="T27" fmla="*/ 584 h 584"/>
              <a:gd name="T28" fmla="*/ 730 w 778"/>
              <a:gd name="T29" fmla="*/ 584 h 584"/>
              <a:gd name="T30" fmla="*/ 778 w 778"/>
              <a:gd name="T31" fmla="*/ 535 h 584"/>
              <a:gd name="T32" fmla="*/ 778 w 778"/>
              <a:gd name="T33" fmla="*/ 49 h 584"/>
              <a:gd name="T34" fmla="*/ 730 w 778"/>
              <a:gd name="T35" fmla="*/ 0 h 584"/>
              <a:gd name="T36" fmla="*/ 706 w 778"/>
              <a:gd name="T37" fmla="*/ 511 h 584"/>
              <a:gd name="T38" fmla="*/ 72 w 778"/>
              <a:gd name="T39" fmla="*/ 511 h 584"/>
              <a:gd name="T40" fmla="*/ 72 w 778"/>
              <a:gd name="T41" fmla="*/ 73 h 584"/>
              <a:gd name="T42" fmla="*/ 706 w 778"/>
              <a:gd name="T43" fmla="*/ 73 h 584"/>
              <a:gd name="T44" fmla="*/ 706 w 778"/>
              <a:gd name="T45" fmla="*/ 511 h 584"/>
              <a:gd name="T46" fmla="*/ 218 w 778"/>
              <a:gd name="T47" fmla="*/ 267 h 584"/>
              <a:gd name="T48" fmla="*/ 291 w 778"/>
              <a:gd name="T49" fmla="*/ 195 h 584"/>
              <a:gd name="T50" fmla="*/ 218 w 778"/>
              <a:gd name="T51" fmla="*/ 122 h 584"/>
              <a:gd name="T52" fmla="*/ 147 w 778"/>
              <a:gd name="T53" fmla="*/ 195 h 584"/>
              <a:gd name="T54" fmla="*/ 218 w 778"/>
              <a:gd name="T55" fmla="*/ 267 h 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778" h="584">
                <a:moveTo>
                  <a:pt x="679" y="367"/>
                </a:moveTo>
                <a:cubicBezTo>
                  <a:pt x="535" y="146"/>
                  <a:pt x="535" y="146"/>
                  <a:pt x="535" y="146"/>
                </a:cubicBezTo>
                <a:cubicBezTo>
                  <a:pt x="439" y="269"/>
                  <a:pt x="439" y="269"/>
                  <a:pt x="439" y="269"/>
                </a:cubicBezTo>
                <a:cubicBezTo>
                  <a:pt x="391" y="219"/>
                  <a:pt x="391" y="219"/>
                  <a:pt x="391" y="219"/>
                </a:cubicBezTo>
                <a:cubicBezTo>
                  <a:pt x="245" y="389"/>
                  <a:pt x="245" y="389"/>
                  <a:pt x="245" y="389"/>
                </a:cubicBezTo>
                <a:cubicBezTo>
                  <a:pt x="195" y="341"/>
                  <a:pt x="195" y="341"/>
                  <a:pt x="195" y="341"/>
                </a:cubicBezTo>
                <a:cubicBezTo>
                  <a:pt x="97" y="487"/>
                  <a:pt x="97" y="487"/>
                  <a:pt x="97" y="487"/>
                </a:cubicBezTo>
                <a:cubicBezTo>
                  <a:pt x="679" y="487"/>
                  <a:pt x="679" y="487"/>
                  <a:pt x="679" y="487"/>
                </a:cubicBezTo>
                <a:lnTo>
                  <a:pt x="679" y="367"/>
                </a:lnTo>
                <a:close/>
                <a:moveTo>
                  <a:pt x="730" y="0"/>
                </a:moveTo>
                <a:cubicBezTo>
                  <a:pt x="49" y="0"/>
                  <a:pt x="49" y="0"/>
                  <a:pt x="49" y="0"/>
                </a:cubicBezTo>
                <a:cubicBezTo>
                  <a:pt x="19" y="0"/>
                  <a:pt x="0" y="19"/>
                  <a:pt x="0" y="49"/>
                </a:cubicBezTo>
                <a:cubicBezTo>
                  <a:pt x="0" y="535"/>
                  <a:pt x="0" y="535"/>
                  <a:pt x="0" y="535"/>
                </a:cubicBezTo>
                <a:cubicBezTo>
                  <a:pt x="0" y="560"/>
                  <a:pt x="24" y="584"/>
                  <a:pt x="49" y="584"/>
                </a:cubicBezTo>
                <a:cubicBezTo>
                  <a:pt x="730" y="584"/>
                  <a:pt x="730" y="584"/>
                  <a:pt x="730" y="584"/>
                </a:cubicBezTo>
                <a:cubicBezTo>
                  <a:pt x="754" y="584"/>
                  <a:pt x="778" y="558"/>
                  <a:pt x="778" y="535"/>
                </a:cubicBezTo>
                <a:cubicBezTo>
                  <a:pt x="778" y="49"/>
                  <a:pt x="778" y="49"/>
                  <a:pt x="778" y="49"/>
                </a:cubicBezTo>
                <a:cubicBezTo>
                  <a:pt x="778" y="24"/>
                  <a:pt x="753" y="0"/>
                  <a:pt x="730" y="0"/>
                </a:cubicBezTo>
                <a:close/>
                <a:moveTo>
                  <a:pt x="706" y="511"/>
                </a:moveTo>
                <a:cubicBezTo>
                  <a:pt x="72" y="511"/>
                  <a:pt x="72" y="511"/>
                  <a:pt x="72" y="511"/>
                </a:cubicBezTo>
                <a:cubicBezTo>
                  <a:pt x="72" y="73"/>
                  <a:pt x="72" y="73"/>
                  <a:pt x="72" y="73"/>
                </a:cubicBezTo>
                <a:cubicBezTo>
                  <a:pt x="706" y="73"/>
                  <a:pt x="706" y="73"/>
                  <a:pt x="706" y="73"/>
                </a:cubicBezTo>
                <a:lnTo>
                  <a:pt x="706" y="511"/>
                </a:lnTo>
                <a:close/>
                <a:moveTo>
                  <a:pt x="218" y="267"/>
                </a:moveTo>
                <a:cubicBezTo>
                  <a:pt x="258" y="267"/>
                  <a:pt x="291" y="235"/>
                  <a:pt x="291" y="195"/>
                </a:cubicBezTo>
                <a:cubicBezTo>
                  <a:pt x="291" y="156"/>
                  <a:pt x="258" y="122"/>
                  <a:pt x="218" y="122"/>
                </a:cubicBezTo>
                <a:cubicBezTo>
                  <a:pt x="179" y="122"/>
                  <a:pt x="147" y="156"/>
                  <a:pt x="147" y="195"/>
                </a:cubicBezTo>
                <a:cubicBezTo>
                  <a:pt x="147" y="235"/>
                  <a:pt x="179" y="267"/>
                  <a:pt x="218" y="2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3600">
              <a:latin typeface="+mn-ea"/>
            </a:endParaRPr>
          </a:p>
        </p:txBody>
      </p:sp>
      <p:sp>
        <p:nvSpPr>
          <p:cNvPr id="19" name="文本占位符 31"/>
          <p:cNvSpPr>
            <a:spLocks noGrp="1"/>
          </p:cNvSpPr>
          <p:nvPr>
            <p:ph type="body" sz="quarter" idx="13" hasCustomPrompt="1"/>
          </p:nvPr>
        </p:nvSpPr>
        <p:spPr>
          <a:xfrm>
            <a:off x="1021272" y="3290244"/>
            <a:ext cx="2579688" cy="668338"/>
          </a:xfrm>
          <a:noFill/>
          <a:ln>
            <a:noFill/>
          </a:ln>
          <a:effectLst/>
        </p:spPr>
        <p:txBody>
          <a:bodyPr lIns="0" anchor="ctr">
            <a:noAutofit/>
          </a:bodyPr>
          <a:lstStyle>
            <a:lvl1pPr marL="228600" indent="-228600" algn="l">
              <a:buNone/>
              <a:defRPr kumimoji="0" lang="zh-CN" altLang="en-US" sz="2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输入标题</a:t>
            </a:r>
          </a:p>
        </p:txBody>
      </p:sp>
      <p:sp>
        <p:nvSpPr>
          <p:cNvPr id="65" name="文本占位符 31"/>
          <p:cNvSpPr>
            <a:spLocks noGrp="1"/>
          </p:cNvSpPr>
          <p:nvPr>
            <p:ph type="body" sz="quarter" idx="23" hasCustomPrompt="1"/>
          </p:nvPr>
        </p:nvSpPr>
        <p:spPr>
          <a:xfrm>
            <a:off x="3646853" y="3290244"/>
            <a:ext cx="2579688" cy="668338"/>
          </a:xfrm>
          <a:noFill/>
          <a:ln>
            <a:noFill/>
          </a:ln>
          <a:effectLst/>
        </p:spPr>
        <p:txBody>
          <a:bodyPr lIns="0" anchor="ctr">
            <a:noAutofit/>
          </a:bodyPr>
          <a:lstStyle>
            <a:lvl1pPr marL="228600" indent="-228600" algn="l">
              <a:buNone/>
              <a:defRPr kumimoji="0" lang="zh-CN" altLang="en-US" sz="2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输入标题</a:t>
            </a:r>
          </a:p>
        </p:txBody>
      </p:sp>
      <p:sp>
        <p:nvSpPr>
          <p:cNvPr id="66" name="文本占位符 31"/>
          <p:cNvSpPr>
            <a:spLocks noGrp="1"/>
          </p:cNvSpPr>
          <p:nvPr>
            <p:ph type="body" sz="quarter" idx="24" hasCustomPrompt="1"/>
          </p:nvPr>
        </p:nvSpPr>
        <p:spPr>
          <a:xfrm>
            <a:off x="6149694" y="3290244"/>
            <a:ext cx="2579688" cy="668338"/>
          </a:xfrm>
          <a:noFill/>
          <a:ln>
            <a:noFill/>
          </a:ln>
          <a:effectLst/>
        </p:spPr>
        <p:txBody>
          <a:bodyPr lIns="0" anchor="ctr">
            <a:noAutofit/>
          </a:bodyPr>
          <a:lstStyle>
            <a:lvl1pPr marL="228600" indent="-228600" algn="l">
              <a:buNone/>
              <a:defRPr kumimoji="0" lang="zh-CN" altLang="en-US" sz="2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输入标题</a:t>
            </a:r>
          </a:p>
        </p:txBody>
      </p:sp>
      <p:sp>
        <p:nvSpPr>
          <p:cNvPr id="67" name="文本占位符 31"/>
          <p:cNvSpPr>
            <a:spLocks noGrp="1"/>
          </p:cNvSpPr>
          <p:nvPr>
            <p:ph type="body" sz="quarter" idx="25" hasCustomPrompt="1"/>
          </p:nvPr>
        </p:nvSpPr>
        <p:spPr>
          <a:xfrm>
            <a:off x="8838593" y="3290244"/>
            <a:ext cx="2579688" cy="668338"/>
          </a:xfrm>
          <a:noFill/>
          <a:ln>
            <a:noFill/>
          </a:ln>
          <a:effectLst/>
        </p:spPr>
        <p:txBody>
          <a:bodyPr lIns="0" anchor="ctr">
            <a:noAutofit/>
          </a:bodyPr>
          <a:lstStyle>
            <a:lvl1pPr marL="228600" indent="-228600" algn="l">
              <a:buNone/>
              <a:defRPr kumimoji="0" lang="zh-CN" altLang="en-US" sz="2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1" lang="zh-CN" altLang="en-US" dirty="0"/>
              <a:t>输入标题</a:t>
            </a:r>
          </a:p>
        </p:txBody>
      </p:sp>
      <p:sp>
        <p:nvSpPr>
          <p:cNvPr id="68" name="文本占位符 31"/>
          <p:cNvSpPr>
            <a:spLocks noGrp="1"/>
          </p:cNvSpPr>
          <p:nvPr>
            <p:ph type="body" sz="quarter" idx="26" hasCustomPrompt="1"/>
          </p:nvPr>
        </p:nvSpPr>
        <p:spPr>
          <a:xfrm>
            <a:off x="8766795" y="4865994"/>
            <a:ext cx="2439103" cy="1126462"/>
          </a:xfrm>
          <a:noFill/>
          <a:ln>
            <a:noFill/>
          </a:ln>
          <a:effectLst/>
        </p:spPr>
        <p:txBody>
          <a:bodyPr wrap="square" lIns="108000" anchor="ctr">
            <a:spAutoFit/>
          </a:bodyPr>
          <a:lstStyle>
            <a:lvl1pPr marL="0" marR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600" b="0" i="0" u="none" strike="noStrike" kern="1200" cap="none" spc="0" normalizeH="0" baseline="0" dirty="0">
                <a:ln>
                  <a:noFill/>
                </a:ln>
                <a:solidFill>
                  <a:srgbClr val="0170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此处添加详细文本描述，建议与标题相关并符合整体语言风格，语言描述尽量简洁生动。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69" name="文本占位符 31"/>
          <p:cNvSpPr>
            <a:spLocks noGrp="1"/>
          </p:cNvSpPr>
          <p:nvPr>
            <p:ph type="body" sz="quarter" idx="27" hasCustomPrompt="1"/>
          </p:nvPr>
        </p:nvSpPr>
        <p:spPr>
          <a:xfrm>
            <a:off x="3603113" y="4865994"/>
            <a:ext cx="2439103" cy="1126462"/>
          </a:xfrm>
          <a:noFill/>
          <a:ln>
            <a:noFill/>
          </a:ln>
          <a:effectLst/>
        </p:spPr>
        <p:txBody>
          <a:bodyPr wrap="square" lIns="108000" anchor="ctr">
            <a:spAutoFit/>
          </a:bodyPr>
          <a:lstStyle>
            <a:lvl1pPr marL="0" marR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600" b="0" i="0" u="none" strike="noStrike" kern="1200" cap="none" spc="0" normalizeH="0" baseline="0" dirty="0">
                <a:ln>
                  <a:noFill/>
                </a:ln>
                <a:solidFill>
                  <a:srgbClr val="0170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此处添加详细文本描述，建议与标题相关并符合整体语言风格，语言描述尽量简洁生动。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70" name="文本占位符 31"/>
          <p:cNvSpPr>
            <a:spLocks noGrp="1"/>
          </p:cNvSpPr>
          <p:nvPr>
            <p:ph type="body" sz="quarter" idx="28" hasCustomPrompt="1"/>
          </p:nvPr>
        </p:nvSpPr>
        <p:spPr>
          <a:xfrm>
            <a:off x="6184954" y="4865994"/>
            <a:ext cx="2439103" cy="1126462"/>
          </a:xfrm>
          <a:noFill/>
          <a:ln>
            <a:noFill/>
          </a:ln>
          <a:effectLst/>
        </p:spPr>
        <p:txBody>
          <a:bodyPr wrap="square" lIns="108000" anchor="ctr">
            <a:spAutoFit/>
          </a:bodyPr>
          <a:lstStyle>
            <a:lvl1pPr marL="0" marR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600" b="0" i="0" u="none" strike="noStrike" kern="1200" cap="none" spc="0" normalizeH="0" baseline="0" dirty="0">
                <a:ln>
                  <a:noFill/>
                </a:ln>
                <a:solidFill>
                  <a:srgbClr val="0170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此处添加详细文本描述，建议与标题相关并符合整体语言风格，语言描述尽量简洁生动。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</a:endParaRPr>
          </a:p>
        </p:txBody>
      </p:sp>
      <p:cxnSp>
        <p:nvCxnSpPr>
          <p:cNvPr id="75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内容占位符 13"/>
          <p:cNvSpPr>
            <a:spLocks noGrp="1"/>
          </p:cNvSpPr>
          <p:nvPr>
            <p:ph sz="quarter" idx="29" hasCustomPrompt="1"/>
          </p:nvPr>
        </p:nvSpPr>
        <p:spPr>
          <a:xfrm>
            <a:off x="914400" y="723900"/>
            <a:ext cx="8737600" cy="6477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此处插入副标题</a:t>
            </a:r>
          </a:p>
        </p:txBody>
      </p:sp>
      <p:sp>
        <p:nvSpPr>
          <p:cNvPr id="71" name="矩形 70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72" name="矩形 71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pic>
        <p:nvPicPr>
          <p:cNvPr id="73" name="图片 7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cxnSp>
        <p:nvCxnSpPr>
          <p:cNvPr id="16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内容占位符 13"/>
          <p:cNvSpPr>
            <a:spLocks noGrp="1"/>
          </p:cNvSpPr>
          <p:nvPr>
            <p:ph sz="quarter" idx="23" hasCustomPrompt="1"/>
          </p:nvPr>
        </p:nvSpPr>
        <p:spPr>
          <a:xfrm>
            <a:off x="914400" y="723900"/>
            <a:ext cx="8737600" cy="6477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此处插入副标题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6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内容占位符 13"/>
          <p:cNvSpPr>
            <a:spLocks noGrp="1"/>
          </p:cNvSpPr>
          <p:nvPr>
            <p:ph sz="quarter" idx="23" hasCustomPrompt="1"/>
          </p:nvPr>
        </p:nvSpPr>
        <p:spPr>
          <a:xfrm>
            <a:off x="914400" y="723900"/>
            <a:ext cx="8737600" cy="6477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此处插入副标题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cxnSp>
        <p:nvCxnSpPr>
          <p:cNvPr id="17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内容占位符 13"/>
          <p:cNvSpPr>
            <a:spLocks noGrp="1"/>
          </p:cNvSpPr>
          <p:nvPr>
            <p:ph sz="quarter" idx="23" hasCustomPrompt="1"/>
          </p:nvPr>
        </p:nvSpPr>
        <p:spPr>
          <a:xfrm>
            <a:off x="914400" y="723900"/>
            <a:ext cx="8737600" cy="6477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此处插入副标题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cxnSp>
        <p:nvCxnSpPr>
          <p:cNvPr id="19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13"/>
          <p:cNvSpPr>
            <a:spLocks noGrp="1"/>
          </p:cNvSpPr>
          <p:nvPr>
            <p:ph sz="quarter" idx="23" hasCustomPrompt="1"/>
          </p:nvPr>
        </p:nvSpPr>
        <p:spPr>
          <a:xfrm>
            <a:off x="914400" y="723900"/>
            <a:ext cx="8737600" cy="6477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此处插入副标题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内容占位符 13"/>
          <p:cNvSpPr>
            <a:spLocks noGrp="1"/>
          </p:cNvSpPr>
          <p:nvPr>
            <p:ph sz="quarter" idx="23" hasCustomPrompt="1"/>
          </p:nvPr>
        </p:nvSpPr>
        <p:spPr>
          <a:xfrm>
            <a:off x="914400" y="723900"/>
            <a:ext cx="8737600" cy="6477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此处插入副标题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内容占位符 13"/>
          <p:cNvSpPr>
            <a:spLocks noGrp="1"/>
          </p:cNvSpPr>
          <p:nvPr>
            <p:ph sz="quarter" idx="23" hasCustomPrompt="1"/>
          </p:nvPr>
        </p:nvSpPr>
        <p:spPr>
          <a:xfrm>
            <a:off x="914400" y="723900"/>
            <a:ext cx="8737600" cy="6477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此处插入副标题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内容占位符 13"/>
          <p:cNvSpPr>
            <a:spLocks noGrp="1"/>
          </p:cNvSpPr>
          <p:nvPr>
            <p:ph sz="quarter" idx="23" hasCustomPrompt="1"/>
          </p:nvPr>
        </p:nvSpPr>
        <p:spPr>
          <a:xfrm>
            <a:off x="914400" y="723900"/>
            <a:ext cx="8737600" cy="6477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此处插入副标题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cxnSp>
        <p:nvCxnSpPr>
          <p:cNvPr id="17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内容占位符 13"/>
          <p:cNvSpPr>
            <a:spLocks noGrp="1"/>
          </p:cNvSpPr>
          <p:nvPr>
            <p:ph sz="quarter" idx="23" hasCustomPrompt="1"/>
          </p:nvPr>
        </p:nvSpPr>
        <p:spPr>
          <a:xfrm>
            <a:off x="914400" y="723900"/>
            <a:ext cx="8737600" cy="6477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此处插入副标题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前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8"/>
          <p:cNvSpPr/>
          <p:nvPr userDrawn="1"/>
        </p:nvSpPr>
        <p:spPr bwMode="auto">
          <a:xfrm>
            <a:off x="1236372" y="2279561"/>
            <a:ext cx="9410600" cy="3740239"/>
          </a:xfrm>
          <a:prstGeom prst="rect">
            <a:avLst/>
          </a:prstGeom>
          <a:solidFill>
            <a:srgbClr val="FFFFFF">
              <a:alpha val="58038"/>
            </a:srgbClr>
          </a:solidFill>
          <a:ln w="25400">
            <a:solidFill>
              <a:srgbClr val="00B0F0"/>
            </a:solidFill>
            <a:miter lim="800000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7" name="椭圆 16"/>
          <p:cNvSpPr/>
          <p:nvPr userDrawn="1"/>
        </p:nvSpPr>
        <p:spPr>
          <a:xfrm>
            <a:off x="5386070" y="1208955"/>
            <a:ext cx="1471930" cy="1471930"/>
          </a:xfrm>
          <a:prstGeom prst="ellipse">
            <a:avLst/>
          </a:prstGeom>
          <a:ln>
            <a:solidFill>
              <a:srgbClr val="0170C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/>
        </p:nvSpPr>
        <p:spPr>
          <a:xfrm>
            <a:off x="7227570" y="1208955"/>
            <a:ext cx="1471930" cy="1471930"/>
          </a:xfrm>
          <a:prstGeom prst="ellipse">
            <a:avLst/>
          </a:prstGeom>
          <a:ln>
            <a:solidFill>
              <a:srgbClr val="0170C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 userDrawn="1"/>
        </p:nvSpPr>
        <p:spPr>
          <a:xfrm>
            <a:off x="8984615" y="1208955"/>
            <a:ext cx="1471930" cy="1471930"/>
          </a:xfrm>
          <a:prstGeom prst="ellipse">
            <a:avLst/>
          </a:prstGeom>
          <a:ln>
            <a:solidFill>
              <a:srgbClr val="0170C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1"/>
          </p:nvPr>
        </p:nvSpPr>
        <p:spPr>
          <a:xfrm>
            <a:off x="1465996" y="2585501"/>
            <a:ext cx="8990549" cy="3243799"/>
          </a:xfrm>
          <a:ln>
            <a:noFill/>
          </a:ln>
        </p:spPr>
        <p:txBody>
          <a:bodyPr>
            <a:normAutofit/>
          </a:bodyPr>
          <a:lstStyle>
            <a:lvl1pPr>
              <a:defRPr lang="zh-CN" altLang="en-US" sz="18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25" name="直接连接符 3"/>
          <p:cNvCxnSpPr/>
          <p:nvPr userDrawn="1"/>
        </p:nvCxnSpPr>
        <p:spPr>
          <a:xfrm>
            <a:off x="878831" y="680889"/>
            <a:ext cx="9246946" cy="14423"/>
          </a:xfrm>
          <a:prstGeom prst="line">
            <a:avLst/>
          </a:prstGeom>
          <a:ln w="15875">
            <a:solidFill>
              <a:srgbClr val="015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内容占位符 13"/>
          <p:cNvSpPr>
            <a:spLocks noGrp="1"/>
          </p:cNvSpPr>
          <p:nvPr>
            <p:ph sz="quarter" idx="23" hasCustomPrompt="1"/>
          </p:nvPr>
        </p:nvSpPr>
        <p:spPr>
          <a:xfrm>
            <a:off x="914400" y="723900"/>
            <a:ext cx="8737600" cy="6477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此处插入副标题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162269" y="96118"/>
            <a:ext cx="480053" cy="480053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5695"/>
              </a:solidFill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395802" y="292161"/>
            <a:ext cx="387019" cy="38701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0170C1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quarter" idx="10" hasCustomPrompt="1"/>
          </p:nvPr>
        </p:nvSpPr>
        <p:spPr>
          <a:xfrm>
            <a:off x="914400" y="38100"/>
            <a:ext cx="8737600" cy="647700"/>
          </a:xfrm>
        </p:spPr>
        <p:txBody>
          <a:bodyPr>
            <a:noAutofit/>
          </a:bodyPr>
          <a:lstStyle>
            <a:lvl1pPr marL="0" indent="0" eaLnBrk="0" fontAlgn="base" latinLnBrk="0" hangingPunct="0">
              <a:lnSpc>
                <a:spcPct val="140000"/>
              </a:lnSpc>
              <a:buNone/>
              <a:defRPr sz="2600" b="1">
                <a:solidFill>
                  <a:srgbClr val="0170C1"/>
                </a:solidFill>
              </a:defRPr>
            </a:lvl1pPr>
          </a:lstStyle>
          <a:p>
            <a:pPr lvl="0"/>
            <a:r>
              <a:rPr lang="zh-CN" altLang="en-US" dirty="0"/>
              <a:t>此处编辑标题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封面页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" descr="7b0a20202020227461726765744d6f64756c65223a20226b6f6e6c696e65666f6e7473220a7d0a"/>
          <p:cNvSpPr txBox="1"/>
          <p:nvPr userDrawn="1"/>
        </p:nvSpPr>
        <p:spPr>
          <a:xfrm>
            <a:off x="2076450" y="1127660"/>
            <a:ext cx="309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4800" b="1" dirty="0">
              <a:solidFill>
                <a:srgbClr val="0170C1"/>
              </a:solidFill>
            </a:endParaRPr>
          </a:p>
        </p:txBody>
      </p:sp>
      <p:pic>
        <p:nvPicPr>
          <p:cNvPr id="7" name="Picture 2" descr="C:\Users\PC\Desktop\zqq\8_0007_map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390" y="1219921"/>
            <a:ext cx="8047990" cy="234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6"/>
          <p:cNvSpPr txBox="1"/>
          <p:nvPr userDrawn="1"/>
        </p:nvSpPr>
        <p:spPr>
          <a:xfrm>
            <a:off x="2076450" y="1991260"/>
            <a:ext cx="81076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rgbClr val="0170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深圳佰特微医疗科技有限公司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767667"/>
            <a:ext cx="12206093" cy="1895997"/>
          </a:xfrm>
          <a:prstGeom prst="rect">
            <a:avLst/>
          </a:prstGeom>
        </p:spPr>
      </p:pic>
      <p:sp>
        <p:nvSpPr>
          <p:cNvPr id="23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4278154" y="4258995"/>
            <a:ext cx="4430713" cy="7080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输入你的题目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24D5C1A-157D-C2B8-7ADD-73DAA82283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785" y="26535"/>
            <a:ext cx="2443568" cy="750857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767667"/>
            <a:ext cx="12206093" cy="1895997"/>
          </a:xfrm>
          <a:prstGeom prst="rect">
            <a:avLst/>
          </a:prstGeom>
        </p:spPr>
      </p:pic>
      <p:pic>
        <p:nvPicPr>
          <p:cNvPr id="11" name="Picture 2" descr="C:\Users\PC\Desktop\zqq\8_0007_map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390" y="1219921"/>
            <a:ext cx="8047990" cy="234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圆角矩形 8"/>
          <p:cNvSpPr/>
          <p:nvPr userDrawn="1"/>
        </p:nvSpPr>
        <p:spPr>
          <a:xfrm>
            <a:off x="3257532" y="2637007"/>
            <a:ext cx="5747444" cy="532565"/>
          </a:xfrm>
          <a:prstGeom prst="roundRect">
            <a:avLst>
              <a:gd name="adj" fmla="val 42270"/>
            </a:avLst>
          </a:prstGeom>
          <a:solidFill>
            <a:srgbClr val="0170C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6"/>
          <p:cNvSpPr txBox="1"/>
          <p:nvPr userDrawn="1"/>
        </p:nvSpPr>
        <p:spPr>
          <a:xfrm>
            <a:off x="2076450" y="1127660"/>
            <a:ext cx="81076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rgbClr val="0170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深圳佰特微医疗科技有限公司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3902710" y="1957705"/>
            <a:ext cx="445516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600" b="1" dirty="0">
                <a:solidFill>
                  <a:srgbClr val="0170C1"/>
                </a:solidFill>
                <a:latin typeface="+mj-lt"/>
                <a:cs typeface="Arial" panose="020B0604020202020204" pitchFamily="34" charset="0"/>
              </a:rPr>
              <a:t>www.betterwaymed.com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1" hasCustomPrompt="1"/>
          </p:nvPr>
        </p:nvSpPr>
        <p:spPr>
          <a:xfrm>
            <a:off x="4594131" y="2637007"/>
            <a:ext cx="2476659" cy="526679"/>
          </a:xfrm>
        </p:spPr>
        <p:txBody>
          <a:bodyPr anchor="ctr" anchorCtr="0">
            <a:normAutofit/>
          </a:bodyPr>
          <a:lstStyle>
            <a:lvl1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zh-CN" altLang="en-US" sz="240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kumimoji="1" lang="zh-CN" altLang="en-US" dirty="0"/>
              <a:t>汇报人：</a:t>
            </a:r>
            <a:r>
              <a:rPr kumimoji="1" lang="en-US" altLang="zh-CN" dirty="0"/>
              <a:t>XXX</a:t>
            </a:r>
            <a:endParaRPr kumimoji="1" lang="zh-CN" altLang="en-US" dirty="0"/>
          </a:p>
        </p:txBody>
      </p:sp>
      <p:sp>
        <p:nvSpPr>
          <p:cNvPr id="13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3914934" y="4258995"/>
            <a:ext cx="4430713" cy="7080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输入你的题目</a:t>
            </a:r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767667"/>
            <a:ext cx="12206093" cy="1895997"/>
          </a:xfrm>
          <a:prstGeom prst="rect">
            <a:avLst/>
          </a:prstGeom>
        </p:spPr>
      </p:pic>
      <p:sp>
        <p:nvSpPr>
          <p:cNvPr id="14" name="文本框 6" descr="7b0a20202020227461726765744d6f64756c65223a20226b6f6e6c696e65666f6e7473220a7d0a"/>
          <p:cNvSpPr txBox="1"/>
          <p:nvPr userDrawn="1"/>
        </p:nvSpPr>
        <p:spPr>
          <a:xfrm>
            <a:off x="2076450" y="1127660"/>
            <a:ext cx="309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4800" b="1" dirty="0">
              <a:solidFill>
                <a:srgbClr val="0170C1"/>
              </a:solidFill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3914934" y="4258995"/>
            <a:ext cx="4430713" cy="7080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输入你的题目</a:t>
            </a:r>
          </a:p>
        </p:txBody>
      </p:sp>
      <p:pic>
        <p:nvPicPr>
          <p:cNvPr id="7" name="Picture 2" descr="C:\Users\PC\Desktop\zqq\8_0007_map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390" y="1219921"/>
            <a:ext cx="8047990" cy="234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6"/>
          <p:cNvSpPr txBox="1"/>
          <p:nvPr userDrawn="1"/>
        </p:nvSpPr>
        <p:spPr>
          <a:xfrm>
            <a:off x="2076450" y="1991260"/>
            <a:ext cx="81076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rgbClr val="0170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深圳佰特微医疗科技有限公司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3902710" y="2821305"/>
            <a:ext cx="445516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600" b="1" dirty="0">
                <a:solidFill>
                  <a:srgbClr val="0170C1"/>
                </a:solidFill>
                <a:latin typeface="+mj-lt"/>
                <a:cs typeface="Arial" panose="020B0604020202020204" pitchFamily="34" charset="0"/>
              </a:rPr>
              <a:t>www.betterwaymed.com</a:t>
            </a:r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面页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" descr="7b0a20202020227461726765744d6f64756c65223a20226b6f6e6c696e65666f6e7473220a7d0a"/>
          <p:cNvSpPr txBox="1"/>
          <p:nvPr userDrawn="1"/>
        </p:nvSpPr>
        <p:spPr>
          <a:xfrm>
            <a:off x="2076450" y="1127660"/>
            <a:ext cx="309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4800" b="1" dirty="0">
              <a:solidFill>
                <a:srgbClr val="0170C1"/>
              </a:solidFill>
            </a:endParaRPr>
          </a:p>
        </p:txBody>
      </p:sp>
      <p:pic>
        <p:nvPicPr>
          <p:cNvPr id="7" name="Picture 2" descr="C:\Users\PC\Desktop\zqq\8_0007_map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390" y="1219921"/>
            <a:ext cx="8047990" cy="234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6"/>
          <p:cNvSpPr txBox="1"/>
          <p:nvPr userDrawn="1"/>
        </p:nvSpPr>
        <p:spPr>
          <a:xfrm>
            <a:off x="2076450" y="1991260"/>
            <a:ext cx="81076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rgbClr val="0170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深圳佰特微医疗科技有限公司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3902710" y="2821305"/>
            <a:ext cx="445516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600" b="1" dirty="0">
                <a:solidFill>
                  <a:srgbClr val="0170C1"/>
                </a:solidFill>
                <a:latin typeface="+mj-lt"/>
                <a:cs typeface="Arial" panose="020B0604020202020204" pitchFamily="34" charset="0"/>
              </a:rPr>
              <a:t>www.betterwaymed.com</a:t>
            </a:r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4970795"/>
            <a:ext cx="12206093" cy="1895997"/>
          </a:xfrm>
          <a:prstGeom prst="rect">
            <a:avLst/>
          </a:prstGeom>
        </p:spPr>
      </p:pic>
      <p:pic>
        <p:nvPicPr>
          <p:cNvPr id="11" name="Picture 2" descr="C:\Users\PC\Desktop\zqq\8_0007_map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390" y="1219921"/>
            <a:ext cx="8047990" cy="234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889551" y="2112752"/>
            <a:ext cx="6396038" cy="1178038"/>
          </a:xfrm>
        </p:spPr>
        <p:txBody>
          <a:bodyPr>
            <a:normAutofit/>
          </a:bodyPr>
          <a:lstStyle>
            <a:lvl1pPr marL="0" indent="0" algn="ctr">
              <a:buNone/>
              <a:defRPr lang="zh-CN" altLang="en-US" sz="6600" kern="1200" dirty="0">
                <a:solidFill>
                  <a:srgbClr val="0170C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kumimoji="1" lang="zh-CN" altLang="en-US" dirty="0"/>
              <a:t>加入标题描述</a:t>
            </a:r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2889551" y="3545194"/>
            <a:ext cx="6396038" cy="589019"/>
          </a:xfrm>
        </p:spPr>
        <p:txBody>
          <a:bodyPr>
            <a:normAutofit/>
          </a:bodyPr>
          <a:lstStyle>
            <a:lvl1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6600" b="0" kern="1200" dirty="0">
                <a:solidFill>
                  <a:srgbClr val="0170C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170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加入你的文字描述和文案描述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170C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5412390" y="4184488"/>
            <a:ext cx="1350360" cy="135036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reflection blurRad="127000" stA="25000" endPos="30000" dist="762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2" hasCustomPrompt="1"/>
          </p:nvPr>
        </p:nvSpPr>
        <p:spPr>
          <a:xfrm>
            <a:off x="5219700" y="4552950"/>
            <a:ext cx="1771650" cy="1173163"/>
          </a:xfrm>
        </p:spPr>
        <p:txBody>
          <a:bodyPr>
            <a:normAutofit/>
          </a:bodyPr>
          <a:lstStyle>
            <a:lvl1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zh-CN" altLang="en-US" sz="4000" b="1" kern="1200" dirty="0">
                <a:solidFill>
                  <a:schemeClr val="bg1"/>
                </a:solidFill>
                <a:latin typeface="+mn-lt"/>
                <a:ea typeface="+mn-ea"/>
                <a:cs typeface="+mn-ea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6"/>
          <p:cNvSpPr txBox="1"/>
          <p:nvPr userDrawn="1"/>
        </p:nvSpPr>
        <p:spPr>
          <a:xfrm>
            <a:off x="1926981" y="447134"/>
            <a:ext cx="81076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rgbClr val="0170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深圳佰特微医疗科技有限公司</a:t>
            </a:r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封面页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" descr="7b0a20202020227461726765744d6f64756c65223a20226b6f6e6c696e65666f6e7473220a7d0a"/>
          <p:cNvSpPr txBox="1"/>
          <p:nvPr userDrawn="1"/>
        </p:nvSpPr>
        <p:spPr>
          <a:xfrm>
            <a:off x="2076450" y="1127660"/>
            <a:ext cx="309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4800" b="1" dirty="0">
              <a:solidFill>
                <a:srgbClr val="0170C1"/>
              </a:solidFill>
            </a:endParaRPr>
          </a:p>
        </p:txBody>
      </p:sp>
      <p:pic>
        <p:nvPicPr>
          <p:cNvPr id="7" name="Picture 2" descr="C:\Users\PC\Desktop\zqq\8_0007_map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390" y="1200871"/>
            <a:ext cx="8047990" cy="234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9818" y="261366"/>
            <a:ext cx="10932363" cy="391159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 i="0">
                <a:solidFill>
                  <a:srgbClr val="7E7E7E"/>
                </a:solidFill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09171" y="6400679"/>
            <a:ext cx="215900" cy="210820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242424"/>
                </a:solidFill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Users\PC\Desktop\zqq\8_0007_map.png"/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390" y="1219921"/>
            <a:ext cx="8047990" cy="234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11" Type="http://schemas.openxmlformats.org/officeDocument/2006/relationships/image" Target="../media/image20.png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notesSlide" Target="../notesSlides/notesSlide5.xml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3" Type="http://schemas.openxmlformats.org/officeDocument/2006/relationships/tags" Target="../tags/tag13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40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39.png"/><Relationship Id="rId5" Type="http://schemas.openxmlformats.org/officeDocument/2006/relationships/tags" Target="../tags/tag15.xml"/><Relationship Id="rId10" Type="http://schemas.openxmlformats.org/officeDocument/2006/relationships/image" Target="../media/image38.png"/><Relationship Id="rId4" Type="http://schemas.openxmlformats.org/officeDocument/2006/relationships/tags" Target="../tags/tag14.xml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6" Type="http://schemas.openxmlformats.org/officeDocument/2006/relationships/image" Target="../media/image45.pn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openxmlformats.org/officeDocument/2006/relationships/diagramColors" Target="../diagrams/colors3.xml"/><Relationship Id="rId3" Type="http://schemas.openxmlformats.org/officeDocument/2006/relationships/notesSlide" Target="../notesSlides/notesSlide19.xml"/><Relationship Id="rId7" Type="http://schemas.openxmlformats.org/officeDocument/2006/relationships/diagramColors" Target="../diagrams/colors2.xml"/><Relationship Id="rId12" Type="http://schemas.openxmlformats.org/officeDocument/2006/relationships/diagramQuickStyle" Target="../diagrams/quickStyle3.xml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53.emf"/><Relationship Id="rId1" Type="http://schemas.openxmlformats.org/officeDocument/2006/relationships/tags" Target="../tags/tag19.xml"/><Relationship Id="rId6" Type="http://schemas.openxmlformats.org/officeDocument/2006/relationships/diagramQuickStyle" Target="../diagrams/quickStyle2.xml"/><Relationship Id="rId11" Type="http://schemas.openxmlformats.org/officeDocument/2006/relationships/diagramLayout" Target="../diagrams/layout3.xml"/><Relationship Id="rId5" Type="http://schemas.openxmlformats.org/officeDocument/2006/relationships/diagramLayout" Target="../diagrams/layout2.xml"/><Relationship Id="rId15" Type="http://schemas.openxmlformats.org/officeDocument/2006/relationships/image" Target="../media/image52.gif"/><Relationship Id="rId10" Type="http://schemas.openxmlformats.org/officeDocument/2006/relationships/diagramData" Target="../diagrams/data3.xml"/><Relationship Id="rId4" Type="http://schemas.openxmlformats.org/officeDocument/2006/relationships/diagramData" Target="../diagrams/data2.xml"/><Relationship Id="rId9" Type="http://schemas.openxmlformats.org/officeDocument/2006/relationships/image" Target="../media/image51.png"/><Relationship Id="rId14" Type="http://schemas.microsoft.com/office/2007/relationships/diagramDrawing" Target="../diagrams/drawing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e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e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jpe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jpeg"/><Relationship Id="rId11" Type="http://schemas.openxmlformats.org/officeDocument/2006/relationships/image" Target="../media/image78.jpeg"/><Relationship Id="rId5" Type="http://schemas.openxmlformats.org/officeDocument/2006/relationships/image" Target="../media/image72.jpe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jpe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gif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@!f_200x200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08.png"/><Relationship Id="rId18" Type="http://schemas.openxmlformats.org/officeDocument/2006/relationships/image" Target="../media/image111.jpeg"/><Relationship Id="rId3" Type="http://schemas.openxmlformats.org/officeDocument/2006/relationships/image" Target="../media/image100.jpeg"/><Relationship Id="rId7" Type="http://schemas.openxmlformats.org/officeDocument/2006/relationships/image" Target="../media/image104.jpeg"/><Relationship Id="rId12" Type="http://schemas.microsoft.com/office/2007/relationships/hdphoto" Target="../media/hdphoto4.wdp"/><Relationship Id="rId17" Type="http://schemas.openxmlformats.org/officeDocument/2006/relationships/image" Target="../media/image110.png"/><Relationship Id="rId2" Type="http://schemas.openxmlformats.org/officeDocument/2006/relationships/notesSlide" Target="../notesSlides/notesSlide25.xml"/><Relationship Id="rId16" Type="http://schemas.microsoft.com/office/2007/relationships/hdphoto" Target="../media/hdphoto6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jpeg"/><Relationship Id="rId11" Type="http://schemas.openxmlformats.org/officeDocument/2006/relationships/image" Target="../media/image107.png"/><Relationship Id="rId5" Type="http://schemas.openxmlformats.org/officeDocument/2006/relationships/image" Target="../media/image102.jpeg"/><Relationship Id="rId15" Type="http://schemas.openxmlformats.org/officeDocument/2006/relationships/image" Target="../media/image109.png"/><Relationship Id="rId10" Type="http://schemas.openxmlformats.org/officeDocument/2006/relationships/image" Target="../media/image106.jpeg"/><Relationship Id="rId4" Type="http://schemas.openxmlformats.org/officeDocument/2006/relationships/image" Target="../media/image101.jpeg"/><Relationship Id="rId9" Type="http://schemas.microsoft.com/office/2007/relationships/hdphoto" Target="../media/hdphoto3.wdp"/><Relationship Id="rId14" Type="http://schemas.microsoft.com/office/2007/relationships/hdphoto" Target="../media/hdphoto5.wdp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jpeg"/><Relationship Id="rId3" Type="http://schemas.openxmlformats.org/officeDocument/2006/relationships/image" Target="../media/image113.jpeg"/><Relationship Id="rId7" Type="http://schemas.openxmlformats.org/officeDocument/2006/relationships/image" Target="../media/image117.jpeg"/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16.jpeg"/><Relationship Id="rId5" Type="http://schemas.openxmlformats.org/officeDocument/2006/relationships/image" Target="../media/image115.jpeg"/><Relationship Id="rId10" Type="http://schemas.openxmlformats.org/officeDocument/2006/relationships/image" Target="../media/image120.jpeg"/><Relationship Id="rId4" Type="http://schemas.openxmlformats.org/officeDocument/2006/relationships/image" Target="../media/image114.jpeg"/><Relationship Id="rId9" Type="http://schemas.openxmlformats.org/officeDocument/2006/relationships/image" Target="../media/image1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3043660" y="4249163"/>
            <a:ext cx="6301325" cy="708025"/>
          </a:xfrm>
        </p:spPr>
        <p:txBody>
          <a:bodyPr>
            <a:normAutofit fontScale="92500"/>
          </a:bodyPr>
          <a:lstStyle/>
          <a:p>
            <a:r>
              <a:rPr lang="zh-CN" altLang="zh-CN" dirty="0"/>
              <a:t>做更好的医疗器械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  <a:r>
              <a:rPr lang="en-US" altLang="zh-CN" dirty="0" err="1"/>
              <a:t>e</a:t>
            </a:r>
            <a:r>
              <a:rPr lang="en-US" altLang="zh-CN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lang="en-US" altLang="zh-CN" dirty="0" err="1"/>
              <a:t>ter</a:t>
            </a:r>
            <a:r>
              <a:rPr lang="en-US" altLang="zh-CN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</a:t>
            </a:r>
            <a:r>
              <a:rPr lang="en-US" altLang="zh-CN" dirty="0" err="1"/>
              <a:t>ay</a:t>
            </a:r>
            <a:r>
              <a:rPr lang="en-US" altLang="zh-CN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6288405" y="2198370"/>
            <a:ext cx="2014855" cy="2154555"/>
            <a:chOff x="9903" y="3462"/>
            <a:chExt cx="3173" cy="3393"/>
          </a:xfrm>
        </p:grpSpPr>
        <p:grpSp>
          <p:nvGrpSpPr>
            <p:cNvPr id="12" name="组合 11"/>
            <p:cNvGrpSpPr/>
            <p:nvPr/>
          </p:nvGrpSpPr>
          <p:grpSpPr>
            <a:xfrm>
              <a:off x="10192" y="3462"/>
              <a:ext cx="2596" cy="2596"/>
              <a:chOff x="10164" y="3462"/>
              <a:chExt cx="2596" cy="2596"/>
            </a:xfrm>
          </p:grpSpPr>
          <p:sp>
            <p:nvSpPr>
              <p:cNvPr id="16" name="path"/>
              <p:cNvSpPr/>
              <p:nvPr/>
            </p:nvSpPr>
            <p:spPr>
              <a:xfrm>
                <a:off x="10164" y="3462"/>
                <a:ext cx="2597" cy="2597"/>
              </a:xfrm>
              <a:custGeom>
                <a:avLst/>
                <a:gdLst/>
                <a:ahLst/>
                <a:cxnLst/>
                <a:rect l="0" t="0" r="0" b="0"/>
                <a:pathLst>
                  <a:path w="2596" h="2596">
                    <a:moveTo>
                      <a:pt x="22" y="1298"/>
                    </a:moveTo>
                    <a:cubicBezTo>
                      <a:pt x="22" y="594"/>
                      <a:pt x="594" y="22"/>
                      <a:pt x="1298" y="22"/>
                    </a:cubicBezTo>
                    <a:cubicBezTo>
                      <a:pt x="2002" y="22"/>
                      <a:pt x="2574" y="594"/>
                      <a:pt x="2574" y="1298"/>
                    </a:cubicBezTo>
                    <a:cubicBezTo>
                      <a:pt x="2574" y="2002"/>
                      <a:pt x="2002" y="2574"/>
                      <a:pt x="1298" y="2574"/>
                    </a:cubicBezTo>
                    <a:cubicBezTo>
                      <a:pt x="594" y="2574"/>
                      <a:pt x="22" y="2002"/>
                      <a:pt x="22" y="1298"/>
                    </a:cubicBezTo>
                  </a:path>
                </a:pathLst>
              </a:custGeom>
              <a:noFill/>
              <a:ln w="28955" cap="flat">
                <a:solidFill>
                  <a:srgbClr val="595959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pic>
            <p:nvPicPr>
              <p:cNvPr id="19" name="picture 19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600000">
                <a:off x="10540" y="3820"/>
                <a:ext cx="1871" cy="1872"/>
              </a:xfrm>
              <a:prstGeom prst="rect">
                <a:avLst/>
              </a:prstGeom>
            </p:spPr>
          </p:pic>
        </p:grpSp>
        <p:sp>
          <p:nvSpPr>
            <p:cNvPr id="9" name="文本框 8"/>
            <p:cNvSpPr txBox="1"/>
            <p:nvPr/>
          </p:nvSpPr>
          <p:spPr>
            <a:xfrm>
              <a:off x="9903" y="6288"/>
              <a:ext cx="3173" cy="5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12700" algn="ctr" rtl="0" eaLnBrk="0">
                <a:lnSpc>
                  <a:spcPct val="97000"/>
                </a:lnSpc>
              </a:pPr>
              <a:r>
                <a:rPr lang="zh-CN" altLang="en-US" sz="1800" b="1" spc="50" dirty="0">
                  <a:solidFill>
                    <a:schemeClr val="bg1">
                      <a:lumMod val="50000"/>
                      <a:alpha val="100000"/>
                    </a:schemeClr>
                  </a:solidFill>
                  <a:cs typeface="微软雅黑" panose="020B0503020204020204" pitchFamily="34" charset="-122"/>
                  <a:sym typeface="+mn-ea"/>
                </a:rPr>
                <a:t>公司及团队介绍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649335" y="2195195"/>
            <a:ext cx="2014855" cy="2157730"/>
            <a:chOff x="13621" y="3457"/>
            <a:chExt cx="3173" cy="3398"/>
          </a:xfrm>
        </p:grpSpPr>
        <p:grpSp>
          <p:nvGrpSpPr>
            <p:cNvPr id="13" name="组合 12"/>
            <p:cNvGrpSpPr/>
            <p:nvPr/>
          </p:nvGrpSpPr>
          <p:grpSpPr>
            <a:xfrm>
              <a:off x="13910" y="3457"/>
              <a:ext cx="2596" cy="2596"/>
              <a:chOff x="13909" y="3457"/>
              <a:chExt cx="2596" cy="2596"/>
            </a:xfrm>
          </p:grpSpPr>
          <p:sp>
            <p:nvSpPr>
              <p:cNvPr id="14" name="path"/>
              <p:cNvSpPr/>
              <p:nvPr/>
            </p:nvSpPr>
            <p:spPr>
              <a:xfrm>
                <a:off x="13909" y="3457"/>
                <a:ext cx="2597" cy="2597"/>
              </a:xfrm>
              <a:custGeom>
                <a:avLst/>
                <a:gdLst/>
                <a:ahLst/>
                <a:cxnLst/>
                <a:rect l="0" t="0" r="0" b="0"/>
                <a:pathLst>
                  <a:path w="2596" h="2596">
                    <a:moveTo>
                      <a:pt x="22" y="1298"/>
                    </a:moveTo>
                    <a:cubicBezTo>
                      <a:pt x="22" y="594"/>
                      <a:pt x="594" y="22"/>
                      <a:pt x="1298" y="22"/>
                    </a:cubicBezTo>
                    <a:cubicBezTo>
                      <a:pt x="2002" y="22"/>
                      <a:pt x="2574" y="594"/>
                      <a:pt x="2574" y="1298"/>
                    </a:cubicBezTo>
                    <a:cubicBezTo>
                      <a:pt x="2574" y="2002"/>
                      <a:pt x="2002" y="2574"/>
                      <a:pt x="1298" y="2574"/>
                    </a:cubicBezTo>
                    <a:cubicBezTo>
                      <a:pt x="594" y="2574"/>
                      <a:pt x="22" y="2002"/>
                      <a:pt x="22" y="1298"/>
                    </a:cubicBezTo>
                  </a:path>
                </a:pathLst>
              </a:custGeom>
              <a:noFill/>
              <a:ln w="28955" cap="flat">
                <a:solidFill>
                  <a:srgbClr val="595959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" name="path"/>
              <p:cNvSpPr/>
              <p:nvPr/>
            </p:nvSpPr>
            <p:spPr>
              <a:xfrm>
                <a:off x="14468" y="4046"/>
                <a:ext cx="1480" cy="1418"/>
              </a:xfrm>
              <a:custGeom>
                <a:avLst/>
                <a:gdLst/>
                <a:ahLst/>
                <a:cxnLst/>
                <a:rect l="0" t="0" r="0" b="0"/>
                <a:pathLst>
                  <a:path w="1479" h="1418">
                    <a:moveTo>
                      <a:pt x="7" y="0"/>
                    </a:moveTo>
                    <a:lnTo>
                      <a:pt x="656" y="0"/>
                    </a:lnTo>
                    <a:lnTo>
                      <a:pt x="656" y="603"/>
                    </a:lnTo>
                    <a:lnTo>
                      <a:pt x="7" y="603"/>
                    </a:lnTo>
                    <a:lnTo>
                      <a:pt x="7" y="0"/>
                    </a:lnTo>
                    <a:close/>
                    <a:moveTo>
                      <a:pt x="1479" y="299"/>
                    </a:moveTo>
                    <a:lnTo>
                      <a:pt x="1171" y="18"/>
                    </a:lnTo>
                    <a:lnTo>
                      <a:pt x="869" y="304"/>
                    </a:lnTo>
                    <a:lnTo>
                      <a:pt x="1177" y="585"/>
                    </a:lnTo>
                    <a:lnTo>
                      <a:pt x="1479" y="299"/>
                    </a:lnTo>
                    <a:close/>
                    <a:moveTo>
                      <a:pt x="0" y="815"/>
                    </a:moveTo>
                    <a:lnTo>
                      <a:pt x="649" y="815"/>
                    </a:lnTo>
                    <a:lnTo>
                      <a:pt x="649" y="1418"/>
                    </a:lnTo>
                    <a:lnTo>
                      <a:pt x="0" y="1418"/>
                    </a:lnTo>
                    <a:lnTo>
                      <a:pt x="0" y="815"/>
                    </a:lnTo>
                    <a:close/>
                    <a:moveTo>
                      <a:pt x="826" y="815"/>
                    </a:moveTo>
                    <a:lnTo>
                      <a:pt x="1475" y="815"/>
                    </a:lnTo>
                    <a:lnTo>
                      <a:pt x="1475" y="1418"/>
                    </a:lnTo>
                    <a:lnTo>
                      <a:pt x="826" y="1418"/>
                    </a:lnTo>
                    <a:lnTo>
                      <a:pt x="826" y="815"/>
                    </a:lnTo>
                    <a:close/>
                  </a:path>
                </a:pathLst>
              </a:custGeom>
              <a:solidFill>
                <a:srgbClr val="595959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13621" y="6288"/>
              <a:ext cx="3173" cy="5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12700" algn="ctr" rtl="0" eaLnBrk="0">
                <a:lnSpc>
                  <a:spcPct val="97000"/>
                </a:lnSpc>
              </a:pPr>
              <a:r>
                <a:rPr lang="zh-CN" altLang="en-US" sz="1800" b="1" spc="50" dirty="0">
                  <a:solidFill>
                    <a:schemeClr val="bg1">
                      <a:lumMod val="50000"/>
                      <a:alpha val="100000"/>
                    </a:schemeClr>
                  </a:solidFill>
                  <a:cs typeface="微软雅黑" panose="020B0503020204020204" pitchFamily="34" charset="-122"/>
                  <a:sym typeface="+mn-ea"/>
                </a:rPr>
                <a:t>市场及财务预测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927475" y="2195195"/>
            <a:ext cx="2014855" cy="2157730"/>
            <a:chOff x="6185" y="3457"/>
            <a:chExt cx="3173" cy="3398"/>
          </a:xfrm>
        </p:grpSpPr>
        <p:pic>
          <p:nvPicPr>
            <p:cNvPr id="27" name="picture 1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600000">
              <a:off x="6473" y="3457"/>
              <a:ext cx="2597" cy="2597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6185" y="6288"/>
              <a:ext cx="3173" cy="5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12700" algn="ctr" rtl="0" eaLnBrk="0">
                <a:lnSpc>
                  <a:spcPct val="97000"/>
                </a:lnSpc>
              </a:pPr>
              <a:r>
                <a:rPr lang="zh-CN" altLang="en-US" b="1" spc="50" dirty="0">
                  <a:solidFill>
                    <a:schemeClr val="bg1">
                      <a:lumMod val="50000"/>
                      <a:alpha val="100000"/>
                    </a:schemeClr>
                  </a:solidFill>
                  <a:cs typeface="微软雅黑" panose="020B0503020204020204" pitchFamily="34" charset="-122"/>
                  <a:sym typeface="+mn-ea"/>
                </a:rPr>
                <a:t>行业市场</a:t>
              </a:r>
              <a:r>
                <a:rPr lang="zh-CN" altLang="en-US" sz="1800" b="1" spc="50" dirty="0">
                  <a:solidFill>
                    <a:schemeClr val="bg1">
                      <a:lumMod val="50000"/>
                      <a:alpha val="100000"/>
                    </a:schemeClr>
                  </a:solidFill>
                  <a:cs typeface="微软雅黑" panose="020B0503020204020204" pitchFamily="34" charset="-122"/>
                  <a:sym typeface="+mn-ea"/>
                </a:rPr>
                <a:t>与产品</a:t>
              </a:r>
            </a:p>
          </p:txBody>
        </p:sp>
      </p:grpSp>
      <p:sp>
        <p:nvSpPr>
          <p:cNvPr id="17" name="path"/>
          <p:cNvSpPr/>
          <p:nvPr/>
        </p:nvSpPr>
        <p:spPr>
          <a:xfrm>
            <a:off x="1717675" y="2195195"/>
            <a:ext cx="1649095" cy="1649095"/>
          </a:xfrm>
          <a:custGeom>
            <a:avLst/>
            <a:gdLst/>
            <a:ahLst/>
            <a:cxnLst/>
            <a:rect l="0" t="0" r="0" b="0"/>
            <a:pathLst>
              <a:path w="2596" h="2596">
                <a:moveTo>
                  <a:pt x="22" y="1298"/>
                </a:moveTo>
                <a:cubicBezTo>
                  <a:pt x="22" y="594"/>
                  <a:pt x="593" y="22"/>
                  <a:pt x="1298" y="22"/>
                </a:cubicBezTo>
                <a:cubicBezTo>
                  <a:pt x="2002" y="22"/>
                  <a:pt x="2573" y="594"/>
                  <a:pt x="2573" y="1298"/>
                </a:cubicBezTo>
                <a:cubicBezTo>
                  <a:pt x="2573" y="2002"/>
                  <a:pt x="2002" y="2574"/>
                  <a:pt x="1298" y="2574"/>
                </a:cubicBezTo>
                <a:cubicBezTo>
                  <a:pt x="593" y="2574"/>
                  <a:pt x="22" y="2002"/>
                  <a:pt x="22" y="1298"/>
                </a:cubicBezTo>
              </a:path>
            </a:pathLst>
          </a:custGeom>
          <a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0" ty="0" sx="100000" sy="100000" flip="none" algn="tl"/>
          </a:blipFill>
          <a:ln w="28955" cap="flat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1" name="picture 21"/>
          <p:cNvPicPr preferRelativeResize="0"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228" y="2569210"/>
            <a:ext cx="935990" cy="900430"/>
          </a:xfrm>
          <a:prstGeom prst="rect">
            <a:avLst/>
          </a:prstGeom>
          <a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0" ty="0" sx="100000" sy="100000" flip="none" algn="tl"/>
          </a:blipFill>
        </p:spPr>
      </p:pic>
      <p:sp>
        <p:nvSpPr>
          <p:cNvPr id="11" name="文本框 10"/>
          <p:cNvSpPr txBox="1"/>
          <p:nvPr/>
        </p:nvSpPr>
        <p:spPr>
          <a:xfrm>
            <a:off x="1566228" y="3992880"/>
            <a:ext cx="2014855" cy="36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12700" algn="ctr" rtl="0" eaLnBrk="0">
              <a:lnSpc>
                <a:spcPct val="97000"/>
              </a:lnSpc>
            </a:pPr>
            <a:r>
              <a:rPr lang="zh-CN" altLang="en-US" sz="1800" b="1" spc="50" dirty="0">
                <a:solidFill>
                  <a:srgbClr val="0070C0">
                    <a:alpha val="100000"/>
                  </a:srgbClr>
                </a:solidFill>
                <a:cs typeface="微软雅黑" panose="020B0503020204020204" pitchFamily="34" charset="-122"/>
                <a:sym typeface="+mn-ea"/>
              </a:rPr>
              <a:t>公司概况</a:t>
            </a:r>
          </a:p>
        </p:txBody>
      </p:sp>
    </p:spTree>
    <p:extLst>
      <p:ext uri="{BB962C8B-B14F-4D97-AF65-F5344CB8AC3E}">
        <p14:creationId xmlns:p14="http://schemas.microsoft.com/office/powerpoint/2010/main" val="36184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7450A29E-A480-B3EA-6C11-429A0FEECA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72" y="3744479"/>
            <a:ext cx="1571602" cy="1109918"/>
          </a:xfrm>
          <a:prstGeom prst="rect">
            <a:avLst/>
          </a:prstGeom>
        </p:spPr>
      </p:pic>
      <p:sp>
        <p:nvSpPr>
          <p:cNvPr id="59" name="内容占位符 5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公司概况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6297197-1F3E-7BFF-4CAD-708A3BE6211F}"/>
              </a:ext>
            </a:extLst>
          </p:cNvPr>
          <p:cNvGrpSpPr/>
          <p:nvPr/>
        </p:nvGrpSpPr>
        <p:grpSpPr>
          <a:xfrm>
            <a:off x="85604" y="743025"/>
            <a:ext cx="10189108" cy="2875977"/>
            <a:chOff x="599748" y="2047769"/>
            <a:chExt cx="10574713" cy="3175154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C90D1ED-206A-41BD-2CD8-FE2F772567FC}"/>
                </a:ext>
              </a:extLst>
            </p:cNvPr>
            <p:cNvGrpSpPr/>
            <p:nvPr/>
          </p:nvGrpSpPr>
          <p:grpSpPr>
            <a:xfrm>
              <a:off x="599748" y="2047769"/>
              <a:ext cx="10574713" cy="1245982"/>
              <a:chOff x="599748" y="2047769"/>
              <a:chExt cx="10574713" cy="1245982"/>
            </a:xfrm>
          </p:grpSpPr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326CBE0E-2186-F3F8-3A9D-CD38CC48DA4F}"/>
                  </a:ext>
                </a:extLst>
              </p:cNvPr>
              <p:cNvGrpSpPr/>
              <p:nvPr/>
            </p:nvGrpSpPr>
            <p:grpSpPr>
              <a:xfrm>
                <a:off x="599748" y="2047769"/>
                <a:ext cx="10574713" cy="1245982"/>
                <a:chOff x="599748" y="2047769"/>
                <a:chExt cx="10574713" cy="1245982"/>
              </a:xfrm>
            </p:grpSpPr>
            <p:sp>
              <p:nvSpPr>
                <p:cNvPr id="63" name="object 9">
                  <a:extLst>
                    <a:ext uri="{FF2B5EF4-FFF2-40B4-BE49-F238E27FC236}">
                      <a16:creationId xmlns:a16="http://schemas.microsoft.com/office/drawing/2014/main" id="{546ABB18-00C7-0761-AA61-F7D0F40109D9}"/>
                    </a:ext>
                  </a:extLst>
                </p:cNvPr>
                <p:cNvSpPr/>
                <p:nvPr/>
              </p:nvSpPr>
              <p:spPr>
                <a:xfrm>
                  <a:off x="599748" y="2047769"/>
                  <a:ext cx="10574713" cy="1245982"/>
                </a:xfrm>
                <a:prstGeom prst="rect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sz="2000"/>
                </a:p>
              </p:txBody>
            </p:sp>
            <p:sp>
              <p:nvSpPr>
                <p:cNvPr id="64" name="object 10">
                  <a:extLst>
                    <a:ext uri="{FF2B5EF4-FFF2-40B4-BE49-F238E27FC236}">
                      <a16:creationId xmlns:a16="http://schemas.microsoft.com/office/drawing/2014/main" id="{9E7656B2-6F68-406E-53D2-87380255DFC9}"/>
                    </a:ext>
                  </a:extLst>
                </p:cNvPr>
                <p:cNvSpPr/>
                <p:nvPr/>
              </p:nvSpPr>
              <p:spPr>
                <a:xfrm>
                  <a:off x="976592" y="2258888"/>
                  <a:ext cx="9840576" cy="579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8475" h="949960">
                      <a:moveTo>
                        <a:pt x="0" y="949451"/>
                      </a:moveTo>
                      <a:lnTo>
                        <a:pt x="8118348" y="949451"/>
                      </a:lnTo>
                      <a:lnTo>
                        <a:pt x="8118348" y="0"/>
                      </a:lnTo>
                      <a:lnTo>
                        <a:pt x="0" y="0"/>
                      </a:lnTo>
                      <a:lnTo>
                        <a:pt x="0" y="9494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 sz="2000"/>
                </a:p>
              </p:txBody>
            </p:sp>
            <p:sp>
              <p:nvSpPr>
                <p:cNvPr id="65" name="object 11">
                  <a:extLst>
                    <a:ext uri="{FF2B5EF4-FFF2-40B4-BE49-F238E27FC236}">
                      <a16:creationId xmlns:a16="http://schemas.microsoft.com/office/drawing/2014/main" id="{551FB8EC-DAA4-FA73-95CB-5C7CA20A5D44}"/>
                    </a:ext>
                  </a:extLst>
                </p:cNvPr>
                <p:cNvSpPr txBox="1"/>
                <p:nvPr/>
              </p:nvSpPr>
              <p:spPr>
                <a:xfrm>
                  <a:off x="2075730" y="2413657"/>
                  <a:ext cx="8823213" cy="254845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 marR="5080">
                    <a:lnSpc>
                      <a:spcPts val="1680"/>
                    </a:lnSpc>
                    <a:spcBef>
                      <a:spcPts val="100"/>
                    </a:spcBef>
                  </a:pPr>
                  <a:r>
                    <a:rPr lang="zh-CN" altLang="en-US" sz="1600" b="1" dirty="0">
                      <a:solidFill>
                        <a:srgbClr val="575556"/>
                      </a:solidFill>
                      <a:cs typeface="微软雅黑" panose="020B0503020204020204" pitchFamily="34" charset="-122"/>
                    </a:rPr>
                    <a:t>团队</a:t>
                  </a:r>
                  <a:r>
                    <a:rPr lang="zh-CN" altLang="en-US" sz="1400" b="1" dirty="0">
                      <a:solidFill>
                        <a:srgbClr val="575556"/>
                      </a:solidFill>
                      <a:cs typeface="微软雅黑" panose="020B0503020204020204" pitchFamily="34" charset="-122"/>
                    </a:rPr>
                    <a:t>：</a:t>
                  </a:r>
                  <a:r>
                    <a:rPr lang="zh-CN" altLang="en-US" sz="1400" dirty="0"/>
                    <a:t>公司成立于</a:t>
                  </a:r>
                  <a:r>
                    <a:rPr lang="en-US" altLang="zh-CN" sz="1400" dirty="0"/>
                    <a:t>2021</a:t>
                  </a:r>
                  <a:r>
                    <a:rPr lang="zh-CN" altLang="en-US" sz="1400" dirty="0"/>
                    <a:t>年</a:t>
                  </a:r>
                  <a:r>
                    <a:rPr lang="en-US" altLang="zh-CN" sz="1400" dirty="0"/>
                    <a:t>2</a:t>
                  </a:r>
                  <a:r>
                    <a:rPr lang="zh-CN" altLang="en-US" sz="1400" dirty="0"/>
                    <a:t>月，</a:t>
                  </a:r>
                  <a:r>
                    <a:rPr lang="zh-CN" altLang="en-US" sz="1400" dirty="0">
                      <a:solidFill>
                        <a:srgbClr val="575556"/>
                      </a:solidFill>
                    </a:rPr>
                    <a:t>团队</a:t>
                  </a:r>
                  <a:r>
                    <a:rPr lang="en-US" altLang="zh-CN" sz="1400" dirty="0">
                      <a:solidFill>
                        <a:srgbClr val="575556"/>
                      </a:solidFill>
                      <a:cs typeface="微软雅黑" panose="020B0503020204020204" pitchFamily="34" charset="-122"/>
                    </a:rPr>
                    <a:t>20+</a:t>
                  </a:r>
                  <a:r>
                    <a:rPr lang="zh-CN" altLang="en-US" sz="1400" dirty="0">
                      <a:solidFill>
                        <a:srgbClr val="575556"/>
                      </a:solidFill>
                      <a:cs typeface="微软雅黑" panose="020B0503020204020204" pitchFamily="34" charset="-122"/>
                    </a:rPr>
                    <a:t>行业老兵来自于国内头部医疗上市企业。</a:t>
                  </a:r>
                  <a:endParaRPr sz="1400" dirty="0">
                    <a:cs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2" name="object 14">
                <a:extLst>
                  <a:ext uri="{FF2B5EF4-FFF2-40B4-BE49-F238E27FC236}">
                    <a16:creationId xmlns:a16="http://schemas.microsoft.com/office/drawing/2014/main" id="{EC2F119A-79BC-1FD0-BF67-18D7512B551D}"/>
                  </a:ext>
                </a:extLst>
              </p:cNvPr>
              <p:cNvSpPr/>
              <p:nvPr/>
            </p:nvSpPr>
            <p:spPr>
              <a:xfrm>
                <a:off x="1325853" y="2349963"/>
                <a:ext cx="502612" cy="387162"/>
              </a:xfrm>
              <a:custGeom>
                <a:avLst/>
                <a:gdLst/>
                <a:ahLst/>
                <a:cxnLst/>
                <a:rect l="l" t="t" r="r" b="b"/>
                <a:pathLst>
                  <a:path w="414655" h="438785">
                    <a:moveTo>
                      <a:pt x="91790" y="249841"/>
                    </a:moveTo>
                    <a:lnTo>
                      <a:pt x="184135" y="249841"/>
                    </a:lnTo>
                    <a:lnTo>
                      <a:pt x="136058" y="263631"/>
                    </a:lnTo>
                    <a:lnTo>
                      <a:pt x="94790" y="289924"/>
                    </a:lnTo>
                    <a:lnTo>
                      <a:pt x="62549" y="326508"/>
                    </a:lnTo>
                    <a:lnTo>
                      <a:pt x="41628" y="371011"/>
                    </a:lnTo>
                    <a:lnTo>
                      <a:pt x="34132" y="421309"/>
                    </a:lnTo>
                    <a:lnTo>
                      <a:pt x="34099" y="430822"/>
                    </a:lnTo>
                    <a:lnTo>
                      <a:pt x="26369" y="438525"/>
                    </a:lnTo>
                    <a:lnTo>
                      <a:pt x="7729" y="438525"/>
                    </a:lnTo>
                    <a:lnTo>
                      <a:pt x="0" y="430822"/>
                    </a:lnTo>
                    <a:lnTo>
                      <a:pt x="29" y="421309"/>
                    </a:lnTo>
                    <a:lnTo>
                      <a:pt x="6776" y="368820"/>
                    </a:lnTo>
                    <a:lnTo>
                      <a:pt x="25948" y="321095"/>
                    </a:lnTo>
                    <a:lnTo>
                      <a:pt x="55797" y="280075"/>
                    </a:lnTo>
                    <a:lnTo>
                      <a:pt x="91790" y="249841"/>
                    </a:lnTo>
                    <a:close/>
                  </a:path>
                  <a:path w="414655" h="438785">
                    <a:moveTo>
                      <a:pt x="207322" y="0"/>
                    </a:moveTo>
                    <a:lnTo>
                      <a:pt x="255381" y="9619"/>
                    </a:lnTo>
                    <a:lnTo>
                      <a:pt x="294616" y="35845"/>
                    </a:lnTo>
                    <a:lnTo>
                      <a:pt x="321064" y="74727"/>
                    </a:lnTo>
                    <a:lnTo>
                      <a:pt x="330761" y="122315"/>
                    </a:lnTo>
                    <a:lnTo>
                      <a:pt x="326699" y="153482"/>
                    </a:lnTo>
                    <a:lnTo>
                      <a:pt x="315246" y="181633"/>
                    </a:lnTo>
                    <a:lnTo>
                      <a:pt x="297386" y="205866"/>
                    </a:lnTo>
                    <a:lnTo>
                      <a:pt x="274156" y="225151"/>
                    </a:lnTo>
                    <a:lnTo>
                      <a:pt x="320108" y="247532"/>
                    </a:lnTo>
                    <a:lnTo>
                      <a:pt x="358875" y="280090"/>
                    </a:lnTo>
                    <a:lnTo>
                      <a:pt x="388697" y="321046"/>
                    </a:lnTo>
                    <a:lnTo>
                      <a:pt x="407869" y="368704"/>
                    </a:lnTo>
                    <a:lnTo>
                      <a:pt x="414645" y="421309"/>
                    </a:lnTo>
                    <a:lnTo>
                      <a:pt x="414645" y="430596"/>
                    </a:lnTo>
                    <a:lnTo>
                      <a:pt x="406916" y="438295"/>
                    </a:lnTo>
                    <a:lnTo>
                      <a:pt x="388275" y="438295"/>
                    </a:lnTo>
                    <a:lnTo>
                      <a:pt x="380546" y="430596"/>
                    </a:lnTo>
                    <a:lnTo>
                      <a:pt x="380546" y="421309"/>
                    </a:lnTo>
                    <a:lnTo>
                      <a:pt x="373111" y="371011"/>
                    </a:lnTo>
                    <a:lnTo>
                      <a:pt x="352263" y="326492"/>
                    </a:lnTo>
                    <a:lnTo>
                      <a:pt x="320247" y="290007"/>
                    </a:lnTo>
                    <a:lnTo>
                      <a:pt x="279227" y="263716"/>
                    </a:lnTo>
                    <a:lnTo>
                      <a:pt x="231419" y="249841"/>
                    </a:lnTo>
                    <a:lnTo>
                      <a:pt x="91790" y="249841"/>
                    </a:lnTo>
                    <a:lnTo>
                      <a:pt x="94542" y="247530"/>
                    </a:lnTo>
                    <a:lnTo>
                      <a:pt x="140488" y="225151"/>
                    </a:lnTo>
                    <a:lnTo>
                      <a:pt x="122939" y="210654"/>
                    </a:lnTo>
                    <a:lnTo>
                      <a:pt x="207322" y="210654"/>
                    </a:lnTo>
                    <a:lnTo>
                      <a:pt x="242093" y="203732"/>
                    </a:lnTo>
                    <a:lnTo>
                      <a:pt x="270491" y="184832"/>
                    </a:lnTo>
                    <a:lnTo>
                      <a:pt x="289640" y="156759"/>
                    </a:lnTo>
                    <a:lnTo>
                      <a:pt x="296662" y="122315"/>
                    </a:lnTo>
                    <a:lnTo>
                      <a:pt x="289640" y="87967"/>
                    </a:lnTo>
                    <a:lnTo>
                      <a:pt x="270491" y="59883"/>
                    </a:lnTo>
                    <a:lnTo>
                      <a:pt x="242093" y="40931"/>
                    </a:lnTo>
                    <a:lnTo>
                      <a:pt x="207322" y="33976"/>
                    </a:lnTo>
                    <a:lnTo>
                      <a:pt x="122824" y="33976"/>
                    </a:lnTo>
                    <a:lnTo>
                      <a:pt x="159264" y="9619"/>
                    </a:lnTo>
                    <a:lnTo>
                      <a:pt x="207322" y="0"/>
                    </a:lnTo>
                    <a:close/>
                  </a:path>
                  <a:path w="414655" h="438785">
                    <a:moveTo>
                      <a:pt x="184135" y="249841"/>
                    </a:moveTo>
                    <a:lnTo>
                      <a:pt x="231419" y="249841"/>
                    </a:lnTo>
                    <a:lnTo>
                      <a:pt x="269155" y="371250"/>
                    </a:lnTo>
                    <a:lnTo>
                      <a:pt x="270974" y="377366"/>
                    </a:lnTo>
                    <a:lnTo>
                      <a:pt x="269383" y="383935"/>
                    </a:lnTo>
                    <a:lnTo>
                      <a:pt x="264836" y="388239"/>
                    </a:lnTo>
                    <a:lnTo>
                      <a:pt x="216643" y="436260"/>
                    </a:lnTo>
                    <a:lnTo>
                      <a:pt x="212323" y="438070"/>
                    </a:lnTo>
                    <a:lnTo>
                      <a:pt x="203230" y="438070"/>
                    </a:lnTo>
                    <a:lnTo>
                      <a:pt x="198911" y="436260"/>
                    </a:lnTo>
                    <a:lnTo>
                      <a:pt x="146171" y="383708"/>
                    </a:lnTo>
                    <a:lnTo>
                      <a:pt x="144580" y="377140"/>
                    </a:lnTo>
                    <a:lnTo>
                      <a:pt x="184135" y="249841"/>
                    </a:lnTo>
                    <a:close/>
                  </a:path>
                  <a:path w="414655" h="438785">
                    <a:moveTo>
                      <a:pt x="122824" y="33976"/>
                    </a:moveTo>
                    <a:lnTo>
                      <a:pt x="207322" y="33976"/>
                    </a:lnTo>
                    <a:lnTo>
                      <a:pt x="172552" y="40931"/>
                    </a:lnTo>
                    <a:lnTo>
                      <a:pt x="144154" y="59883"/>
                    </a:lnTo>
                    <a:lnTo>
                      <a:pt x="125005" y="87967"/>
                    </a:lnTo>
                    <a:lnTo>
                      <a:pt x="117982" y="122315"/>
                    </a:lnTo>
                    <a:lnTo>
                      <a:pt x="125005" y="156663"/>
                    </a:lnTo>
                    <a:lnTo>
                      <a:pt x="144154" y="184747"/>
                    </a:lnTo>
                    <a:lnTo>
                      <a:pt x="172552" y="203700"/>
                    </a:lnTo>
                    <a:lnTo>
                      <a:pt x="207322" y="210654"/>
                    </a:lnTo>
                    <a:lnTo>
                      <a:pt x="122939" y="210654"/>
                    </a:lnTo>
                    <a:lnTo>
                      <a:pt x="117258" y="205961"/>
                    </a:lnTo>
                    <a:lnTo>
                      <a:pt x="99398" y="181718"/>
                    </a:lnTo>
                    <a:lnTo>
                      <a:pt x="87928" y="153450"/>
                    </a:lnTo>
                    <a:lnTo>
                      <a:pt x="83883" y="122315"/>
                    </a:lnTo>
                    <a:lnTo>
                      <a:pt x="93580" y="74727"/>
                    </a:lnTo>
                    <a:lnTo>
                      <a:pt x="120028" y="35845"/>
                    </a:lnTo>
                    <a:lnTo>
                      <a:pt x="122824" y="33976"/>
                    </a:lnTo>
                    <a:close/>
                  </a:path>
                </a:pathLst>
              </a:custGeom>
              <a:solidFill>
                <a:srgbClr val="007D96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DCF3E0E2-4A48-0531-052E-E88B9C09A667}"/>
                </a:ext>
              </a:extLst>
            </p:cNvPr>
            <p:cNvGrpSpPr/>
            <p:nvPr/>
          </p:nvGrpSpPr>
          <p:grpSpPr>
            <a:xfrm>
              <a:off x="599748" y="2690826"/>
              <a:ext cx="10574713" cy="1245982"/>
              <a:chOff x="599748" y="3021856"/>
              <a:chExt cx="10574713" cy="1245982"/>
            </a:xfrm>
          </p:grpSpPr>
          <p:sp>
            <p:nvSpPr>
              <p:cNvPr id="56" name="object 7">
                <a:extLst>
                  <a:ext uri="{FF2B5EF4-FFF2-40B4-BE49-F238E27FC236}">
                    <a16:creationId xmlns:a16="http://schemas.microsoft.com/office/drawing/2014/main" id="{C007FC22-9B21-5A99-1D04-CE210DFED7D7}"/>
                  </a:ext>
                </a:extLst>
              </p:cNvPr>
              <p:cNvSpPr/>
              <p:nvPr/>
            </p:nvSpPr>
            <p:spPr>
              <a:xfrm>
                <a:off x="599748" y="3021856"/>
                <a:ext cx="10574713" cy="1245982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57" name="object 8">
                <a:extLst>
                  <a:ext uri="{FF2B5EF4-FFF2-40B4-BE49-F238E27FC236}">
                    <a16:creationId xmlns:a16="http://schemas.microsoft.com/office/drawing/2014/main" id="{F1170641-C741-B222-5DC0-F8CFAF57C480}"/>
                  </a:ext>
                </a:extLst>
              </p:cNvPr>
              <p:cNvSpPr/>
              <p:nvPr/>
            </p:nvSpPr>
            <p:spPr>
              <a:xfrm>
                <a:off x="976592" y="3267002"/>
                <a:ext cx="9840576" cy="537251"/>
              </a:xfrm>
              <a:custGeom>
                <a:avLst/>
                <a:gdLst/>
                <a:ahLst/>
                <a:cxnLst/>
                <a:rect l="l" t="t" r="r" b="b"/>
                <a:pathLst>
                  <a:path w="8118475" h="949960">
                    <a:moveTo>
                      <a:pt x="0" y="949451"/>
                    </a:moveTo>
                    <a:lnTo>
                      <a:pt x="8118348" y="949451"/>
                    </a:lnTo>
                    <a:lnTo>
                      <a:pt x="8118348" y="0"/>
                    </a:lnTo>
                    <a:lnTo>
                      <a:pt x="0" y="0"/>
                    </a:lnTo>
                    <a:lnTo>
                      <a:pt x="0" y="9494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58" name="object 12">
                <a:extLst>
                  <a:ext uri="{FF2B5EF4-FFF2-40B4-BE49-F238E27FC236}">
                    <a16:creationId xmlns:a16="http://schemas.microsoft.com/office/drawing/2014/main" id="{1BBC1FB1-3DA5-F667-C1A0-EBFCE7317178}"/>
                  </a:ext>
                </a:extLst>
              </p:cNvPr>
              <p:cNvSpPr txBox="1"/>
              <p:nvPr/>
            </p:nvSpPr>
            <p:spPr>
              <a:xfrm>
                <a:off x="2075730" y="3405457"/>
                <a:ext cx="8381770" cy="49666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 defTabSz="990600">
                  <a:lnSpc>
                    <a:spcPts val="1680"/>
                  </a:lnSpc>
                  <a:spcBef>
                    <a:spcPts val="100"/>
                  </a:spcBef>
                  <a:defRPr/>
                </a:pPr>
                <a:r>
                  <a:rPr lang="zh-CN" altLang="en-US" sz="1600" b="1" dirty="0">
                    <a:solidFill>
                      <a:srgbClr val="575556"/>
                    </a:solidFill>
                    <a:cs typeface="微软雅黑" panose="020B0503020204020204" pitchFamily="34" charset="-122"/>
                  </a:rPr>
                  <a:t>战略：</a:t>
                </a:r>
                <a:r>
                  <a:rPr lang="zh-CN" altLang="en-US" sz="1400" dirty="0">
                    <a:sym typeface="+mn-ea"/>
                  </a:rPr>
                  <a:t>团队十余年经验、技术、资源的积累，聚焦</a:t>
                </a:r>
                <a:r>
                  <a:rPr lang="zh-CN" altLang="en-US" sz="1400" b="1" dirty="0">
                    <a:solidFill>
                      <a:srgbClr val="F47216"/>
                    </a:solidFill>
                    <a:cs typeface="微软雅黑" panose="020B0503020204020204" pitchFamily="34" charset="-122"/>
                    <a:sym typeface="+mn-ea"/>
                  </a:rPr>
                  <a:t>外周血管介入</a:t>
                </a:r>
                <a:r>
                  <a:rPr lang="zh-CN" altLang="en-US" sz="1400" dirty="0">
                    <a:cs typeface="微软雅黑" panose="020B0503020204020204" pitchFamily="34" charset="-122"/>
                    <a:sym typeface="+mn-ea"/>
                  </a:rPr>
                  <a:t>和</a:t>
                </a:r>
                <a:r>
                  <a:rPr lang="zh-CN" altLang="en-US" sz="1400" b="1" dirty="0">
                    <a:solidFill>
                      <a:srgbClr val="F47216"/>
                    </a:solidFill>
                    <a:sym typeface="+mn-ea"/>
                  </a:rPr>
                  <a:t>心衰</a:t>
                </a:r>
                <a:r>
                  <a:rPr lang="zh-CN" altLang="en-US" sz="1400" dirty="0">
                    <a:sym typeface="+mn-ea"/>
                  </a:rPr>
                  <a:t>黄金赛道。</a:t>
                </a:r>
                <a:endParaRPr lang="zh-CN" altLang="en-US" sz="1400" dirty="0"/>
              </a:p>
              <a:p>
                <a:pPr marL="12700" marR="5080" defTabSz="990600">
                  <a:lnSpc>
                    <a:spcPts val="1680"/>
                  </a:lnSpc>
                  <a:spcBef>
                    <a:spcPts val="100"/>
                  </a:spcBef>
                  <a:defRPr/>
                </a:pPr>
                <a:endParaRPr lang="en-US" altLang="zh-CN" sz="1400" dirty="0">
                  <a:solidFill>
                    <a:srgbClr val="575556"/>
                  </a:solidFill>
                  <a:cs typeface="微软雅黑" panose="020B0503020204020204" pitchFamily="34" charset="-122"/>
                </a:endParaRPr>
              </a:p>
            </p:txBody>
          </p:sp>
          <p:sp>
            <p:nvSpPr>
              <p:cNvPr id="60" name="object 16">
                <a:extLst>
                  <a:ext uri="{FF2B5EF4-FFF2-40B4-BE49-F238E27FC236}">
                    <a16:creationId xmlns:a16="http://schemas.microsoft.com/office/drawing/2014/main" id="{3D4C4D58-A414-8464-9A57-7359664ABD15}"/>
                  </a:ext>
                </a:extLst>
              </p:cNvPr>
              <p:cNvSpPr/>
              <p:nvPr/>
            </p:nvSpPr>
            <p:spPr>
              <a:xfrm>
                <a:off x="1305974" y="3402931"/>
                <a:ext cx="566496" cy="347943"/>
              </a:xfrm>
              <a:custGeom>
                <a:avLst/>
                <a:gdLst/>
                <a:ahLst/>
                <a:cxnLst/>
                <a:rect l="l" t="t" r="r" b="b"/>
                <a:pathLst>
                  <a:path w="467360" h="394335">
                    <a:moveTo>
                      <a:pt x="423449" y="189793"/>
                    </a:moveTo>
                    <a:lnTo>
                      <a:pt x="43803" y="189793"/>
                    </a:lnTo>
                    <a:lnTo>
                      <a:pt x="43803" y="279437"/>
                    </a:lnTo>
                    <a:lnTo>
                      <a:pt x="26362" y="287174"/>
                    </a:lnTo>
                    <a:lnTo>
                      <a:pt x="12482" y="299866"/>
                    </a:lnTo>
                    <a:lnTo>
                      <a:pt x="3312" y="316420"/>
                    </a:lnTo>
                    <a:lnTo>
                      <a:pt x="0" y="335745"/>
                    </a:lnTo>
                    <a:lnTo>
                      <a:pt x="4595" y="358454"/>
                    </a:lnTo>
                    <a:lnTo>
                      <a:pt x="17123" y="377016"/>
                    </a:lnTo>
                    <a:lnTo>
                      <a:pt x="35690" y="389539"/>
                    </a:lnTo>
                    <a:lnTo>
                      <a:pt x="58406" y="394134"/>
                    </a:lnTo>
                    <a:lnTo>
                      <a:pt x="81120" y="389539"/>
                    </a:lnTo>
                    <a:lnTo>
                      <a:pt x="99687" y="377016"/>
                    </a:lnTo>
                    <a:lnTo>
                      <a:pt x="107827" y="364956"/>
                    </a:lnTo>
                    <a:lnTo>
                      <a:pt x="58406" y="364956"/>
                    </a:lnTo>
                    <a:lnTo>
                      <a:pt x="47051" y="362655"/>
                    </a:lnTo>
                    <a:lnTo>
                      <a:pt x="37767" y="356386"/>
                    </a:lnTo>
                    <a:lnTo>
                      <a:pt x="31502" y="347099"/>
                    </a:lnTo>
                    <a:lnTo>
                      <a:pt x="29203" y="335745"/>
                    </a:lnTo>
                    <a:lnTo>
                      <a:pt x="31502" y="324395"/>
                    </a:lnTo>
                    <a:lnTo>
                      <a:pt x="37767" y="315119"/>
                    </a:lnTo>
                    <a:lnTo>
                      <a:pt x="47051" y="308861"/>
                    </a:lnTo>
                    <a:lnTo>
                      <a:pt x="58406" y="306565"/>
                    </a:lnTo>
                    <a:lnTo>
                      <a:pt x="108038" y="306565"/>
                    </a:lnTo>
                    <a:lnTo>
                      <a:pt x="104327" y="299865"/>
                    </a:lnTo>
                    <a:lnTo>
                      <a:pt x="90445" y="287174"/>
                    </a:lnTo>
                    <a:lnTo>
                      <a:pt x="73007" y="279437"/>
                    </a:lnTo>
                    <a:lnTo>
                      <a:pt x="73007" y="218961"/>
                    </a:lnTo>
                    <a:lnTo>
                      <a:pt x="423449" y="218961"/>
                    </a:lnTo>
                    <a:lnTo>
                      <a:pt x="423449" y="189793"/>
                    </a:lnTo>
                    <a:close/>
                  </a:path>
                  <a:path w="467360" h="394335">
                    <a:moveTo>
                      <a:pt x="248225" y="218961"/>
                    </a:moveTo>
                    <a:lnTo>
                      <a:pt x="219028" y="218961"/>
                    </a:lnTo>
                    <a:lnTo>
                      <a:pt x="219028" y="279437"/>
                    </a:lnTo>
                    <a:lnTo>
                      <a:pt x="201582" y="287174"/>
                    </a:lnTo>
                    <a:lnTo>
                      <a:pt x="187701" y="299866"/>
                    </a:lnTo>
                    <a:lnTo>
                      <a:pt x="178530" y="316420"/>
                    </a:lnTo>
                    <a:lnTo>
                      <a:pt x="175218" y="335745"/>
                    </a:lnTo>
                    <a:lnTo>
                      <a:pt x="179815" y="358454"/>
                    </a:lnTo>
                    <a:lnTo>
                      <a:pt x="192344" y="377016"/>
                    </a:lnTo>
                    <a:lnTo>
                      <a:pt x="210913" y="389539"/>
                    </a:lnTo>
                    <a:lnTo>
                      <a:pt x="233626" y="394134"/>
                    </a:lnTo>
                    <a:lnTo>
                      <a:pt x="256341" y="389539"/>
                    </a:lnTo>
                    <a:lnTo>
                      <a:pt x="274912" y="377016"/>
                    </a:lnTo>
                    <a:lnTo>
                      <a:pt x="283054" y="364956"/>
                    </a:lnTo>
                    <a:lnTo>
                      <a:pt x="233626" y="364956"/>
                    </a:lnTo>
                    <a:lnTo>
                      <a:pt x="222275" y="362655"/>
                    </a:lnTo>
                    <a:lnTo>
                      <a:pt x="212993" y="356386"/>
                    </a:lnTo>
                    <a:lnTo>
                      <a:pt x="206729" y="347099"/>
                    </a:lnTo>
                    <a:lnTo>
                      <a:pt x="204430" y="335745"/>
                    </a:lnTo>
                    <a:lnTo>
                      <a:pt x="206729" y="324395"/>
                    </a:lnTo>
                    <a:lnTo>
                      <a:pt x="212993" y="315119"/>
                    </a:lnTo>
                    <a:lnTo>
                      <a:pt x="222275" y="308861"/>
                    </a:lnTo>
                    <a:lnTo>
                      <a:pt x="233626" y="306565"/>
                    </a:lnTo>
                    <a:lnTo>
                      <a:pt x="283267" y="306565"/>
                    </a:lnTo>
                    <a:lnTo>
                      <a:pt x="279555" y="299865"/>
                    </a:lnTo>
                    <a:lnTo>
                      <a:pt x="265671" y="287174"/>
                    </a:lnTo>
                    <a:lnTo>
                      <a:pt x="248225" y="279437"/>
                    </a:lnTo>
                    <a:lnTo>
                      <a:pt x="248225" y="218961"/>
                    </a:lnTo>
                    <a:close/>
                  </a:path>
                  <a:path w="467360" h="394335">
                    <a:moveTo>
                      <a:pt x="423449" y="218961"/>
                    </a:moveTo>
                    <a:lnTo>
                      <a:pt x="394253" y="218961"/>
                    </a:lnTo>
                    <a:lnTo>
                      <a:pt x="394253" y="279437"/>
                    </a:lnTo>
                    <a:lnTo>
                      <a:pt x="376806" y="287174"/>
                    </a:lnTo>
                    <a:lnTo>
                      <a:pt x="362922" y="299866"/>
                    </a:lnTo>
                    <a:lnTo>
                      <a:pt x="353749" y="316420"/>
                    </a:lnTo>
                    <a:lnTo>
                      <a:pt x="350436" y="335745"/>
                    </a:lnTo>
                    <a:lnTo>
                      <a:pt x="355031" y="358454"/>
                    </a:lnTo>
                    <a:lnTo>
                      <a:pt x="367557" y="377016"/>
                    </a:lnTo>
                    <a:lnTo>
                      <a:pt x="386127" y="389539"/>
                    </a:lnTo>
                    <a:lnTo>
                      <a:pt x="408851" y="394134"/>
                    </a:lnTo>
                    <a:lnTo>
                      <a:pt x="431553" y="389539"/>
                    </a:lnTo>
                    <a:lnTo>
                      <a:pt x="450118" y="377016"/>
                    </a:lnTo>
                    <a:lnTo>
                      <a:pt x="458258" y="364956"/>
                    </a:lnTo>
                    <a:lnTo>
                      <a:pt x="408851" y="364956"/>
                    </a:lnTo>
                    <a:lnTo>
                      <a:pt x="397487" y="362655"/>
                    </a:lnTo>
                    <a:lnTo>
                      <a:pt x="388199" y="356386"/>
                    </a:lnTo>
                    <a:lnTo>
                      <a:pt x="381932" y="347099"/>
                    </a:lnTo>
                    <a:lnTo>
                      <a:pt x="379632" y="335745"/>
                    </a:lnTo>
                    <a:lnTo>
                      <a:pt x="381932" y="324395"/>
                    </a:lnTo>
                    <a:lnTo>
                      <a:pt x="388199" y="315119"/>
                    </a:lnTo>
                    <a:lnTo>
                      <a:pt x="397487" y="308861"/>
                    </a:lnTo>
                    <a:lnTo>
                      <a:pt x="408851" y="306565"/>
                    </a:lnTo>
                    <a:lnTo>
                      <a:pt x="458478" y="306565"/>
                    </a:lnTo>
                    <a:lnTo>
                      <a:pt x="454768" y="299865"/>
                    </a:lnTo>
                    <a:lnTo>
                      <a:pt x="440890" y="287174"/>
                    </a:lnTo>
                    <a:lnTo>
                      <a:pt x="423449" y="279437"/>
                    </a:lnTo>
                    <a:lnTo>
                      <a:pt x="423449" y="218961"/>
                    </a:lnTo>
                    <a:close/>
                  </a:path>
                  <a:path w="467360" h="394335">
                    <a:moveTo>
                      <a:pt x="108038" y="306565"/>
                    </a:moveTo>
                    <a:lnTo>
                      <a:pt x="58406" y="306565"/>
                    </a:lnTo>
                    <a:lnTo>
                      <a:pt x="69760" y="308861"/>
                    </a:lnTo>
                    <a:lnTo>
                      <a:pt x="79043" y="315119"/>
                    </a:lnTo>
                    <a:lnTo>
                      <a:pt x="85308" y="324395"/>
                    </a:lnTo>
                    <a:lnTo>
                      <a:pt x="87607" y="335745"/>
                    </a:lnTo>
                    <a:lnTo>
                      <a:pt x="85308" y="347099"/>
                    </a:lnTo>
                    <a:lnTo>
                      <a:pt x="79043" y="356386"/>
                    </a:lnTo>
                    <a:lnTo>
                      <a:pt x="69760" y="362655"/>
                    </a:lnTo>
                    <a:lnTo>
                      <a:pt x="58406" y="364956"/>
                    </a:lnTo>
                    <a:lnTo>
                      <a:pt x="107827" y="364956"/>
                    </a:lnTo>
                    <a:lnTo>
                      <a:pt x="112215" y="358454"/>
                    </a:lnTo>
                    <a:lnTo>
                      <a:pt x="116811" y="335745"/>
                    </a:lnTo>
                    <a:lnTo>
                      <a:pt x="113498" y="316420"/>
                    </a:lnTo>
                    <a:lnTo>
                      <a:pt x="108038" y="306565"/>
                    </a:lnTo>
                    <a:close/>
                  </a:path>
                  <a:path w="467360" h="394335">
                    <a:moveTo>
                      <a:pt x="283267" y="306565"/>
                    </a:moveTo>
                    <a:lnTo>
                      <a:pt x="233626" y="306565"/>
                    </a:lnTo>
                    <a:lnTo>
                      <a:pt x="244978" y="308861"/>
                    </a:lnTo>
                    <a:lnTo>
                      <a:pt x="254260" y="315119"/>
                    </a:lnTo>
                    <a:lnTo>
                      <a:pt x="260524" y="324395"/>
                    </a:lnTo>
                    <a:lnTo>
                      <a:pt x="262823" y="335745"/>
                    </a:lnTo>
                    <a:lnTo>
                      <a:pt x="260524" y="347099"/>
                    </a:lnTo>
                    <a:lnTo>
                      <a:pt x="254260" y="356386"/>
                    </a:lnTo>
                    <a:lnTo>
                      <a:pt x="244978" y="362655"/>
                    </a:lnTo>
                    <a:lnTo>
                      <a:pt x="233626" y="364956"/>
                    </a:lnTo>
                    <a:lnTo>
                      <a:pt x="283054" y="364956"/>
                    </a:lnTo>
                    <a:lnTo>
                      <a:pt x="287444" y="358454"/>
                    </a:lnTo>
                    <a:lnTo>
                      <a:pt x="292042" y="335745"/>
                    </a:lnTo>
                    <a:lnTo>
                      <a:pt x="288729" y="316420"/>
                    </a:lnTo>
                    <a:lnTo>
                      <a:pt x="283267" y="306565"/>
                    </a:lnTo>
                    <a:close/>
                  </a:path>
                  <a:path w="467360" h="394335">
                    <a:moveTo>
                      <a:pt x="458478" y="306565"/>
                    </a:moveTo>
                    <a:lnTo>
                      <a:pt x="408851" y="306565"/>
                    </a:lnTo>
                    <a:lnTo>
                      <a:pt x="420193" y="308861"/>
                    </a:lnTo>
                    <a:lnTo>
                      <a:pt x="429476" y="315119"/>
                    </a:lnTo>
                    <a:lnTo>
                      <a:pt x="435746" y="324395"/>
                    </a:lnTo>
                    <a:lnTo>
                      <a:pt x="438048" y="335745"/>
                    </a:lnTo>
                    <a:lnTo>
                      <a:pt x="435746" y="347099"/>
                    </a:lnTo>
                    <a:lnTo>
                      <a:pt x="429476" y="356386"/>
                    </a:lnTo>
                    <a:lnTo>
                      <a:pt x="420193" y="362655"/>
                    </a:lnTo>
                    <a:lnTo>
                      <a:pt x="408851" y="364956"/>
                    </a:lnTo>
                    <a:lnTo>
                      <a:pt x="458258" y="364956"/>
                    </a:lnTo>
                    <a:lnTo>
                      <a:pt x="462647" y="358454"/>
                    </a:lnTo>
                    <a:lnTo>
                      <a:pt x="467245" y="335745"/>
                    </a:lnTo>
                    <a:lnTo>
                      <a:pt x="463935" y="316420"/>
                    </a:lnTo>
                    <a:lnTo>
                      <a:pt x="458478" y="306565"/>
                    </a:lnTo>
                    <a:close/>
                  </a:path>
                  <a:path w="467360" h="394335">
                    <a:moveTo>
                      <a:pt x="248225" y="116799"/>
                    </a:moveTo>
                    <a:lnTo>
                      <a:pt x="219028" y="116799"/>
                    </a:lnTo>
                    <a:lnTo>
                      <a:pt x="219028" y="189793"/>
                    </a:lnTo>
                    <a:lnTo>
                      <a:pt x="248225" y="189793"/>
                    </a:lnTo>
                    <a:lnTo>
                      <a:pt x="248225" y="116799"/>
                    </a:lnTo>
                    <a:close/>
                  </a:path>
                  <a:path w="467360" h="394335">
                    <a:moveTo>
                      <a:pt x="423449" y="0"/>
                    </a:moveTo>
                    <a:lnTo>
                      <a:pt x="43803" y="0"/>
                    </a:lnTo>
                    <a:lnTo>
                      <a:pt x="43803" y="116799"/>
                    </a:lnTo>
                    <a:lnTo>
                      <a:pt x="423449" y="116799"/>
                    </a:lnTo>
                    <a:lnTo>
                      <a:pt x="423449" y="87588"/>
                    </a:lnTo>
                    <a:lnTo>
                      <a:pt x="73007" y="87588"/>
                    </a:lnTo>
                    <a:lnTo>
                      <a:pt x="73007" y="29189"/>
                    </a:lnTo>
                    <a:lnTo>
                      <a:pt x="423449" y="29189"/>
                    </a:lnTo>
                    <a:lnTo>
                      <a:pt x="423449" y="0"/>
                    </a:lnTo>
                    <a:close/>
                  </a:path>
                  <a:path w="467360" h="394335">
                    <a:moveTo>
                      <a:pt x="423449" y="29189"/>
                    </a:moveTo>
                    <a:lnTo>
                      <a:pt x="394253" y="29189"/>
                    </a:lnTo>
                    <a:lnTo>
                      <a:pt x="394253" y="87588"/>
                    </a:lnTo>
                    <a:lnTo>
                      <a:pt x="423449" y="87588"/>
                    </a:lnTo>
                    <a:lnTo>
                      <a:pt x="423449" y="29189"/>
                    </a:lnTo>
                    <a:close/>
                  </a:path>
                </a:pathLst>
              </a:custGeom>
              <a:solidFill>
                <a:srgbClr val="007D96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583C1D06-D16A-89F5-A09C-53E6BA703492}"/>
                </a:ext>
              </a:extLst>
            </p:cNvPr>
            <p:cNvGrpSpPr/>
            <p:nvPr/>
          </p:nvGrpSpPr>
          <p:grpSpPr>
            <a:xfrm>
              <a:off x="599748" y="3333883"/>
              <a:ext cx="10574713" cy="1245982"/>
              <a:chOff x="589973" y="4090428"/>
              <a:chExt cx="10574713" cy="1245982"/>
            </a:xfrm>
          </p:grpSpPr>
          <p:sp>
            <p:nvSpPr>
              <p:cNvPr id="52" name="object 5">
                <a:extLst>
                  <a:ext uri="{FF2B5EF4-FFF2-40B4-BE49-F238E27FC236}">
                    <a16:creationId xmlns:a16="http://schemas.microsoft.com/office/drawing/2014/main" id="{47EAF890-3B25-E273-532F-D5D61A680F6E}"/>
                  </a:ext>
                </a:extLst>
              </p:cNvPr>
              <p:cNvSpPr/>
              <p:nvPr/>
            </p:nvSpPr>
            <p:spPr>
              <a:xfrm>
                <a:off x="589973" y="4090428"/>
                <a:ext cx="10574713" cy="1245982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53" name="object 6">
                <a:extLst>
                  <a:ext uri="{FF2B5EF4-FFF2-40B4-BE49-F238E27FC236}">
                    <a16:creationId xmlns:a16="http://schemas.microsoft.com/office/drawing/2014/main" id="{EC26D73B-8940-654E-D0FB-F6584C53FD70}"/>
                  </a:ext>
                </a:extLst>
              </p:cNvPr>
              <p:cNvSpPr/>
              <p:nvPr/>
            </p:nvSpPr>
            <p:spPr>
              <a:xfrm>
                <a:off x="976592" y="4336944"/>
                <a:ext cx="9840576" cy="849131"/>
              </a:xfrm>
              <a:custGeom>
                <a:avLst/>
                <a:gdLst/>
                <a:ahLst/>
                <a:cxnLst/>
                <a:rect l="l" t="t" r="r" b="b"/>
                <a:pathLst>
                  <a:path w="8118475" h="949960">
                    <a:moveTo>
                      <a:pt x="0" y="949451"/>
                    </a:moveTo>
                    <a:lnTo>
                      <a:pt x="8118348" y="949451"/>
                    </a:lnTo>
                    <a:lnTo>
                      <a:pt x="8118348" y="0"/>
                    </a:lnTo>
                    <a:lnTo>
                      <a:pt x="0" y="0"/>
                    </a:lnTo>
                    <a:lnTo>
                      <a:pt x="0" y="9494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54" name="object 15">
                <a:extLst>
                  <a:ext uri="{FF2B5EF4-FFF2-40B4-BE49-F238E27FC236}">
                    <a16:creationId xmlns:a16="http://schemas.microsoft.com/office/drawing/2014/main" id="{CEEFFC10-EA3B-56AC-345D-97BAF765F5D7}"/>
                  </a:ext>
                </a:extLst>
              </p:cNvPr>
              <p:cNvSpPr txBox="1"/>
              <p:nvPr/>
            </p:nvSpPr>
            <p:spPr>
              <a:xfrm>
                <a:off x="2065955" y="4483108"/>
                <a:ext cx="8629201" cy="73735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 defTabSz="990600">
                  <a:lnSpc>
                    <a:spcPts val="1680"/>
                  </a:lnSpc>
                  <a:spcBef>
                    <a:spcPts val="100"/>
                  </a:spcBef>
                  <a:defRPr/>
                </a:pPr>
                <a:r>
                  <a:rPr lang="zh-CN" altLang="en-US" sz="1600" b="1" dirty="0">
                    <a:solidFill>
                      <a:srgbClr val="575556"/>
                    </a:solidFill>
                    <a:cs typeface="微软雅黑" panose="020B0503020204020204" pitchFamily="34" charset="-122"/>
                  </a:rPr>
                  <a:t>技术：</a:t>
                </a:r>
                <a:r>
                  <a:rPr lang="zh-CN" altLang="en-US" sz="1400" dirty="0">
                    <a:cs typeface="微软雅黑" panose="020B0503020204020204" pitchFamily="34" charset="-122"/>
                  </a:rPr>
                  <a:t>掌握源头创新的材料学平台工艺，跨界融合电子、材料学等学科；掌握全制作工艺关键</a:t>
                </a:r>
                <a:r>
                  <a:rPr lang="en-US" altLang="zh-CN" sz="1400" dirty="0">
                    <a:cs typeface="微软雅黑" panose="020B0503020204020204" pitchFamily="34" charset="-122"/>
                  </a:rPr>
                  <a:t>Knowhow</a:t>
                </a:r>
                <a:r>
                  <a:rPr lang="zh-CN" altLang="en-US" sz="1400" dirty="0">
                    <a:cs typeface="微软雅黑" panose="020B0503020204020204" pitchFamily="34" charset="-122"/>
                  </a:rPr>
                  <a:t>，技术壁垒高，横向拓展能力强。</a:t>
                </a:r>
                <a:endParaRPr lang="en-US" altLang="zh-CN" sz="1400" dirty="0">
                  <a:cs typeface="微软雅黑" panose="020B0503020204020204" pitchFamily="34" charset="-122"/>
                </a:endParaRPr>
              </a:p>
              <a:p>
                <a:pPr marL="12700" marR="5080" defTabSz="990600">
                  <a:lnSpc>
                    <a:spcPts val="1680"/>
                  </a:lnSpc>
                  <a:spcBef>
                    <a:spcPts val="100"/>
                  </a:spcBef>
                  <a:defRPr/>
                </a:pPr>
                <a:r>
                  <a:rPr lang="en-US" altLang="zh-CN" sz="1400" b="1" dirty="0">
                    <a:solidFill>
                      <a:srgbClr val="F47216"/>
                    </a:solidFill>
                  </a:rPr>
                  <a:t>10</a:t>
                </a:r>
                <a:r>
                  <a:rPr lang="zh-CN" altLang="en-US" sz="1400" b="1" dirty="0">
                    <a:solidFill>
                      <a:srgbClr val="F47216"/>
                    </a:solidFill>
                  </a:rPr>
                  <a:t>个注册证</a:t>
                </a:r>
                <a:r>
                  <a:rPr lang="en-US" altLang="zh-CN" sz="1400" b="1" dirty="0">
                    <a:solidFill>
                      <a:srgbClr val="F47216"/>
                    </a:solidFill>
                  </a:rPr>
                  <a:t>+2</a:t>
                </a:r>
                <a:r>
                  <a:rPr lang="zh-CN" altLang="en-US" sz="1400" b="1" dirty="0">
                    <a:solidFill>
                      <a:srgbClr val="F47216"/>
                    </a:solidFill>
                  </a:rPr>
                  <a:t>个注册临床</a:t>
                </a:r>
                <a:r>
                  <a:rPr lang="en-US" altLang="zh-CN" sz="1400" b="1" dirty="0">
                    <a:solidFill>
                      <a:srgbClr val="F47216"/>
                    </a:solidFill>
                  </a:rPr>
                  <a:t>+1</a:t>
                </a:r>
                <a:r>
                  <a:rPr lang="zh-CN" altLang="en-US" sz="1400" b="1" dirty="0">
                    <a:solidFill>
                      <a:srgbClr val="F47216"/>
                    </a:solidFill>
                  </a:rPr>
                  <a:t>个</a:t>
                </a:r>
                <a:r>
                  <a:rPr lang="en-US" altLang="zh-CN" sz="1400" b="1" dirty="0">
                    <a:solidFill>
                      <a:srgbClr val="F47216"/>
                    </a:solidFill>
                  </a:rPr>
                  <a:t>FIM</a:t>
                </a:r>
                <a:r>
                  <a:rPr lang="zh-CN" altLang="en-US" sz="1400" b="1" dirty="0">
                    <a:solidFill>
                      <a:srgbClr val="F47216"/>
                    </a:solidFill>
                  </a:rPr>
                  <a:t>临床</a:t>
                </a:r>
                <a:r>
                  <a:rPr lang="en-US" altLang="zh-CN" sz="1400" b="1" dirty="0">
                    <a:solidFill>
                      <a:srgbClr val="F47216"/>
                    </a:solidFill>
                  </a:rPr>
                  <a:t>+103</a:t>
                </a:r>
                <a:r>
                  <a:rPr lang="zh-CN" altLang="en-US" sz="1400" b="1" dirty="0">
                    <a:solidFill>
                      <a:srgbClr val="F47216"/>
                    </a:solidFill>
                  </a:rPr>
                  <a:t>项专利申请</a:t>
                </a:r>
                <a:r>
                  <a:rPr lang="en-US" altLang="zh-CN" sz="1400" b="1" dirty="0">
                    <a:solidFill>
                      <a:srgbClr val="F47216"/>
                    </a:solidFill>
                  </a:rPr>
                  <a:t>/45</a:t>
                </a:r>
                <a:r>
                  <a:rPr lang="zh-CN" altLang="en-US" sz="1400" b="1" dirty="0">
                    <a:solidFill>
                      <a:srgbClr val="F47216"/>
                    </a:solidFill>
                  </a:rPr>
                  <a:t>项授权</a:t>
                </a:r>
                <a:endParaRPr lang="en-US" altLang="zh-CN" sz="1400" b="1" dirty="0">
                  <a:solidFill>
                    <a:srgbClr val="F47216"/>
                  </a:solidFill>
                </a:endParaRPr>
              </a:p>
            </p:txBody>
          </p:sp>
          <p:sp>
            <p:nvSpPr>
              <p:cNvPr id="55" name="object 17">
                <a:extLst>
                  <a:ext uri="{FF2B5EF4-FFF2-40B4-BE49-F238E27FC236}">
                    <a16:creationId xmlns:a16="http://schemas.microsoft.com/office/drawing/2014/main" id="{540CCE03-B9AB-C83A-D809-D00B03738108}"/>
                  </a:ext>
                </a:extLst>
              </p:cNvPr>
              <p:cNvSpPr/>
              <p:nvPr/>
            </p:nvSpPr>
            <p:spPr>
              <a:xfrm>
                <a:off x="1259898" y="4591256"/>
                <a:ext cx="584200" cy="424703"/>
              </a:xfrm>
              <a:custGeom>
                <a:avLst/>
                <a:gdLst/>
                <a:ahLst/>
                <a:cxnLst/>
                <a:rect l="l" t="t" r="r" b="b"/>
                <a:pathLst>
                  <a:path w="481964" h="481329">
                    <a:moveTo>
                      <a:pt x="204725" y="386079"/>
                    </a:moveTo>
                    <a:lnTo>
                      <a:pt x="180929" y="386079"/>
                    </a:lnTo>
                    <a:lnTo>
                      <a:pt x="191531" y="424179"/>
                    </a:lnTo>
                    <a:lnTo>
                      <a:pt x="205087" y="454659"/>
                    </a:lnTo>
                    <a:lnTo>
                      <a:pt x="221558" y="474979"/>
                    </a:lnTo>
                    <a:lnTo>
                      <a:pt x="240905" y="481329"/>
                    </a:lnTo>
                    <a:lnTo>
                      <a:pt x="260239" y="474979"/>
                    </a:lnTo>
                    <a:lnTo>
                      <a:pt x="272588" y="459739"/>
                    </a:lnTo>
                    <a:lnTo>
                      <a:pt x="240905" y="459739"/>
                    </a:lnTo>
                    <a:lnTo>
                      <a:pt x="230866" y="453389"/>
                    </a:lnTo>
                    <a:lnTo>
                      <a:pt x="220360" y="436879"/>
                    </a:lnTo>
                    <a:lnTo>
                      <a:pt x="210240" y="408939"/>
                    </a:lnTo>
                    <a:lnTo>
                      <a:pt x="204725" y="386079"/>
                    </a:lnTo>
                    <a:close/>
                  </a:path>
                  <a:path w="481964" h="481329">
                    <a:moveTo>
                      <a:pt x="278244" y="341629"/>
                    </a:moveTo>
                    <a:lnTo>
                      <a:pt x="240905" y="341629"/>
                    </a:lnTo>
                    <a:lnTo>
                      <a:pt x="280456" y="372109"/>
                    </a:lnTo>
                    <a:lnTo>
                      <a:pt x="271561" y="408939"/>
                    </a:lnTo>
                    <a:lnTo>
                      <a:pt x="261442" y="436879"/>
                    </a:lnTo>
                    <a:lnTo>
                      <a:pt x="250942" y="453389"/>
                    </a:lnTo>
                    <a:lnTo>
                      <a:pt x="240905" y="459739"/>
                    </a:lnTo>
                    <a:lnTo>
                      <a:pt x="272588" y="459739"/>
                    </a:lnTo>
                    <a:lnTo>
                      <a:pt x="276704" y="454659"/>
                    </a:lnTo>
                    <a:lnTo>
                      <a:pt x="290257" y="424179"/>
                    </a:lnTo>
                    <a:lnTo>
                      <a:pt x="300859" y="386079"/>
                    </a:lnTo>
                    <a:lnTo>
                      <a:pt x="348472" y="386079"/>
                    </a:lnTo>
                    <a:lnTo>
                      <a:pt x="337863" y="380999"/>
                    </a:lnTo>
                    <a:lnTo>
                      <a:pt x="305464" y="361949"/>
                    </a:lnTo>
                    <a:lnTo>
                      <a:pt x="307652" y="346709"/>
                    </a:lnTo>
                    <a:lnTo>
                      <a:pt x="284674" y="346709"/>
                    </a:lnTo>
                    <a:lnTo>
                      <a:pt x="278244" y="341629"/>
                    </a:lnTo>
                    <a:close/>
                  </a:path>
                  <a:path w="481964" h="481329">
                    <a:moveTo>
                      <a:pt x="89286" y="62229"/>
                    </a:moveTo>
                    <a:lnTo>
                      <a:pt x="70590" y="71119"/>
                    </a:lnTo>
                    <a:lnTo>
                      <a:pt x="61922" y="90169"/>
                    </a:lnTo>
                    <a:lnTo>
                      <a:pt x="64302" y="115569"/>
                    </a:lnTo>
                    <a:lnTo>
                      <a:pt x="76221" y="146049"/>
                    </a:lnTo>
                    <a:lnTo>
                      <a:pt x="96171" y="181609"/>
                    </a:lnTo>
                    <a:lnTo>
                      <a:pt x="57339" y="191769"/>
                    </a:lnTo>
                    <a:lnTo>
                      <a:pt x="26925" y="205739"/>
                    </a:lnTo>
                    <a:lnTo>
                      <a:pt x="7091" y="222249"/>
                    </a:lnTo>
                    <a:lnTo>
                      <a:pt x="0" y="241299"/>
                    </a:lnTo>
                    <a:lnTo>
                      <a:pt x="7093" y="260349"/>
                    </a:lnTo>
                    <a:lnTo>
                      <a:pt x="26930" y="276859"/>
                    </a:lnTo>
                    <a:lnTo>
                      <a:pt x="57344" y="290829"/>
                    </a:lnTo>
                    <a:lnTo>
                      <a:pt x="96171" y="300989"/>
                    </a:lnTo>
                    <a:lnTo>
                      <a:pt x="76221" y="336549"/>
                    </a:lnTo>
                    <a:lnTo>
                      <a:pt x="64294" y="367029"/>
                    </a:lnTo>
                    <a:lnTo>
                      <a:pt x="61902" y="392429"/>
                    </a:lnTo>
                    <a:lnTo>
                      <a:pt x="70558" y="411479"/>
                    </a:lnTo>
                    <a:lnTo>
                      <a:pt x="75629" y="415289"/>
                    </a:lnTo>
                    <a:lnTo>
                      <a:pt x="81506" y="417829"/>
                    </a:lnTo>
                    <a:lnTo>
                      <a:pt x="88142" y="420369"/>
                    </a:lnTo>
                    <a:lnTo>
                      <a:pt x="95492" y="420369"/>
                    </a:lnTo>
                    <a:lnTo>
                      <a:pt x="113499" y="417829"/>
                    </a:lnTo>
                    <a:lnTo>
                      <a:pt x="134075" y="411479"/>
                    </a:lnTo>
                    <a:lnTo>
                      <a:pt x="156718" y="400049"/>
                    </a:lnTo>
                    <a:lnTo>
                      <a:pt x="158919" y="398779"/>
                    </a:lnTo>
                    <a:lnTo>
                      <a:pt x="97942" y="398779"/>
                    </a:lnTo>
                    <a:lnTo>
                      <a:pt x="86686" y="394969"/>
                    </a:lnTo>
                    <a:lnTo>
                      <a:pt x="83733" y="383539"/>
                    </a:lnTo>
                    <a:lnTo>
                      <a:pt x="88353" y="364489"/>
                    </a:lnTo>
                    <a:lnTo>
                      <a:pt x="100568" y="337819"/>
                    </a:lnTo>
                    <a:lnTo>
                      <a:pt x="120401" y="306069"/>
                    </a:lnTo>
                    <a:lnTo>
                      <a:pt x="388487" y="306069"/>
                    </a:lnTo>
                    <a:lnTo>
                      <a:pt x="385637" y="300989"/>
                    </a:lnTo>
                    <a:lnTo>
                      <a:pt x="419605" y="292099"/>
                    </a:lnTo>
                    <a:lnTo>
                      <a:pt x="219956" y="292099"/>
                    </a:lnTo>
                    <a:lnTo>
                      <a:pt x="216220" y="288289"/>
                    </a:lnTo>
                    <a:lnTo>
                      <a:pt x="159880" y="288289"/>
                    </a:lnTo>
                    <a:lnTo>
                      <a:pt x="135232" y="284479"/>
                    </a:lnTo>
                    <a:lnTo>
                      <a:pt x="138159" y="280669"/>
                    </a:lnTo>
                    <a:lnTo>
                      <a:pt x="110132" y="280669"/>
                    </a:lnTo>
                    <a:lnTo>
                      <a:pt x="73152" y="271779"/>
                    </a:lnTo>
                    <a:lnTo>
                      <a:pt x="45730" y="261619"/>
                    </a:lnTo>
                    <a:lnTo>
                      <a:pt x="28679" y="251459"/>
                    </a:lnTo>
                    <a:lnTo>
                      <a:pt x="22814" y="241299"/>
                    </a:lnTo>
                    <a:lnTo>
                      <a:pt x="28679" y="231139"/>
                    </a:lnTo>
                    <a:lnTo>
                      <a:pt x="45732" y="220979"/>
                    </a:lnTo>
                    <a:lnTo>
                      <a:pt x="73156" y="210819"/>
                    </a:lnTo>
                    <a:lnTo>
                      <a:pt x="110136" y="201929"/>
                    </a:lnTo>
                    <a:lnTo>
                      <a:pt x="138474" y="201929"/>
                    </a:lnTo>
                    <a:lnTo>
                      <a:pt x="135225" y="196849"/>
                    </a:lnTo>
                    <a:lnTo>
                      <a:pt x="143214" y="196849"/>
                    </a:lnTo>
                    <a:lnTo>
                      <a:pt x="168564" y="193039"/>
                    </a:lnTo>
                    <a:lnTo>
                      <a:pt x="217408" y="193039"/>
                    </a:lnTo>
                    <a:lnTo>
                      <a:pt x="219887" y="190499"/>
                    </a:lnTo>
                    <a:lnTo>
                      <a:pt x="419613" y="190499"/>
                    </a:lnTo>
                    <a:lnTo>
                      <a:pt x="385637" y="181609"/>
                    </a:lnTo>
                    <a:lnTo>
                      <a:pt x="388487" y="176529"/>
                    </a:lnTo>
                    <a:lnTo>
                      <a:pt x="120394" y="176529"/>
                    </a:lnTo>
                    <a:lnTo>
                      <a:pt x="100566" y="144779"/>
                    </a:lnTo>
                    <a:lnTo>
                      <a:pt x="88352" y="118109"/>
                    </a:lnTo>
                    <a:lnTo>
                      <a:pt x="83732" y="97789"/>
                    </a:lnTo>
                    <a:lnTo>
                      <a:pt x="86686" y="87629"/>
                    </a:lnTo>
                    <a:lnTo>
                      <a:pt x="88696" y="85089"/>
                    </a:lnTo>
                    <a:lnTo>
                      <a:pt x="91949" y="83819"/>
                    </a:lnTo>
                    <a:lnTo>
                      <a:pt x="159135" y="83819"/>
                    </a:lnTo>
                    <a:lnTo>
                      <a:pt x="146033" y="76199"/>
                    </a:lnTo>
                    <a:lnTo>
                      <a:pt x="114953" y="64769"/>
                    </a:lnTo>
                    <a:lnTo>
                      <a:pt x="89286" y="62229"/>
                    </a:lnTo>
                    <a:close/>
                  </a:path>
                  <a:path w="481964" h="481329">
                    <a:moveTo>
                      <a:pt x="348472" y="386079"/>
                    </a:moveTo>
                    <a:lnTo>
                      <a:pt x="300859" y="386079"/>
                    </a:lnTo>
                    <a:lnTo>
                      <a:pt x="325089" y="400049"/>
                    </a:lnTo>
                    <a:lnTo>
                      <a:pt x="347733" y="411479"/>
                    </a:lnTo>
                    <a:lnTo>
                      <a:pt x="368300" y="417829"/>
                    </a:lnTo>
                    <a:lnTo>
                      <a:pt x="386298" y="420369"/>
                    </a:lnTo>
                    <a:lnTo>
                      <a:pt x="393641" y="420369"/>
                    </a:lnTo>
                    <a:lnTo>
                      <a:pt x="400281" y="417829"/>
                    </a:lnTo>
                    <a:lnTo>
                      <a:pt x="406164" y="415289"/>
                    </a:lnTo>
                    <a:lnTo>
                      <a:pt x="411237" y="411479"/>
                    </a:lnTo>
                    <a:lnTo>
                      <a:pt x="417010" y="398779"/>
                    </a:lnTo>
                    <a:lnTo>
                      <a:pt x="383855" y="398779"/>
                    </a:lnTo>
                    <a:lnTo>
                      <a:pt x="364385" y="393699"/>
                    </a:lnTo>
                    <a:lnTo>
                      <a:pt x="348472" y="386079"/>
                    </a:lnTo>
                    <a:close/>
                  </a:path>
                  <a:path w="481964" h="481329">
                    <a:moveTo>
                      <a:pt x="361382" y="306069"/>
                    </a:moveTo>
                    <a:lnTo>
                      <a:pt x="120401" y="306069"/>
                    </a:lnTo>
                    <a:lnTo>
                      <a:pt x="144772" y="308609"/>
                    </a:lnTo>
                    <a:lnTo>
                      <a:pt x="157382" y="311149"/>
                    </a:lnTo>
                    <a:lnTo>
                      <a:pt x="170222" y="312419"/>
                    </a:lnTo>
                    <a:lnTo>
                      <a:pt x="171446" y="325119"/>
                    </a:lnTo>
                    <a:lnTo>
                      <a:pt x="172876" y="337819"/>
                    </a:lnTo>
                    <a:lnTo>
                      <a:pt x="176356" y="361949"/>
                    </a:lnTo>
                    <a:lnTo>
                      <a:pt x="143949" y="380999"/>
                    </a:lnTo>
                    <a:lnTo>
                      <a:pt x="117420" y="393699"/>
                    </a:lnTo>
                    <a:lnTo>
                      <a:pt x="97942" y="398779"/>
                    </a:lnTo>
                    <a:lnTo>
                      <a:pt x="158919" y="398779"/>
                    </a:lnTo>
                    <a:lnTo>
                      <a:pt x="180929" y="386079"/>
                    </a:lnTo>
                    <a:lnTo>
                      <a:pt x="204725" y="386079"/>
                    </a:lnTo>
                    <a:lnTo>
                      <a:pt x="201354" y="372109"/>
                    </a:lnTo>
                    <a:lnTo>
                      <a:pt x="234285" y="346709"/>
                    </a:lnTo>
                    <a:lnTo>
                      <a:pt x="197137" y="346709"/>
                    </a:lnTo>
                    <a:lnTo>
                      <a:pt x="196034" y="339089"/>
                    </a:lnTo>
                    <a:lnTo>
                      <a:pt x="195017" y="330199"/>
                    </a:lnTo>
                    <a:lnTo>
                      <a:pt x="194085" y="322579"/>
                    </a:lnTo>
                    <a:lnTo>
                      <a:pt x="193239" y="313689"/>
                    </a:lnTo>
                    <a:lnTo>
                      <a:pt x="311451" y="313689"/>
                    </a:lnTo>
                    <a:lnTo>
                      <a:pt x="311573" y="312419"/>
                    </a:lnTo>
                    <a:lnTo>
                      <a:pt x="324411" y="311149"/>
                    </a:lnTo>
                    <a:lnTo>
                      <a:pt x="337016" y="308609"/>
                    </a:lnTo>
                    <a:lnTo>
                      <a:pt x="361382" y="306069"/>
                    </a:lnTo>
                    <a:close/>
                  </a:path>
                  <a:path w="481964" h="481329">
                    <a:moveTo>
                      <a:pt x="388487" y="306069"/>
                    </a:moveTo>
                    <a:lnTo>
                      <a:pt x="361382" y="306069"/>
                    </a:lnTo>
                    <a:lnTo>
                      <a:pt x="381226" y="337819"/>
                    </a:lnTo>
                    <a:lnTo>
                      <a:pt x="393448" y="364489"/>
                    </a:lnTo>
                    <a:lnTo>
                      <a:pt x="398065" y="383539"/>
                    </a:lnTo>
                    <a:lnTo>
                      <a:pt x="395097" y="394969"/>
                    </a:lnTo>
                    <a:lnTo>
                      <a:pt x="383855" y="398779"/>
                    </a:lnTo>
                    <a:lnTo>
                      <a:pt x="417010" y="398779"/>
                    </a:lnTo>
                    <a:lnTo>
                      <a:pt x="419896" y="392429"/>
                    </a:lnTo>
                    <a:lnTo>
                      <a:pt x="417509" y="367029"/>
                    </a:lnTo>
                    <a:lnTo>
                      <a:pt x="405585" y="336549"/>
                    </a:lnTo>
                    <a:lnTo>
                      <a:pt x="388487" y="306069"/>
                    </a:lnTo>
                    <a:close/>
                  </a:path>
                  <a:path w="481964" h="481329">
                    <a:moveTo>
                      <a:pt x="271133" y="313689"/>
                    </a:moveTo>
                    <a:lnTo>
                      <a:pt x="210655" y="313689"/>
                    </a:lnTo>
                    <a:lnTo>
                      <a:pt x="214918" y="318769"/>
                    </a:lnTo>
                    <a:lnTo>
                      <a:pt x="223466" y="326389"/>
                    </a:lnTo>
                    <a:lnTo>
                      <a:pt x="216730" y="331469"/>
                    </a:lnTo>
                    <a:lnTo>
                      <a:pt x="210096" y="336549"/>
                    </a:lnTo>
                    <a:lnTo>
                      <a:pt x="203565" y="341629"/>
                    </a:lnTo>
                    <a:lnTo>
                      <a:pt x="197137" y="346709"/>
                    </a:lnTo>
                    <a:lnTo>
                      <a:pt x="234285" y="346709"/>
                    </a:lnTo>
                    <a:lnTo>
                      <a:pt x="240905" y="341629"/>
                    </a:lnTo>
                    <a:lnTo>
                      <a:pt x="278244" y="341629"/>
                    </a:lnTo>
                    <a:lnTo>
                      <a:pt x="271708" y="336549"/>
                    </a:lnTo>
                    <a:lnTo>
                      <a:pt x="265061" y="331469"/>
                    </a:lnTo>
                    <a:lnTo>
                      <a:pt x="258299" y="326389"/>
                    </a:lnTo>
                    <a:lnTo>
                      <a:pt x="266870" y="318769"/>
                    </a:lnTo>
                    <a:lnTo>
                      <a:pt x="271133" y="313689"/>
                    </a:lnTo>
                    <a:close/>
                  </a:path>
                  <a:path w="481964" h="481329">
                    <a:moveTo>
                      <a:pt x="311451" y="313689"/>
                    </a:moveTo>
                    <a:lnTo>
                      <a:pt x="288549" y="313689"/>
                    </a:lnTo>
                    <a:lnTo>
                      <a:pt x="287713" y="322579"/>
                    </a:lnTo>
                    <a:lnTo>
                      <a:pt x="286782" y="330199"/>
                    </a:lnTo>
                    <a:lnTo>
                      <a:pt x="285766" y="339089"/>
                    </a:lnTo>
                    <a:lnTo>
                      <a:pt x="284674" y="346709"/>
                    </a:lnTo>
                    <a:lnTo>
                      <a:pt x="307652" y="346709"/>
                    </a:lnTo>
                    <a:lnTo>
                      <a:pt x="308929" y="337819"/>
                    </a:lnTo>
                    <a:lnTo>
                      <a:pt x="310355" y="325119"/>
                    </a:lnTo>
                    <a:lnTo>
                      <a:pt x="311451" y="313689"/>
                    </a:lnTo>
                    <a:close/>
                  </a:path>
                  <a:path w="481964" h="481329">
                    <a:moveTo>
                      <a:pt x="419613" y="190499"/>
                    </a:moveTo>
                    <a:lnTo>
                      <a:pt x="261923" y="190499"/>
                    </a:lnTo>
                    <a:lnTo>
                      <a:pt x="271839" y="200659"/>
                    </a:lnTo>
                    <a:lnTo>
                      <a:pt x="281938" y="210819"/>
                    </a:lnTo>
                    <a:lnTo>
                      <a:pt x="286748" y="214629"/>
                    </a:lnTo>
                    <a:lnTo>
                      <a:pt x="291467" y="219709"/>
                    </a:lnTo>
                    <a:lnTo>
                      <a:pt x="291709" y="231139"/>
                    </a:lnTo>
                    <a:lnTo>
                      <a:pt x="291704" y="251459"/>
                    </a:lnTo>
                    <a:lnTo>
                      <a:pt x="291467" y="261619"/>
                    </a:lnTo>
                    <a:lnTo>
                      <a:pt x="281915" y="271779"/>
                    </a:lnTo>
                    <a:lnTo>
                      <a:pt x="271817" y="281939"/>
                    </a:lnTo>
                    <a:lnTo>
                      <a:pt x="261832" y="292099"/>
                    </a:lnTo>
                    <a:lnTo>
                      <a:pt x="419605" y="292099"/>
                    </a:lnTo>
                    <a:lnTo>
                      <a:pt x="424457" y="290829"/>
                    </a:lnTo>
                    <a:lnTo>
                      <a:pt x="429988" y="288289"/>
                    </a:lnTo>
                    <a:lnTo>
                      <a:pt x="313237" y="288289"/>
                    </a:lnTo>
                    <a:lnTo>
                      <a:pt x="313556" y="283209"/>
                    </a:lnTo>
                    <a:lnTo>
                      <a:pt x="314035" y="271779"/>
                    </a:lnTo>
                    <a:lnTo>
                      <a:pt x="317979" y="266699"/>
                    </a:lnTo>
                    <a:lnTo>
                      <a:pt x="321899" y="262889"/>
                    </a:lnTo>
                    <a:lnTo>
                      <a:pt x="325729" y="259079"/>
                    </a:lnTo>
                    <a:lnTo>
                      <a:pt x="354937" y="259079"/>
                    </a:lnTo>
                    <a:lnTo>
                      <a:pt x="349025" y="251459"/>
                    </a:lnTo>
                    <a:lnTo>
                      <a:pt x="340820" y="241299"/>
                    </a:lnTo>
                    <a:lnTo>
                      <a:pt x="349024" y="231139"/>
                    </a:lnTo>
                    <a:lnTo>
                      <a:pt x="354935" y="223519"/>
                    </a:lnTo>
                    <a:lnTo>
                      <a:pt x="325729" y="223519"/>
                    </a:lnTo>
                    <a:lnTo>
                      <a:pt x="321899" y="219709"/>
                    </a:lnTo>
                    <a:lnTo>
                      <a:pt x="314035" y="210819"/>
                    </a:lnTo>
                    <a:lnTo>
                      <a:pt x="313556" y="199389"/>
                    </a:lnTo>
                    <a:lnTo>
                      <a:pt x="313237" y="193039"/>
                    </a:lnTo>
                    <a:lnTo>
                      <a:pt x="427232" y="193039"/>
                    </a:lnTo>
                    <a:lnTo>
                      <a:pt x="424467" y="191769"/>
                    </a:lnTo>
                    <a:lnTo>
                      <a:pt x="419613" y="190499"/>
                    </a:lnTo>
                    <a:close/>
                  </a:path>
                  <a:path w="481964" h="481329">
                    <a:moveTo>
                      <a:pt x="190269" y="259079"/>
                    </a:moveTo>
                    <a:lnTo>
                      <a:pt x="156068" y="259079"/>
                    </a:lnTo>
                    <a:lnTo>
                      <a:pt x="159895" y="262889"/>
                    </a:lnTo>
                    <a:lnTo>
                      <a:pt x="163816" y="266699"/>
                    </a:lnTo>
                    <a:lnTo>
                      <a:pt x="167764" y="271779"/>
                    </a:lnTo>
                    <a:lnTo>
                      <a:pt x="168248" y="283209"/>
                    </a:lnTo>
                    <a:lnTo>
                      <a:pt x="168576" y="288289"/>
                    </a:lnTo>
                    <a:lnTo>
                      <a:pt x="216220" y="288289"/>
                    </a:lnTo>
                    <a:lnTo>
                      <a:pt x="209994" y="281939"/>
                    </a:lnTo>
                    <a:lnTo>
                      <a:pt x="199872" y="271779"/>
                    </a:lnTo>
                    <a:lnTo>
                      <a:pt x="195063" y="266699"/>
                    </a:lnTo>
                    <a:lnTo>
                      <a:pt x="190337" y="261619"/>
                    </a:lnTo>
                    <a:lnTo>
                      <a:pt x="190269" y="259079"/>
                    </a:lnTo>
                    <a:close/>
                  </a:path>
                  <a:path w="481964" h="481329">
                    <a:moveTo>
                      <a:pt x="354937" y="259079"/>
                    </a:moveTo>
                    <a:lnTo>
                      <a:pt x="325729" y="259079"/>
                    </a:lnTo>
                    <a:lnTo>
                      <a:pt x="331277" y="265429"/>
                    </a:lnTo>
                    <a:lnTo>
                      <a:pt x="336600" y="271779"/>
                    </a:lnTo>
                    <a:lnTo>
                      <a:pt x="341697" y="278129"/>
                    </a:lnTo>
                    <a:lnTo>
                      <a:pt x="346565" y="284479"/>
                    </a:lnTo>
                    <a:lnTo>
                      <a:pt x="321923" y="288289"/>
                    </a:lnTo>
                    <a:lnTo>
                      <a:pt x="429988" y="288289"/>
                    </a:lnTo>
                    <a:lnTo>
                      <a:pt x="446579" y="280669"/>
                    </a:lnTo>
                    <a:lnTo>
                      <a:pt x="371663" y="280669"/>
                    </a:lnTo>
                    <a:lnTo>
                      <a:pt x="364459" y="270509"/>
                    </a:lnTo>
                    <a:lnTo>
                      <a:pt x="356908" y="261619"/>
                    </a:lnTo>
                    <a:lnTo>
                      <a:pt x="354937" y="259079"/>
                    </a:lnTo>
                    <a:close/>
                  </a:path>
                  <a:path w="481964" h="481329">
                    <a:moveTo>
                      <a:pt x="138474" y="201929"/>
                    </a:moveTo>
                    <a:lnTo>
                      <a:pt x="110136" y="201929"/>
                    </a:lnTo>
                    <a:lnTo>
                      <a:pt x="117336" y="210819"/>
                    </a:lnTo>
                    <a:lnTo>
                      <a:pt x="124885" y="220979"/>
                    </a:lnTo>
                    <a:lnTo>
                      <a:pt x="132771" y="231139"/>
                    </a:lnTo>
                    <a:lnTo>
                      <a:pt x="140981" y="241299"/>
                    </a:lnTo>
                    <a:lnTo>
                      <a:pt x="132769" y="251459"/>
                    </a:lnTo>
                    <a:lnTo>
                      <a:pt x="124881" y="261619"/>
                    </a:lnTo>
                    <a:lnTo>
                      <a:pt x="117331" y="270509"/>
                    </a:lnTo>
                    <a:lnTo>
                      <a:pt x="110132" y="280669"/>
                    </a:lnTo>
                    <a:lnTo>
                      <a:pt x="138159" y="280669"/>
                    </a:lnTo>
                    <a:lnTo>
                      <a:pt x="140111" y="278129"/>
                    </a:lnTo>
                    <a:lnTo>
                      <a:pt x="145210" y="271779"/>
                    </a:lnTo>
                    <a:lnTo>
                      <a:pt x="150529" y="265429"/>
                    </a:lnTo>
                    <a:lnTo>
                      <a:pt x="156068" y="259079"/>
                    </a:lnTo>
                    <a:lnTo>
                      <a:pt x="190269" y="259079"/>
                    </a:lnTo>
                    <a:lnTo>
                      <a:pt x="190166" y="255269"/>
                    </a:lnTo>
                    <a:lnTo>
                      <a:pt x="190089" y="251459"/>
                    </a:lnTo>
                    <a:lnTo>
                      <a:pt x="190093" y="231139"/>
                    </a:lnTo>
                    <a:lnTo>
                      <a:pt x="190255" y="223519"/>
                    </a:lnTo>
                    <a:lnTo>
                      <a:pt x="156063" y="223519"/>
                    </a:lnTo>
                    <a:lnTo>
                      <a:pt x="150518" y="217169"/>
                    </a:lnTo>
                    <a:lnTo>
                      <a:pt x="145196" y="210819"/>
                    </a:lnTo>
                    <a:lnTo>
                      <a:pt x="140099" y="204469"/>
                    </a:lnTo>
                    <a:lnTo>
                      <a:pt x="138474" y="201929"/>
                    </a:lnTo>
                    <a:close/>
                  </a:path>
                  <a:path w="481964" h="481329">
                    <a:moveTo>
                      <a:pt x="446587" y="201929"/>
                    </a:moveTo>
                    <a:lnTo>
                      <a:pt x="371640" y="201929"/>
                    </a:lnTo>
                    <a:lnTo>
                      <a:pt x="408626" y="210819"/>
                    </a:lnTo>
                    <a:lnTo>
                      <a:pt x="436053" y="220979"/>
                    </a:lnTo>
                    <a:lnTo>
                      <a:pt x="453106" y="231139"/>
                    </a:lnTo>
                    <a:lnTo>
                      <a:pt x="458972" y="241299"/>
                    </a:lnTo>
                    <a:lnTo>
                      <a:pt x="453107" y="251459"/>
                    </a:lnTo>
                    <a:lnTo>
                      <a:pt x="436056" y="261619"/>
                    </a:lnTo>
                    <a:lnTo>
                      <a:pt x="408636" y="271779"/>
                    </a:lnTo>
                    <a:lnTo>
                      <a:pt x="371663" y="280669"/>
                    </a:lnTo>
                    <a:lnTo>
                      <a:pt x="446579" y="280669"/>
                    </a:lnTo>
                    <a:lnTo>
                      <a:pt x="454874" y="276859"/>
                    </a:lnTo>
                    <a:lnTo>
                      <a:pt x="474717" y="260349"/>
                    </a:lnTo>
                    <a:lnTo>
                      <a:pt x="481813" y="241299"/>
                    </a:lnTo>
                    <a:lnTo>
                      <a:pt x="474720" y="222249"/>
                    </a:lnTo>
                    <a:lnTo>
                      <a:pt x="454883" y="205739"/>
                    </a:lnTo>
                    <a:lnTo>
                      <a:pt x="446587" y="201929"/>
                    </a:lnTo>
                    <a:close/>
                  </a:path>
                  <a:path w="481964" h="481329">
                    <a:moveTo>
                      <a:pt x="217408" y="193039"/>
                    </a:moveTo>
                    <a:lnTo>
                      <a:pt x="168564" y="193039"/>
                    </a:lnTo>
                    <a:lnTo>
                      <a:pt x="168241" y="199389"/>
                    </a:lnTo>
                    <a:lnTo>
                      <a:pt x="167764" y="210819"/>
                    </a:lnTo>
                    <a:lnTo>
                      <a:pt x="163816" y="214629"/>
                    </a:lnTo>
                    <a:lnTo>
                      <a:pt x="159895" y="219709"/>
                    </a:lnTo>
                    <a:lnTo>
                      <a:pt x="156063" y="223519"/>
                    </a:lnTo>
                    <a:lnTo>
                      <a:pt x="190255" y="223519"/>
                    </a:lnTo>
                    <a:lnTo>
                      <a:pt x="190337" y="219709"/>
                    </a:lnTo>
                    <a:lnTo>
                      <a:pt x="195063" y="214629"/>
                    </a:lnTo>
                    <a:lnTo>
                      <a:pt x="199872" y="210819"/>
                    </a:lnTo>
                    <a:lnTo>
                      <a:pt x="209971" y="200659"/>
                    </a:lnTo>
                    <a:lnTo>
                      <a:pt x="217408" y="193039"/>
                    </a:lnTo>
                    <a:close/>
                  </a:path>
                  <a:path w="481964" h="481329">
                    <a:moveTo>
                      <a:pt x="427232" y="193039"/>
                    </a:moveTo>
                    <a:lnTo>
                      <a:pt x="313237" y="193039"/>
                    </a:lnTo>
                    <a:lnTo>
                      <a:pt x="338575" y="196849"/>
                    </a:lnTo>
                    <a:lnTo>
                      <a:pt x="346565" y="196849"/>
                    </a:lnTo>
                    <a:lnTo>
                      <a:pt x="341674" y="204469"/>
                    </a:lnTo>
                    <a:lnTo>
                      <a:pt x="336574" y="210819"/>
                    </a:lnTo>
                    <a:lnTo>
                      <a:pt x="331261" y="217169"/>
                    </a:lnTo>
                    <a:lnTo>
                      <a:pt x="325729" y="223519"/>
                    </a:lnTo>
                    <a:lnTo>
                      <a:pt x="354935" y="223519"/>
                    </a:lnTo>
                    <a:lnTo>
                      <a:pt x="356906" y="220979"/>
                    </a:lnTo>
                    <a:lnTo>
                      <a:pt x="364449" y="210819"/>
                    </a:lnTo>
                    <a:lnTo>
                      <a:pt x="371640" y="201929"/>
                    </a:lnTo>
                    <a:lnTo>
                      <a:pt x="446587" y="201929"/>
                    </a:lnTo>
                    <a:lnTo>
                      <a:pt x="427232" y="193039"/>
                    </a:lnTo>
                    <a:close/>
                  </a:path>
                  <a:path w="481964" h="481329">
                    <a:moveTo>
                      <a:pt x="159135" y="83819"/>
                    </a:moveTo>
                    <a:lnTo>
                      <a:pt x="96303" y="83819"/>
                    </a:lnTo>
                    <a:lnTo>
                      <a:pt x="110119" y="86359"/>
                    </a:lnTo>
                    <a:lnTo>
                      <a:pt x="128430" y="92709"/>
                    </a:lnTo>
                    <a:lnTo>
                      <a:pt x="150687" y="104139"/>
                    </a:lnTo>
                    <a:lnTo>
                      <a:pt x="176340" y="120649"/>
                    </a:lnTo>
                    <a:lnTo>
                      <a:pt x="172858" y="144779"/>
                    </a:lnTo>
                    <a:lnTo>
                      <a:pt x="171428" y="157479"/>
                    </a:lnTo>
                    <a:lnTo>
                      <a:pt x="170206" y="170179"/>
                    </a:lnTo>
                    <a:lnTo>
                      <a:pt x="144779" y="172719"/>
                    </a:lnTo>
                    <a:lnTo>
                      <a:pt x="132435" y="175259"/>
                    </a:lnTo>
                    <a:lnTo>
                      <a:pt x="120394" y="176529"/>
                    </a:lnTo>
                    <a:lnTo>
                      <a:pt x="361382" y="176529"/>
                    </a:lnTo>
                    <a:lnTo>
                      <a:pt x="349352" y="175259"/>
                    </a:lnTo>
                    <a:lnTo>
                      <a:pt x="337016" y="172719"/>
                    </a:lnTo>
                    <a:lnTo>
                      <a:pt x="311573" y="170179"/>
                    </a:lnTo>
                    <a:lnTo>
                      <a:pt x="311451" y="168909"/>
                    </a:lnTo>
                    <a:lnTo>
                      <a:pt x="193239" y="168909"/>
                    </a:lnTo>
                    <a:lnTo>
                      <a:pt x="194088" y="160019"/>
                    </a:lnTo>
                    <a:lnTo>
                      <a:pt x="195025" y="151129"/>
                    </a:lnTo>
                    <a:lnTo>
                      <a:pt x="196044" y="143509"/>
                    </a:lnTo>
                    <a:lnTo>
                      <a:pt x="197137" y="135889"/>
                    </a:lnTo>
                    <a:lnTo>
                      <a:pt x="234281" y="135889"/>
                    </a:lnTo>
                    <a:lnTo>
                      <a:pt x="201331" y="110489"/>
                    </a:lnTo>
                    <a:lnTo>
                      <a:pt x="204707" y="96519"/>
                    </a:lnTo>
                    <a:lnTo>
                      <a:pt x="180972" y="96519"/>
                    </a:lnTo>
                    <a:lnTo>
                      <a:pt x="159135" y="83819"/>
                    </a:lnTo>
                    <a:close/>
                  </a:path>
                  <a:path w="481964" h="481329">
                    <a:moveTo>
                      <a:pt x="417038" y="83819"/>
                    </a:moveTo>
                    <a:lnTo>
                      <a:pt x="389832" y="83819"/>
                    </a:lnTo>
                    <a:lnTo>
                      <a:pt x="393091" y="85089"/>
                    </a:lnTo>
                    <a:lnTo>
                      <a:pt x="395097" y="87629"/>
                    </a:lnTo>
                    <a:lnTo>
                      <a:pt x="398052" y="97789"/>
                    </a:lnTo>
                    <a:lnTo>
                      <a:pt x="393430" y="118109"/>
                    </a:lnTo>
                    <a:lnTo>
                      <a:pt x="381214" y="144779"/>
                    </a:lnTo>
                    <a:lnTo>
                      <a:pt x="361382" y="176529"/>
                    </a:lnTo>
                    <a:lnTo>
                      <a:pt x="388487" y="176529"/>
                    </a:lnTo>
                    <a:lnTo>
                      <a:pt x="405586" y="146049"/>
                    </a:lnTo>
                    <a:lnTo>
                      <a:pt x="417514" y="115569"/>
                    </a:lnTo>
                    <a:lnTo>
                      <a:pt x="419915" y="90169"/>
                    </a:lnTo>
                    <a:lnTo>
                      <a:pt x="417038" y="83819"/>
                    </a:lnTo>
                    <a:close/>
                  </a:path>
                  <a:path w="481964" h="481329">
                    <a:moveTo>
                      <a:pt x="276969" y="167639"/>
                    </a:moveTo>
                    <a:lnTo>
                      <a:pt x="204842" y="167639"/>
                    </a:lnTo>
                    <a:lnTo>
                      <a:pt x="199029" y="168909"/>
                    </a:lnTo>
                    <a:lnTo>
                      <a:pt x="282782" y="168909"/>
                    </a:lnTo>
                    <a:lnTo>
                      <a:pt x="276969" y="167639"/>
                    </a:lnTo>
                    <a:close/>
                  </a:path>
                  <a:path w="481964" h="481329">
                    <a:moveTo>
                      <a:pt x="307778" y="135889"/>
                    </a:moveTo>
                    <a:lnTo>
                      <a:pt x="284674" y="135889"/>
                    </a:lnTo>
                    <a:lnTo>
                      <a:pt x="285764" y="143509"/>
                    </a:lnTo>
                    <a:lnTo>
                      <a:pt x="286777" y="151129"/>
                    </a:lnTo>
                    <a:lnTo>
                      <a:pt x="287713" y="160019"/>
                    </a:lnTo>
                    <a:lnTo>
                      <a:pt x="288572" y="168909"/>
                    </a:lnTo>
                    <a:lnTo>
                      <a:pt x="311451" y="168909"/>
                    </a:lnTo>
                    <a:lnTo>
                      <a:pt x="310355" y="157479"/>
                    </a:lnTo>
                    <a:lnTo>
                      <a:pt x="308926" y="144779"/>
                    </a:lnTo>
                    <a:lnTo>
                      <a:pt x="307778" y="135889"/>
                    </a:lnTo>
                    <a:close/>
                  </a:path>
                  <a:path w="481964" h="481329">
                    <a:moveTo>
                      <a:pt x="234281" y="135889"/>
                    </a:moveTo>
                    <a:lnTo>
                      <a:pt x="197137" y="135889"/>
                    </a:lnTo>
                    <a:lnTo>
                      <a:pt x="203553" y="140969"/>
                    </a:lnTo>
                    <a:lnTo>
                      <a:pt x="210079" y="146049"/>
                    </a:lnTo>
                    <a:lnTo>
                      <a:pt x="216717" y="151129"/>
                    </a:lnTo>
                    <a:lnTo>
                      <a:pt x="223466" y="156209"/>
                    </a:lnTo>
                    <a:lnTo>
                      <a:pt x="210678" y="167639"/>
                    </a:lnTo>
                    <a:lnTo>
                      <a:pt x="271110" y="167639"/>
                    </a:lnTo>
                    <a:lnTo>
                      <a:pt x="258344" y="156209"/>
                    </a:lnTo>
                    <a:lnTo>
                      <a:pt x="265080" y="151129"/>
                    </a:lnTo>
                    <a:lnTo>
                      <a:pt x="271714" y="146049"/>
                    </a:lnTo>
                    <a:lnTo>
                      <a:pt x="278245" y="140969"/>
                    </a:lnTo>
                    <a:lnTo>
                      <a:pt x="240905" y="140969"/>
                    </a:lnTo>
                    <a:lnTo>
                      <a:pt x="234281" y="135889"/>
                    </a:lnTo>
                    <a:close/>
                  </a:path>
                  <a:path w="481964" h="481329">
                    <a:moveTo>
                      <a:pt x="273452" y="22859"/>
                    </a:moveTo>
                    <a:lnTo>
                      <a:pt x="240905" y="22859"/>
                    </a:lnTo>
                    <a:lnTo>
                      <a:pt x="250945" y="29209"/>
                    </a:lnTo>
                    <a:lnTo>
                      <a:pt x="261453" y="45719"/>
                    </a:lnTo>
                    <a:lnTo>
                      <a:pt x="271580" y="73659"/>
                    </a:lnTo>
                    <a:lnTo>
                      <a:pt x="280479" y="110489"/>
                    </a:lnTo>
                    <a:lnTo>
                      <a:pt x="240905" y="140969"/>
                    </a:lnTo>
                    <a:lnTo>
                      <a:pt x="278245" y="140969"/>
                    </a:lnTo>
                    <a:lnTo>
                      <a:pt x="284674" y="135889"/>
                    </a:lnTo>
                    <a:lnTo>
                      <a:pt x="307778" y="135889"/>
                    </a:lnTo>
                    <a:lnTo>
                      <a:pt x="307287" y="132079"/>
                    </a:lnTo>
                    <a:lnTo>
                      <a:pt x="305441" y="120649"/>
                    </a:lnTo>
                    <a:lnTo>
                      <a:pt x="331093" y="104139"/>
                    </a:lnTo>
                    <a:lnTo>
                      <a:pt x="345931" y="96519"/>
                    </a:lnTo>
                    <a:lnTo>
                      <a:pt x="300904" y="96519"/>
                    </a:lnTo>
                    <a:lnTo>
                      <a:pt x="290302" y="57149"/>
                    </a:lnTo>
                    <a:lnTo>
                      <a:pt x="276746" y="26669"/>
                    </a:lnTo>
                    <a:lnTo>
                      <a:pt x="273452" y="22859"/>
                    </a:lnTo>
                    <a:close/>
                  </a:path>
                  <a:path w="481964" h="481329">
                    <a:moveTo>
                      <a:pt x="240928" y="0"/>
                    </a:moveTo>
                    <a:lnTo>
                      <a:pt x="221584" y="7619"/>
                    </a:lnTo>
                    <a:lnTo>
                      <a:pt x="205121" y="26669"/>
                    </a:lnTo>
                    <a:lnTo>
                      <a:pt x="191572" y="57149"/>
                    </a:lnTo>
                    <a:lnTo>
                      <a:pt x="180972" y="96519"/>
                    </a:lnTo>
                    <a:lnTo>
                      <a:pt x="204707" y="96519"/>
                    </a:lnTo>
                    <a:lnTo>
                      <a:pt x="210230" y="73659"/>
                    </a:lnTo>
                    <a:lnTo>
                      <a:pt x="220358" y="45719"/>
                    </a:lnTo>
                    <a:lnTo>
                      <a:pt x="230865" y="29209"/>
                    </a:lnTo>
                    <a:lnTo>
                      <a:pt x="240905" y="22859"/>
                    </a:lnTo>
                    <a:lnTo>
                      <a:pt x="273452" y="22859"/>
                    </a:lnTo>
                    <a:lnTo>
                      <a:pt x="260275" y="7619"/>
                    </a:lnTo>
                    <a:lnTo>
                      <a:pt x="240928" y="0"/>
                    </a:lnTo>
                    <a:close/>
                  </a:path>
                  <a:path w="481964" h="481329">
                    <a:moveTo>
                      <a:pt x="392603" y="62229"/>
                    </a:moveTo>
                    <a:lnTo>
                      <a:pt x="366941" y="64769"/>
                    </a:lnTo>
                    <a:lnTo>
                      <a:pt x="335856" y="76199"/>
                    </a:lnTo>
                    <a:lnTo>
                      <a:pt x="300904" y="96519"/>
                    </a:lnTo>
                    <a:lnTo>
                      <a:pt x="345931" y="96519"/>
                    </a:lnTo>
                    <a:lnTo>
                      <a:pt x="353349" y="92709"/>
                    </a:lnTo>
                    <a:lnTo>
                      <a:pt x="371661" y="86359"/>
                    </a:lnTo>
                    <a:lnTo>
                      <a:pt x="385477" y="83819"/>
                    </a:lnTo>
                    <a:lnTo>
                      <a:pt x="417038" y="83819"/>
                    </a:lnTo>
                    <a:lnTo>
                      <a:pt x="411283" y="71119"/>
                    </a:lnTo>
                    <a:lnTo>
                      <a:pt x="392603" y="62229"/>
                    </a:lnTo>
                    <a:close/>
                  </a:path>
                </a:pathLst>
              </a:custGeom>
              <a:solidFill>
                <a:srgbClr val="007D96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</p:grpSp>
        <p:sp>
          <p:nvSpPr>
            <p:cNvPr id="47" name="object 18">
              <a:extLst>
                <a:ext uri="{FF2B5EF4-FFF2-40B4-BE49-F238E27FC236}">
                  <a16:creationId xmlns:a16="http://schemas.microsoft.com/office/drawing/2014/main" id="{FBD2F601-C14F-8A10-0AF6-27B7AC4ADBB4}"/>
                </a:ext>
              </a:extLst>
            </p:cNvPr>
            <p:cNvSpPr/>
            <p:nvPr/>
          </p:nvSpPr>
          <p:spPr>
            <a:xfrm>
              <a:off x="599748" y="4391018"/>
              <a:ext cx="10574713" cy="83190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BC57134A-079B-37DE-58C9-B22924405324}"/>
                </a:ext>
              </a:extLst>
            </p:cNvPr>
            <p:cNvGrpSpPr/>
            <p:nvPr/>
          </p:nvGrpSpPr>
          <p:grpSpPr>
            <a:xfrm>
              <a:off x="966816" y="4543516"/>
              <a:ext cx="9840576" cy="583737"/>
              <a:chOff x="937491" y="6074706"/>
              <a:chExt cx="9840576" cy="583737"/>
            </a:xfrm>
          </p:grpSpPr>
          <p:sp>
            <p:nvSpPr>
              <p:cNvPr id="44" name="object 4">
                <a:extLst>
                  <a:ext uri="{FF2B5EF4-FFF2-40B4-BE49-F238E27FC236}">
                    <a16:creationId xmlns:a16="http://schemas.microsoft.com/office/drawing/2014/main" id="{A37CA478-1E6E-A6EA-1353-29908F0EBDA3}"/>
                  </a:ext>
                </a:extLst>
              </p:cNvPr>
              <p:cNvSpPr/>
              <p:nvPr/>
            </p:nvSpPr>
            <p:spPr>
              <a:xfrm>
                <a:off x="937491" y="6075096"/>
                <a:ext cx="9840576" cy="578208"/>
              </a:xfrm>
              <a:custGeom>
                <a:avLst/>
                <a:gdLst/>
                <a:ahLst/>
                <a:cxnLst/>
                <a:rect l="l" t="t" r="r" b="b"/>
                <a:pathLst>
                  <a:path w="8118475" h="949959">
                    <a:moveTo>
                      <a:pt x="0" y="949451"/>
                    </a:moveTo>
                    <a:lnTo>
                      <a:pt x="8118348" y="949451"/>
                    </a:lnTo>
                    <a:lnTo>
                      <a:pt x="8118348" y="0"/>
                    </a:lnTo>
                    <a:lnTo>
                      <a:pt x="0" y="0"/>
                    </a:lnTo>
                    <a:lnTo>
                      <a:pt x="0" y="94945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  <p:sp>
            <p:nvSpPr>
              <p:cNvPr id="45" name="object 13">
                <a:extLst>
                  <a:ext uri="{FF2B5EF4-FFF2-40B4-BE49-F238E27FC236}">
                    <a16:creationId xmlns:a16="http://schemas.microsoft.com/office/drawing/2014/main" id="{90BAD810-28BD-8B73-C45A-2A342032EFBB}"/>
                  </a:ext>
                </a:extLst>
              </p:cNvPr>
              <p:cNvSpPr txBox="1"/>
              <p:nvPr/>
            </p:nvSpPr>
            <p:spPr>
              <a:xfrm>
                <a:off x="2087169" y="6074706"/>
                <a:ext cx="8350597" cy="583737"/>
              </a:xfrm>
              <a:prstGeom prst="rect">
                <a:avLst/>
              </a:prstGeom>
            </p:spPr>
            <p:txBody>
              <a:bodyPr vert="horz" wrap="square" lIns="0" tIns="103505" rIns="0" bIns="0" rtlCol="0">
                <a:spAutoFit/>
              </a:bodyPr>
              <a:lstStyle/>
              <a:p>
                <a:pPr marL="12700" marR="5080" defTabSz="990600">
                  <a:lnSpc>
                    <a:spcPts val="1680"/>
                  </a:lnSpc>
                  <a:spcBef>
                    <a:spcPts val="100"/>
                  </a:spcBef>
                  <a:defRPr/>
                </a:pPr>
                <a:r>
                  <a:rPr lang="zh-CN" altLang="en-US" sz="1600" b="1" dirty="0">
                    <a:solidFill>
                      <a:srgbClr val="575556"/>
                    </a:solidFill>
                    <a:cs typeface="微软雅黑" panose="020B0503020204020204" pitchFamily="34" charset="-122"/>
                  </a:rPr>
                  <a:t>管理：</a:t>
                </a:r>
                <a:r>
                  <a:rPr lang="zh-CN" altLang="en-US" sz="1400" dirty="0">
                    <a:cs typeface="微软雅黑" panose="020B0503020204020204" pitchFamily="34" charset="-122"/>
                    <a:sym typeface="+mn-ea"/>
                  </a:rPr>
                  <a:t>经历企业发展的关键时点，</a:t>
                </a:r>
                <a:r>
                  <a:rPr lang="zh-CN" altLang="en-US" sz="1400" dirty="0">
                    <a:cs typeface="微软雅黑" panose="020B0503020204020204" pitchFamily="34" charset="-122"/>
                  </a:rPr>
                  <a:t>具备国际质量管理体系的本土落地经验，吸取本土器械黄埔军校级上市公司的</a:t>
                </a:r>
                <a:r>
                  <a:rPr lang="zh-CN" altLang="en-US" sz="1400" dirty="0">
                    <a:cs typeface="微软雅黑" panose="020B0503020204020204" pitchFamily="34" charset="-122"/>
                    <a:sym typeface="+mn-ea"/>
                  </a:rPr>
                  <a:t>管理</a:t>
                </a:r>
                <a:r>
                  <a:rPr lang="zh-CN" altLang="en-US" sz="1400" dirty="0">
                    <a:cs typeface="微软雅黑" panose="020B0503020204020204" pitchFamily="34" charset="-122"/>
                  </a:rPr>
                  <a:t>经验，借鉴美敦力的项目管理机制。</a:t>
                </a:r>
                <a:endParaRPr lang="zh-CN" altLang="en-US" sz="1600" dirty="0">
                  <a:cs typeface="微软雅黑" panose="020B0503020204020204" pitchFamily="34" charset="-122"/>
                </a:endParaRPr>
              </a:p>
            </p:txBody>
          </p:sp>
          <p:sp>
            <p:nvSpPr>
              <p:cNvPr id="46" name="object 23">
                <a:extLst>
                  <a:ext uri="{FF2B5EF4-FFF2-40B4-BE49-F238E27FC236}">
                    <a16:creationId xmlns:a16="http://schemas.microsoft.com/office/drawing/2014/main" id="{8EA2BB48-823A-FA33-FD4B-FBA7E32FA254}"/>
                  </a:ext>
                </a:extLst>
              </p:cNvPr>
              <p:cNvSpPr/>
              <p:nvPr/>
            </p:nvSpPr>
            <p:spPr>
              <a:xfrm>
                <a:off x="1239660" y="6143333"/>
                <a:ext cx="524933" cy="458881"/>
              </a:xfrm>
              <a:custGeom>
                <a:avLst/>
                <a:gdLst/>
                <a:ahLst/>
                <a:cxnLst/>
                <a:rect l="l" t="t" r="r" b="b"/>
                <a:pathLst>
                  <a:path w="433069" h="520065">
                    <a:moveTo>
                      <a:pt x="92310" y="47329"/>
                    </a:moveTo>
                    <a:lnTo>
                      <a:pt x="51638" y="47329"/>
                    </a:lnTo>
                    <a:lnTo>
                      <a:pt x="31538" y="51388"/>
                    </a:lnTo>
                    <a:lnTo>
                      <a:pt x="15125" y="62454"/>
                    </a:lnTo>
                    <a:lnTo>
                      <a:pt x="4058" y="78863"/>
                    </a:lnTo>
                    <a:lnTo>
                      <a:pt x="0" y="98951"/>
                    </a:lnTo>
                    <a:lnTo>
                      <a:pt x="20" y="468006"/>
                    </a:lnTo>
                    <a:lnTo>
                      <a:pt x="4059" y="487997"/>
                    </a:lnTo>
                    <a:lnTo>
                      <a:pt x="15128" y="504407"/>
                    </a:lnTo>
                    <a:lnTo>
                      <a:pt x="31549" y="515471"/>
                    </a:lnTo>
                    <a:lnTo>
                      <a:pt x="51636" y="519528"/>
                    </a:lnTo>
                    <a:lnTo>
                      <a:pt x="381133" y="519528"/>
                    </a:lnTo>
                    <a:lnTo>
                      <a:pt x="401230" y="515468"/>
                    </a:lnTo>
                    <a:lnTo>
                      <a:pt x="417642" y="504404"/>
                    </a:lnTo>
                    <a:lnTo>
                      <a:pt x="422451" y="497275"/>
                    </a:lnTo>
                    <a:lnTo>
                      <a:pt x="51638" y="497275"/>
                    </a:lnTo>
                    <a:lnTo>
                      <a:pt x="40241" y="494975"/>
                    </a:lnTo>
                    <a:lnTo>
                      <a:pt x="30934" y="488702"/>
                    </a:lnTo>
                    <a:lnTo>
                      <a:pt x="24659" y="479399"/>
                    </a:lnTo>
                    <a:lnTo>
                      <a:pt x="22358" y="468006"/>
                    </a:lnTo>
                    <a:lnTo>
                      <a:pt x="22389" y="98951"/>
                    </a:lnTo>
                    <a:lnTo>
                      <a:pt x="24675" y="87733"/>
                    </a:lnTo>
                    <a:lnTo>
                      <a:pt x="30953" y="78448"/>
                    </a:lnTo>
                    <a:lnTo>
                      <a:pt x="40254" y="72188"/>
                    </a:lnTo>
                    <a:lnTo>
                      <a:pt x="51638" y="69892"/>
                    </a:lnTo>
                    <a:lnTo>
                      <a:pt x="92310" y="69892"/>
                    </a:lnTo>
                    <a:lnTo>
                      <a:pt x="97252" y="64955"/>
                    </a:lnTo>
                    <a:lnTo>
                      <a:pt x="97361" y="52374"/>
                    </a:lnTo>
                    <a:lnTo>
                      <a:pt x="92310" y="47329"/>
                    </a:lnTo>
                    <a:close/>
                  </a:path>
                  <a:path w="433069" h="520065">
                    <a:moveTo>
                      <a:pt x="381133" y="47437"/>
                    </a:moveTo>
                    <a:lnTo>
                      <a:pt x="345980" y="47437"/>
                    </a:lnTo>
                    <a:lnTo>
                      <a:pt x="341042" y="52374"/>
                    </a:lnTo>
                    <a:lnTo>
                      <a:pt x="340934" y="64955"/>
                    </a:lnTo>
                    <a:lnTo>
                      <a:pt x="345980" y="70000"/>
                    </a:lnTo>
                    <a:lnTo>
                      <a:pt x="381069" y="70000"/>
                    </a:lnTo>
                    <a:lnTo>
                      <a:pt x="392458" y="72280"/>
                    </a:lnTo>
                    <a:lnTo>
                      <a:pt x="410352" y="468006"/>
                    </a:lnTo>
                    <a:lnTo>
                      <a:pt x="408052" y="479399"/>
                    </a:lnTo>
                    <a:lnTo>
                      <a:pt x="401778" y="488702"/>
                    </a:lnTo>
                    <a:lnTo>
                      <a:pt x="392470" y="494975"/>
                    </a:lnTo>
                    <a:lnTo>
                      <a:pt x="381069" y="497275"/>
                    </a:lnTo>
                    <a:lnTo>
                      <a:pt x="422451" y="497275"/>
                    </a:lnTo>
                    <a:lnTo>
                      <a:pt x="428710" y="487995"/>
                    </a:lnTo>
                    <a:lnTo>
                      <a:pt x="432748" y="468006"/>
                    </a:lnTo>
                    <a:lnTo>
                      <a:pt x="432753" y="98951"/>
                    </a:lnTo>
                    <a:lnTo>
                      <a:pt x="431527" y="87857"/>
                    </a:lnTo>
                    <a:lnTo>
                      <a:pt x="427915" y="77265"/>
                    </a:lnTo>
                    <a:lnTo>
                      <a:pt x="422106" y="67696"/>
                    </a:lnTo>
                    <a:lnTo>
                      <a:pt x="414314" y="59563"/>
                    </a:lnTo>
                    <a:lnTo>
                      <a:pt x="406968" y="54362"/>
                    </a:lnTo>
                    <a:lnTo>
                      <a:pt x="398829" y="50561"/>
                    </a:lnTo>
                    <a:lnTo>
                      <a:pt x="390154" y="48229"/>
                    </a:lnTo>
                    <a:lnTo>
                      <a:pt x="381133" y="47437"/>
                    </a:lnTo>
                    <a:close/>
                  </a:path>
                  <a:path w="433069" h="520065">
                    <a:moveTo>
                      <a:pt x="338486" y="433625"/>
                    </a:moveTo>
                    <a:lnTo>
                      <a:pt x="94175" y="433625"/>
                    </a:lnTo>
                    <a:lnTo>
                      <a:pt x="91861" y="435935"/>
                    </a:lnTo>
                    <a:lnTo>
                      <a:pt x="91809" y="451963"/>
                    </a:lnTo>
                    <a:lnTo>
                      <a:pt x="94123" y="454273"/>
                    </a:lnTo>
                    <a:lnTo>
                      <a:pt x="338486" y="454273"/>
                    </a:lnTo>
                    <a:lnTo>
                      <a:pt x="340804" y="451963"/>
                    </a:lnTo>
                    <a:lnTo>
                      <a:pt x="340802" y="435935"/>
                    </a:lnTo>
                    <a:lnTo>
                      <a:pt x="338486" y="433625"/>
                    </a:lnTo>
                    <a:close/>
                  </a:path>
                  <a:path w="433069" h="520065">
                    <a:moveTo>
                      <a:pt x="305326" y="379216"/>
                    </a:moveTo>
                    <a:lnTo>
                      <a:pt x="127543" y="379216"/>
                    </a:lnTo>
                    <a:lnTo>
                      <a:pt x="125877" y="381487"/>
                    </a:lnTo>
                    <a:lnTo>
                      <a:pt x="125838" y="397593"/>
                    </a:lnTo>
                    <a:lnTo>
                      <a:pt x="127543" y="399864"/>
                    </a:lnTo>
                    <a:lnTo>
                      <a:pt x="305326" y="399864"/>
                    </a:lnTo>
                    <a:lnTo>
                      <a:pt x="306998" y="397593"/>
                    </a:lnTo>
                    <a:lnTo>
                      <a:pt x="307037" y="381487"/>
                    </a:lnTo>
                    <a:lnTo>
                      <a:pt x="305326" y="379216"/>
                    </a:lnTo>
                    <a:close/>
                  </a:path>
                  <a:path w="433069" h="520065">
                    <a:moveTo>
                      <a:pt x="337035" y="280820"/>
                    </a:moveTo>
                    <a:lnTo>
                      <a:pt x="96405" y="280820"/>
                    </a:lnTo>
                    <a:lnTo>
                      <a:pt x="96405" y="333217"/>
                    </a:lnTo>
                    <a:lnTo>
                      <a:pt x="100798" y="337608"/>
                    </a:lnTo>
                    <a:lnTo>
                      <a:pt x="327223" y="337608"/>
                    </a:lnTo>
                    <a:lnTo>
                      <a:pt x="332616" y="337580"/>
                    </a:lnTo>
                    <a:lnTo>
                      <a:pt x="337000" y="333217"/>
                    </a:lnTo>
                    <a:lnTo>
                      <a:pt x="337035" y="317990"/>
                    </a:lnTo>
                    <a:lnTo>
                      <a:pt x="115717" y="317990"/>
                    </a:lnTo>
                    <a:lnTo>
                      <a:pt x="115717" y="280884"/>
                    </a:lnTo>
                    <a:lnTo>
                      <a:pt x="337035" y="280884"/>
                    </a:lnTo>
                    <a:close/>
                  </a:path>
                  <a:path w="433069" h="520065">
                    <a:moveTo>
                      <a:pt x="337035" y="280884"/>
                    </a:moveTo>
                    <a:lnTo>
                      <a:pt x="317108" y="280884"/>
                    </a:lnTo>
                    <a:lnTo>
                      <a:pt x="317108" y="317990"/>
                    </a:lnTo>
                    <a:lnTo>
                      <a:pt x="337035" y="317990"/>
                    </a:lnTo>
                    <a:lnTo>
                      <a:pt x="337035" y="280884"/>
                    </a:lnTo>
                    <a:close/>
                  </a:path>
                  <a:path w="433069" h="520065">
                    <a:moveTo>
                      <a:pt x="217307" y="0"/>
                    </a:moveTo>
                    <a:lnTo>
                      <a:pt x="163714" y="21604"/>
                    </a:lnTo>
                    <a:lnTo>
                      <a:pt x="140395" y="77514"/>
                    </a:lnTo>
                    <a:lnTo>
                      <a:pt x="146266" y="106613"/>
                    </a:lnTo>
                    <a:lnTo>
                      <a:pt x="163454" y="132103"/>
                    </a:lnTo>
                    <a:lnTo>
                      <a:pt x="164698" y="133337"/>
                    </a:lnTo>
                    <a:lnTo>
                      <a:pt x="165980" y="134528"/>
                    </a:lnTo>
                    <a:lnTo>
                      <a:pt x="167303" y="135654"/>
                    </a:lnTo>
                    <a:lnTo>
                      <a:pt x="177338" y="146284"/>
                    </a:lnTo>
                    <a:lnTo>
                      <a:pt x="182491" y="153299"/>
                    </a:lnTo>
                    <a:lnTo>
                      <a:pt x="184390" y="159238"/>
                    </a:lnTo>
                    <a:lnTo>
                      <a:pt x="184661" y="166640"/>
                    </a:lnTo>
                    <a:lnTo>
                      <a:pt x="184505" y="174176"/>
                    </a:lnTo>
                    <a:lnTo>
                      <a:pt x="176332" y="192511"/>
                    </a:lnTo>
                    <a:lnTo>
                      <a:pt x="156055" y="208483"/>
                    </a:lnTo>
                    <a:lnTo>
                      <a:pt x="130429" y="219696"/>
                    </a:lnTo>
                    <a:lnTo>
                      <a:pt x="106011" y="223936"/>
                    </a:lnTo>
                    <a:lnTo>
                      <a:pt x="96424" y="225911"/>
                    </a:lnTo>
                    <a:lnTo>
                      <a:pt x="88606" y="231217"/>
                    </a:lnTo>
                    <a:lnTo>
                      <a:pt x="83347" y="239063"/>
                    </a:lnTo>
                    <a:lnTo>
                      <a:pt x="81432" y="248664"/>
                    </a:lnTo>
                    <a:lnTo>
                      <a:pt x="81454" y="276446"/>
                    </a:lnTo>
                    <a:lnTo>
                      <a:pt x="85825" y="280820"/>
                    </a:lnTo>
                    <a:lnTo>
                      <a:pt x="347323" y="280820"/>
                    </a:lnTo>
                    <a:lnTo>
                      <a:pt x="351698" y="276446"/>
                    </a:lnTo>
                    <a:lnTo>
                      <a:pt x="351698" y="261353"/>
                    </a:lnTo>
                    <a:lnTo>
                      <a:pt x="101054" y="261353"/>
                    </a:lnTo>
                    <a:lnTo>
                      <a:pt x="101049" y="245914"/>
                    </a:lnTo>
                    <a:lnTo>
                      <a:pt x="103209" y="243640"/>
                    </a:lnTo>
                    <a:lnTo>
                      <a:pt x="105959" y="243510"/>
                    </a:lnTo>
                    <a:lnTo>
                      <a:pt x="122113" y="241696"/>
                    </a:lnTo>
                    <a:lnTo>
                      <a:pt x="167405" y="224650"/>
                    </a:lnTo>
                    <a:lnTo>
                      <a:pt x="201765" y="187714"/>
                    </a:lnTo>
                    <a:lnTo>
                      <a:pt x="204176" y="166640"/>
                    </a:lnTo>
                    <a:lnTo>
                      <a:pt x="204718" y="159170"/>
                    </a:lnTo>
                    <a:lnTo>
                      <a:pt x="180079" y="121059"/>
                    </a:lnTo>
                    <a:lnTo>
                      <a:pt x="165992" y="103149"/>
                    </a:lnTo>
                    <a:lnTo>
                      <a:pt x="160059" y="81915"/>
                    </a:lnTo>
                    <a:lnTo>
                      <a:pt x="162523" y="60007"/>
                    </a:lnTo>
                    <a:lnTo>
                      <a:pt x="173593" y="40032"/>
                    </a:lnTo>
                    <a:lnTo>
                      <a:pt x="182450" y="31640"/>
                    </a:lnTo>
                    <a:lnTo>
                      <a:pt x="192759" y="25359"/>
                    </a:lnTo>
                    <a:lnTo>
                      <a:pt x="204152" y="21362"/>
                    </a:lnTo>
                    <a:lnTo>
                      <a:pt x="216262" y="19829"/>
                    </a:lnTo>
                    <a:lnTo>
                      <a:pt x="266385" y="19829"/>
                    </a:lnTo>
                    <a:lnTo>
                      <a:pt x="245662" y="5788"/>
                    </a:lnTo>
                    <a:lnTo>
                      <a:pt x="217307" y="0"/>
                    </a:lnTo>
                    <a:close/>
                  </a:path>
                  <a:path w="433069" h="520065">
                    <a:moveTo>
                      <a:pt x="266385" y="19829"/>
                    </a:moveTo>
                    <a:lnTo>
                      <a:pt x="216262" y="19829"/>
                    </a:lnTo>
                    <a:lnTo>
                      <a:pt x="238696" y="24879"/>
                    </a:lnTo>
                    <a:lnTo>
                      <a:pt x="256706" y="37601"/>
                    </a:lnTo>
                    <a:lnTo>
                      <a:pt x="268632" y="56145"/>
                    </a:lnTo>
                    <a:lnTo>
                      <a:pt x="272633" y="78448"/>
                    </a:lnTo>
                    <a:lnTo>
                      <a:pt x="272632" y="78863"/>
                    </a:lnTo>
                    <a:lnTo>
                      <a:pt x="252513" y="121103"/>
                    </a:lnTo>
                    <a:lnTo>
                      <a:pt x="251784" y="121731"/>
                    </a:lnTo>
                    <a:lnTo>
                      <a:pt x="239643" y="134735"/>
                    </a:lnTo>
                    <a:lnTo>
                      <a:pt x="232615" y="144502"/>
                    </a:lnTo>
                    <a:lnTo>
                      <a:pt x="229372" y="153591"/>
                    </a:lnTo>
                    <a:lnTo>
                      <a:pt x="228593" y="164475"/>
                    </a:lnTo>
                    <a:lnTo>
                      <a:pt x="228586" y="174176"/>
                    </a:lnTo>
                    <a:lnTo>
                      <a:pt x="230992" y="187822"/>
                    </a:lnTo>
                    <a:lnTo>
                      <a:pt x="265364" y="224758"/>
                    </a:lnTo>
                    <a:lnTo>
                      <a:pt x="310650" y="241795"/>
                    </a:lnTo>
                    <a:lnTo>
                      <a:pt x="329562" y="243749"/>
                    </a:lnTo>
                    <a:lnTo>
                      <a:pt x="331605" y="245914"/>
                    </a:lnTo>
                    <a:lnTo>
                      <a:pt x="331707" y="261353"/>
                    </a:lnTo>
                    <a:lnTo>
                      <a:pt x="351698" y="261353"/>
                    </a:lnTo>
                    <a:lnTo>
                      <a:pt x="351698" y="248664"/>
                    </a:lnTo>
                    <a:lnTo>
                      <a:pt x="349782" y="239063"/>
                    </a:lnTo>
                    <a:lnTo>
                      <a:pt x="344524" y="231217"/>
                    </a:lnTo>
                    <a:lnTo>
                      <a:pt x="336707" y="225911"/>
                    </a:lnTo>
                    <a:lnTo>
                      <a:pt x="327115" y="223936"/>
                    </a:lnTo>
                    <a:lnTo>
                      <a:pt x="302711" y="219694"/>
                    </a:lnTo>
                    <a:lnTo>
                      <a:pt x="277059" y="208469"/>
                    </a:lnTo>
                    <a:lnTo>
                      <a:pt x="256823" y="192556"/>
                    </a:lnTo>
                    <a:lnTo>
                      <a:pt x="248578" y="174176"/>
                    </a:lnTo>
                    <a:lnTo>
                      <a:pt x="248578" y="164475"/>
                    </a:lnTo>
                    <a:lnTo>
                      <a:pt x="248847" y="158238"/>
                    </a:lnTo>
                    <a:lnTo>
                      <a:pt x="250733" y="152936"/>
                    </a:lnTo>
                    <a:lnTo>
                      <a:pt x="255851" y="146226"/>
                    </a:lnTo>
                    <a:lnTo>
                      <a:pt x="265819" y="135762"/>
                    </a:lnTo>
                    <a:lnTo>
                      <a:pt x="284732" y="111507"/>
                    </a:lnTo>
                    <a:lnTo>
                      <a:pt x="292595" y="82884"/>
                    </a:lnTo>
                    <a:lnTo>
                      <a:pt x="289144" y="53400"/>
                    </a:lnTo>
                    <a:lnTo>
                      <a:pt x="274114" y="26563"/>
                    </a:lnTo>
                    <a:lnTo>
                      <a:pt x="272945" y="25199"/>
                    </a:lnTo>
                    <a:lnTo>
                      <a:pt x="271732" y="23878"/>
                    </a:lnTo>
                    <a:lnTo>
                      <a:pt x="270476" y="22600"/>
                    </a:lnTo>
                    <a:lnTo>
                      <a:pt x="266385" y="19829"/>
                    </a:lnTo>
                    <a:close/>
                  </a:path>
                  <a:path w="433069" h="520065">
                    <a:moveTo>
                      <a:pt x="414319" y="59520"/>
                    </a:moveTo>
                    <a:close/>
                  </a:path>
                </a:pathLst>
              </a:custGeom>
              <a:solidFill>
                <a:srgbClr val="007D96"/>
              </a:solidFill>
            </p:spPr>
            <p:txBody>
              <a:bodyPr wrap="square" lIns="0" tIns="0" rIns="0" bIns="0" rtlCol="0"/>
              <a:lstStyle/>
              <a:p>
                <a:endParaRPr sz="2000"/>
              </a:p>
            </p:txBody>
          </p:sp>
        </p:grp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76383699-B740-31BE-4CB0-C535A8D7A3F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363" y="4408647"/>
            <a:ext cx="1680417" cy="10702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FCE76FD-B702-5E5A-423A-3BF10E1535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567" y="5106001"/>
            <a:ext cx="1571602" cy="11184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AEF0375-8521-01DA-BDF4-0FDECA87626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1" t="7900" r="6011" b="7759"/>
          <a:stretch/>
        </p:blipFill>
        <p:spPr>
          <a:xfrm>
            <a:off x="3506440" y="5736937"/>
            <a:ext cx="1645516" cy="113063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04B345F-01DE-B41E-AD06-7355A228EAB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963" y="5018301"/>
            <a:ext cx="1646877" cy="112369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16FE632-4BC7-6717-004B-BBD5236292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7376" y="5223203"/>
            <a:ext cx="1101319" cy="15522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6ED89C2-8567-C57D-543D-907A94D7C8E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140" y="4119487"/>
            <a:ext cx="1680417" cy="113473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2A96748-2EF5-10BF-A87C-C8BFFFB5781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840" y="3763072"/>
            <a:ext cx="1675660" cy="111878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BF958FF-611B-8EC8-DEA1-467CE46EA8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43046" y="4387132"/>
            <a:ext cx="1675660" cy="113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8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6288405" y="2198370"/>
            <a:ext cx="2014855" cy="2154555"/>
            <a:chOff x="9903" y="3462"/>
            <a:chExt cx="3173" cy="3393"/>
          </a:xfrm>
        </p:grpSpPr>
        <p:grpSp>
          <p:nvGrpSpPr>
            <p:cNvPr id="12" name="组合 11"/>
            <p:cNvGrpSpPr/>
            <p:nvPr/>
          </p:nvGrpSpPr>
          <p:grpSpPr>
            <a:xfrm>
              <a:off x="10192" y="3462"/>
              <a:ext cx="2596" cy="2596"/>
              <a:chOff x="10164" y="3462"/>
              <a:chExt cx="2596" cy="2596"/>
            </a:xfrm>
          </p:grpSpPr>
          <p:sp>
            <p:nvSpPr>
              <p:cNvPr id="16" name="path"/>
              <p:cNvSpPr/>
              <p:nvPr/>
            </p:nvSpPr>
            <p:spPr>
              <a:xfrm>
                <a:off x="10164" y="3462"/>
                <a:ext cx="2597" cy="2597"/>
              </a:xfrm>
              <a:custGeom>
                <a:avLst/>
                <a:gdLst/>
                <a:ahLst/>
                <a:cxnLst/>
                <a:rect l="0" t="0" r="0" b="0"/>
                <a:pathLst>
                  <a:path w="2596" h="2596">
                    <a:moveTo>
                      <a:pt x="22" y="1298"/>
                    </a:moveTo>
                    <a:cubicBezTo>
                      <a:pt x="22" y="594"/>
                      <a:pt x="594" y="22"/>
                      <a:pt x="1298" y="22"/>
                    </a:cubicBezTo>
                    <a:cubicBezTo>
                      <a:pt x="2002" y="22"/>
                      <a:pt x="2574" y="594"/>
                      <a:pt x="2574" y="1298"/>
                    </a:cubicBezTo>
                    <a:cubicBezTo>
                      <a:pt x="2574" y="2002"/>
                      <a:pt x="2002" y="2574"/>
                      <a:pt x="1298" y="2574"/>
                    </a:cubicBezTo>
                    <a:cubicBezTo>
                      <a:pt x="594" y="2574"/>
                      <a:pt x="22" y="2002"/>
                      <a:pt x="22" y="1298"/>
                    </a:cubicBezTo>
                  </a:path>
                </a:pathLst>
              </a:custGeom>
              <a:noFill/>
              <a:ln w="28955" cap="flat">
                <a:solidFill>
                  <a:srgbClr val="595959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pic>
            <p:nvPicPr>
              <p:cNvPr id="19" name="picture 19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600000">
                <a:off x="10540" y="3820"/>
                <a:ext cx="1871" cy="1872"/>
              </a:xfrm>
              <a:prstGeom prst="rect">
                <a:avLst/>
              </a:prstGeom>
            </p:spPr>
          </p:pic>
        </p:grpSp>
        <p:sp>
          <p:nvSpPr>
            <p:cNvPr id="9" name="文本框 8"/>
            <p:cNvSpPr txBox="1"/>
            <p:nvPr/>
          </p:nvSpPr>
          <p:spPr>
            <a:xfrm>
              <a:off x="9903" y="6288"/>
              <a:ext cx="3173" cy="5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12700" algn="ctr" rtl="0" eaLnBrk="0">
                <a:lnSpc>
                  <a:spcPct val="97000"/>
                </a:lnSpc>
              </a:pPr>
              <a:r>
                <a:rPr lang="zh-CN" altLang="en-US" sz="1800" b="1" spc="50" dirty="0">
                  <a:solidFill>
                    <a:schemeClr val="bg1">
                      <a:lumMod val="50000"/>
                      <a:alpha val="100000"/>
                    </a:schemeClr>
                  </a:solidFill>
                  <a:cs typeface="微软雅黑" panose="020B0503020204020204" pitchFamily="34" charset="-122"/>
                  <a:sym typeface="+mn-ea"/>
                </a:rPr>
                <a:t>公司及团队介绍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649335" y="2195195"/>
            <a:ext cx="2014855" cy="2157730"/>
            <a:chOff x="13621" y="3457"/>
            <a:chExt cx="3173" cy="3398"/>
          </a:xfrm>
        </p:grpSpPr>
        <p:grpSp>
          <p:nvGrpSpPr>
            <p:cNvPr id="13" name="组合 12"/>
            <p:cNvGrpSpPr/>
            <p:nvPr/>
          </p:nvGrpSpPr>
          <p:grpSpPr>
            <a:xfrm>
              <a:off x="13910" y="3457"/>
              <a:ext cx="2596" cy="2596"/>
              <a:chOff x="13909" y="3457"/>
              <a:chExt cx="2596" cy="2596"/>
            </a:xfrm>
          </p:grpSpPr>
          <p:sp>
            <p:nvSpPr>
              <p:cNvPr id="14" name="path"/>
              <p:cNvSpPr/>
              <p:nvPr/>
            </p:nvSpPr>
            <p:spPr>
              <a:xfrm>
                <a:off x="13909" y="3457"/>
                <a:ext cx="2597" cy="2597"/>
              </a:xfrm>
              <a:custGeom>
                <a:avLst/>
                <a:gdLst/>
                <a:ahLst/>
                <a:cxnLst/>
                <a:rect l="0" t="0" r="0" b="0"/>
                <a:pathLst>
                  <a:path w="2596" h="2596">
                    <a:moveTo>
                      <a:pt x="22" y="1298"/>
                    </a:moveTo>
                    <a:cubicBezTo>
                      <a:pt x="22" y="594"/>
                      <a:pt x="594" y="22"/>
                      <a:pt x="1298" y="22"/>
                    </a:cubicBezTo>
                    <a:cubicBezTo>
                      <a:pt x="2002" y="22"/>
                      <a:pt x="2574" y="594"/>
                      <a:pt x="2574" y="1298"/>
                    </a:cubicBezTo>
                    <a:cubicBezTo>
                      <a:pt x="2574" y="2002"/>
                      <a:pt x="2002" y="2574"/>
                      <a:pt x="1298" y="2574"/>
                    </a:cubicBezTo>
                    <a:cubicBezTo>
                      <a:pt x="594" y="2574"/>
                      <a:pt x="22" y="2002"/>
                      <a:pt x="22" y="1298"/>
                    </a:cubicBezTo>
                  </a:path>
                </a:pathLst>
              </a:custGeom>
              <a:noFill/>
              <a:ln w="28955" cap="flat">
                <a:solidFill>
                  <a:srgbClr val="595959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" name="path"/>
              <p:cNvSpPr/>
              <p:nvPr/>
            </p:nvSpPr>
            <p:spPr>
              <a:xfrm>
                <a:off x="14468" y="4046"/>
                <a:ext cx="1480" cy="1418"/>
              </a:xfrm>
              <a:custGeom>
                <a:avLst/>
                <a:gdLst/>
                <a:ahLst/>
                <a:cxnLst/>
                <a:rect l="0" t="0" r="0" b="0"/>
                <a:pathLst>
                  <a:path w="1479" h="1418">
                    <a:moveTo>
                      <a:pt x="7" y="0"/>
                    </a:moveTo>
                    <a:lnTo>
                      <a:pt x="656" y="0"/>
                    </a:lnTo>
                    <a:lnTo>
                      <a:pt x="656" y="603"/>
                    </a:lnTo>
                    <a:lnTo>
                      <a:pt x="7" y="603"/>
                    </a:lnTo>
                    <a:lnTo>
                      <a:pt x="7" y="0"/>
                    </a:lnTo>
                    <a:close/>
                    <a:moveTo>
                      <a:pt x="1479" y="299"/>
                    </a:moveTo>
                    <a:lnTo>
                      <a:pt x="1171" y="18"/>
                    </a:lnTo>
                    <a:lnTo>
                      <a:pt x="869" y="304"/>
                    </a:lnTo>
                    <a:lnTo>
                      <a:pt x="1177" y="585"/>
                    </a:lnTo>
                    <a:lnTo>
                      <a:pt x="1479" y="299"/>
                    </a:lnTo>
                    <a:close/>
                    <a:moveTo>
                      <a:pt x="0" y="815"/>
                    </a:moveTo>
                    <a:lnTo>
                      <a:pt x="649" y="815"/>
                    </a:lnTo>
                    <a:lnTo>
                      <a:pt x="649" y="1418"/>
                    </a:lnTo>
                    <a:lnTo>
                      <a:pt x="0" y="1418"/>
                    </a:lnTo>
                    <a:lnTo>
                      <a:pt x="0" y="815"/>
                    </a:lnTo>
                    <a:close/>
                    <a:moveTo>
                      <a:pt x="826" y="815"/>
                    </a:moveTo>
                    <a:lnTo>
                      <a:pt x="1475" y="815"/>
                    </a:lnTo>
                    <a:lnTo>
                      <a:pt x="1475" y="1418"/>
                    </a:lnTo>
                    <a:lnTo>
                      <a:pt x="826" y="1418"/>
                    </a:lnTo>
                    <a:lnTo>
                      <a:pt x="826" y="815"/>
                    </a:lnTo>
                    <a:close/>
                  </a:path>
                </a:pathLst>
              </a:custGeom>
              <a:solidFill>
                <a:srgbClr val="595959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13621" y="6288"/>
              <a:ext cx="3173" cy="5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12700" algn="ctr" rtl="0" eaLnBrk="0">
                <a:lnSpc>
                  <a:spcPct val="97000"/>
                </a:lnSpc>
              </a:pPr>
              <a:r>
                <a:rPr lang="zh-CN" altLang="en-US" sz="1800" b="1" spc="50" dirty="0">
                  <a:solidFill>
                    <a:schemeClr val="bg1">
                      <a:lumMod val="50000"/>
                      <a:alpha val="100000"/>
                    </a:schemeClr>
                  </a:solidFill>
                  <a:cs typeface="微软雅黑" panose="020B0503020204020204" pitchFamily="34" charset="-122"/>
                  <a:sym typeface="+mn-ea"/>
                </a:rPr>
                <a:t>市场及财务预测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566228" y="3992880"/>
            <a:ext cx="2014855" cy="36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12700" algn="ctr" rtl="0" eaLnBrk="0">
              <a:lnSpc>
                <a:spcPct val="97000"/>
              </a:lnSpc>
            </a:pPr>
            <a:r>
              <a:rPr lang="zh-CN" altLang="en-US" b="1" spc="50" dirty="0">
                <a:solidFill>
                  <a:schemeClr val="bg1">
                    <a:lumMod val="50000"/>
                    <a:alpha val="100000"/>
                  </a:schemeClr>
                </a:solidFill>
                <a:cs typeface="微软雅黑" panose="020B0503020204020204" pitchFamily="34" charset="-122"/>
                <a:sym typeface="+mn-ea"/>
              </a:rPr>
              <a:t>公司概况</a:t>
            </a:r>
            <a:endParaRPr lang="zh-CN" altLang="en-US" sz="1800" b="1" spc="50" dirty="0">
              <a:solidFill>
                <a:schemeClr val="bg1">
                  <a:lumMod val="50000"/>
                  <a:alpha val="100000"/>
                </a:schemeClr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path"/>
          <p:cNvSpPr/>
          <p:nvPr/>
        </p:nvSpPr>
        <p:spPr>
          <a:xfrm>
            <a:off x="1749108" y="2198370"/>
            <a:ext cx="1649095" cy="1649095"/>
          </a:xfrm>
          <a:custGeom>
            <a:avLst/>
            <a:gdLst/>
            <a:ahLst/>
            <a:cxnLst/>
            <a:rect l="0" t="0" r="0" b="0"/>
            <a:pathLst>
              <a:path w="2596" h="2596">
                <a:moveTo>
                  <a:pt x="22" y="1298"/>
                </a:moveTo>
                <a:cubicBezTo>
                  <a:pt x="22" y="594"/>
                  <a:pt x="593" y="22"/>
                  <a:pt x="1298" y="22"/>
                </a:cubicBezTo>
                <a:cubicBezTo>
                  <a:pt x="2002" y="22"/>
                  <a:pt x="2573" y="594"/>
                  <a:pt x="2573" y="1298"/>
                </a:cubicBezTo>
                <a:cubicBezTo>
                  <a:pt x="2573" y="2002"/>
                  <a:pt x="2002" y="2574"/>
                  <a:pt x="1298" y="2574"/>
                </a:cubicBezTo>
                <a:cubicBezTo>
                  <a:pt x="593" y="2574"/>
                  <a:pt x="22" y="2002"/>
                  <a:pt x="22" y="1298"/>
                </a:cubicBezTo>
              </a:path>
            </a:pathLst>
          </a:custGeom>
          <a:noFill/>
          <a:ln w="28955" cap="flat">
            <a:solidFill>
              <a:srgbClr val="59595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picture 2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660" y="2572385"/>
            <a:ext cx="935990" cy="900430"/>
          </a:xfrm>
          <a:prstGeom prst="rect">
            <a:avLst/>
          </a:prstGeom>
        </p:spPr>
      </p:pic>
      <p:sp>
        <p:nvSpPr>
          <p:cNvPr id="18" name="path"/>
          <p:cNvSpPr/>
          <p:nvPr/>
        </p:nvSpPr>
        <p:spPr>
          <a:xfrm>
            <a:off x="4110355" y="2195195"/>
            <a:ext cx="1649095" cy="1649095"/>
          </a:xfrm>
          <a:custGeom>
            <a:avLst/>
            <a:gdLst/>
            <a:ahLst/>
            <a:cxnLst/>
            <a:rect l="0" t="0" r="0" b="0"/>
            <a:pathLst>
              <a:path w="2596" h="2596">
                <a:moveTo>
                  <a:pt x="22" y="1298"/>
                </a:moveTo>
                <a:cubicBezTo>
                  <a:pt x="22" y="594"/>
                  <a:pt x="593" y="22"/>
                  <a:pt x="1298" y="22"/>
                </a:cubicBezTo>
                <a:cubicBezTo>
                  <a:pt x="2002" y="22"/>
                  <a:pt x="2573" y="594"/>
                  <a:pt x="2573" y="1298"/>
                </a:cubicBezTo>
                <a:cubicBezTo>
                  <a:pt x="2573" y="2002"/>
                  <a:pt x="2002" y="2574"/>
                  <a:pt x="1298" y="2574"/>
                </a:cubicBezTo>
                <a:cubicBezTo>
                  <a:pt x="593" y="2574"/>
                  <a:pt x="22" y="2002"/>
                  <a:pt x="22" y="1298"/>
                </a:cubicBezTo>
              </a:path>
            </a:pathLst>
          </a:custGeom>
          <a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0" ty="0" sx="100000" sy="100000" flip="none" algn="tl"/>
          </a:blipFill>
          <a:ln w="28955" cap="flat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 cstate="print">
            <a:grayscl/>
            <a:lum bright="100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0870" y="2546985"/>
            <a:ext cx="1041400" cy="10414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927475" y="3992880"/>
            <a:ext cx="2014855" cy="36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12700" algn="ctr" rtl="0" eaLnBrk="0">
              <a:lnSpc>
                <a:spcPct val="97000"/>
              </a:lnSpc>
            </a:pPr>
            <a:r>
              <a:rPr lang="zh-CN" altLang="en-US" b="1" spc="50" dirty="0">
                <a:solidFill>
                  <a:srgbClr val="0070C0">
                    <a:alpha val="100000"/>
                  </a:srgbClr>
                </a:solidFill>
                <a:cs typeface="微软雅黑" panose="020B0503020204020204" pitchFamily="34" charset="-122"/>
                <a:sym typeface="+mn-ea"/>
              </a:rPr>
              <a:t>行业市场</a:t>
            </a:r>
            <a:r>
              <a:rPr lang="zh-CN" altLang="en-US" sz="1800" b="1" spc="50" dirty="0">
                <a:solidFill>
                  <a:srgbClr val="0070C0">
                    <a:alpha val="100000"/>
                  </a:srgbClr>
                </a:solidFill>
                <a:cs typeface="微软雅黑" panose="020B0503020204020204" pitchFamily="34" charset="-122"/>
                <a:sym typeface="+mn-ea"/>
              </a:rPr>
              <a:t>与产品</a:t>
            </a:r>
          </a:p>
        </p:txBody>
      </p:sp>
    </p:spTree>
    <p:extLst>
      <p:ext uri="{BB962C8B-B14F-4D97-AF65-F5344CB8AC3E}">
        <p14:creationId xmlns:p14="http://schemas.microsoft.com/office/powerpoint/2010/main" val="230931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6">
            <a:extLst>
              <a:ext uri="{FF2B5EF4-FFF2-40B4-BE49-F238E27FC236}">
                <a16:creationId xmlns:a16="http://schemas.microsoft.com/office/drawing/2014/main" id="{23A6272A-CC7C-36E4-866C-B97A65D53489}"/>
              </a:ext>
            </a:extLst>
          </p:cNvPr>
          <p:cNvSpPr txBox="1"/>
          <p:nvPr/>
        </p:nvSpPr>
        <p:spPr>
          <a:xfrm>
            <a:off x="3280766" y="2129721"/>
            <a:ext cx="5283130" cy="1721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8000" b="1" dirty="0">
                <a:solidFill>
                  <a:schemeClr val="tx2">
                    <a:lumMod val="75000"/>
                  </a:schemeClr>
                </a:solidFill>
              </a:rPr>
              <a:t>外周产品线</a:t>
            </a:r>
            <a:endParaRPr lang="en-US" altLang="zh-CN" sz="8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4128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l"/>
            <a:r>
              <a:rPr lang="zh-CN" altLang="en-US" b="1" dirty="0">
                <a:solidFill>
                  <a:schemeClr val="tx2"/>
                </a:solidFill>
                <a:latin typeface="+mj-lt"/>
                <a:ea typeface="微软雅黑" pitchFamily="34" charset="-122"/>
              </a:rPr>
              <a:t>外周血栓性疾病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F1FF2A0-23DF-DE94-1411-C858AE8BB107}"/>
              </a:ext>
            </a:extLst>
          </p:cNvPr>
          <p:cNvGrpSpPr/>
          <p:nvPr/>
        </p:nvGrpSpPr>
        <p:grpSpPr>
          <a:xfrm>
            <a:off x="453102" y="1214074"/>
            <a:ext cx="4235917" cy="4865718"/>
            <a:chOff x="630086" y="1279478"/>
            <a:chExt cx="4235917" cy="4865718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4A41A85F-AF77-D1A2-3C57-018EDF418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086" y="1279478"/>
              <a:ext cx="4235917" cy="4865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" name="Straight Arrow Connector 8">
              <a:extLst>
                <a:ext uri="{FF2B5EF4-FFF2-40B4-BE49-F238E27FC236}">
                  <a16:creationId xmlns:a16="http://schemas.microsoft.com/office/drawing/2014/main" id="{6D131FD1-93B6-96E3-7FC1-DA5663FCF3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9308" y="1662062"/>
              <a:ext cx="378875" cy="5501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11">
              <a:extLst>
                <a:ext uri="{FF2B5EF4-FFF2-40B4-BE49-F238E27FC236}">
                  <a16:creationId xmlns:a16="http://schemas.microsoft.com/office/drawing/2014/main" id="{57BFC3D6-0856-0DAE-2E82-E8A08A99B451}"/>
                </a:ext>
              </a:extLst>
            </p:cNvPr>
            <p:cNvCxnSpPr>
              <a:cxnSpLocks/>
            </p:cNvCxnSpPr>
            <p:nvPr/>
          </p:nvCxnSpPr>
          <p:spPr>
            <a:xfrm>
              <a:off x="3410892" y="1603070"/>
              <a:ext cx="289488" cy="7285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13">
              <a:extLst>
                <a:ext uri="{FF2B5EF4-FFF2-40B4-BE49-F238E27FC236}">
                  <a16:creationId xmlns:a16="http://schemas.microsoft.com/office/drawing/2014/main" id="{8121641B-3ADD-1BDC-3AE6-3437E969D19F}"/>
                </a:ext>
              </a:extLst>
            </p:cNvPr>
            <p:cNvSpPr txBox="1"/>
            <p:nvPr/>
          </p:nvSpPr>
          <p:spPr>
            <a:xfrm>
              <a:off x="3035645" y="1292730"/>
              <a:ext cx="468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PE</a:t>
              </a:r>
              <a:endParaRPr 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Box 15">
              <a:extLst>
                <a:ext uri="{FF2B5EF4-FFF2-40B4-BE49-F238E27FC236}">
                  <a16:creationId xmlns:a16="http://schemas.microsoft.com/office/drawing/2014/main" id="{43C5FBA6-7AD4-AE08-A337-A5C22A1947D3}"/>
                </a:ext>
              </a:extLst>
            </p:cNvPr>
            <p:cNvSpPr txBox="1"/>
            <p:nvPr/>
          </p:nvSpPr>
          <p:spPr>
            <a:xfrm>
              <a:off x="4002841" y="4987477"/>
              <a:ext cx="681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DVT</a:t>
              </a:r>
              <a:endParaRPr 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TextBox 4">
            <a:extLst>
              <a:ext uri="{FF2B5EF4-FFF2-40B4-BE49-F238E27FC236}">
                <a16:creationId xmlns:a16="http://schemas.microsoft.com/office/drawing/2014/main" id="{9F56B324-4073-BD71-C1DF-23242AB8CE1E}"/>
              </a:ext>
            </a:extLst>
          </p:cNvPr>
          <p:cNvSpPr txBox="1"/>
          <p:nvPr/>
        </p:nvSpPr>
        <p:spPr>
          <a:xfrm>
            <a:off x="5031963" y="1177360"/>
            <a:ext cx="48635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静脉血栓栓塞症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VTE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Venous Thromboembolism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是指血液在静脉内不正常的凝固，使管腔部分或完全阻塞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23A6272A-CC7C-36E4-866C-B97A65D53489}"/>
              </a:ext>
            </a:extLst>
          </p:cNvPr>
          <p:cNvSpPr txBox="1"/>
          <p:nvPr/>
        </p:nvSpPr>
        <p:spPr>
          <a:xfrm>
            <a:off x="5071208" y="3221101"/>
            <a:ext cx="4863549" cy="1884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VTE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包括：</a:t>
            </a:r>
            <a:endParaRPr lang="en-US" altLang="zh-CN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深静脉血栓形成（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DVT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肺栓塞（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仅次于冠心病和脑卒中，</a:t>
            </a:r>
            <a:r>
              <a:rPr lang="zh-CN" altLang="en-US" sz="2000" b="1" dirty="0">
                <a:solidFill>
                  <a:srgbClr val="FF0000"/>
                </a:solidFill>
              </a:rPr>
              <a:t>第三</a:t>
            </a:r>
            <a:r>
              <a:rPr lang="zh-CN" altLang="en-US" sz="1400" b="1" dirty="0"/>
              <a:t>位致死疾病！</a:t>
            </a:r>
            <a:endParaRPr lang="en-US" sz="1400" b="1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DD9076B-8575-13E6-4912-7C381F2EEC71}"/>
              </a:ext>
            </a:extLst>
          </p:cNvPr>
          <p:cNvSpPr/>
          <p:nvPr/>
        </p:nvSpPr>
        <p:spPr bwMode="auto">
          <a:xfrm>
            <a:off x="9143768" y="3573424"/>
            <a:ext cx="2940074" cy="2250010"/>
          </a:xfrm>
          <a:prstGeom prst="rect">
            <a:avLst/>
          </a:prstGeom>
          <a:blipFill>
            <a:blip r:embed="rId4" cstate="email"/>
            <a:srcRect/>
            <a:stretch>
              <a:fillRect/>
            </a:stretch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1ACD9BE-4A2B-D8A6-3A77-ACF801421A2C}"/>
              </a:ext>
            </a:extLst>
          </p:cNvPr>
          <p:cNvSpPr txBox="1"/>
          <p:nvPr/>
        </p:nvSpPr>
        <p:spPr>
          <a:xfrm>
            <a:off x="10794484" y="3720819"/>
            <a:ext cx="1009300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latinLnBrk="0">
              <a:lnSpc>
                <a:spcPct val="150000"/>
              </a:lnSpc>
              <a:buClrTx/>
              <a:buSzTx/>
            </a:pPr>
            <a:r>
              <a:rPr lang="zh-CN" altLang="en-US" sz="1400" b="1" dirty="0">
                <a:solidFill>
                  <a:srgbClr val="FF0000"/>
                </a:solidFill>
              </a:rPr>
              <a:t>血流缓慢</a:t>
            </a:r>
            <a:endParaRPr lang="en-US" altLang="zh-CN" sz="1400" b="1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0A68CE8-03AA-F67B-3CFE-7E2524D71CB9}"/>
              </a:ext>
            </a:extLst>
          </p:cNvPr>
          <p:cNvSpPr txBox="1"/>
          <p:nvPr/>
        </p:nvSpPr>
        <p:spPr>
          <a:xfrm>
            <a:off x="11147291" y="4663614"/>
            <a:ext cx="116226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latinLnBrk="0">
              <a:lnSpc>
                <a:spcPct val="150000"/>
              </a:lnSpc>
              <a:buClrTx/>
              <a:buSzTx/>
            </a:pPr>
            <a:r>
              <a:rPr lang="zh-CN" altLang="en-US" sz="1400" b="1" dirty="0">
                <a:solidFill>
                  <a:srgbClr val="FF0000"/>
                </a:solidFill>
              </a:rPr>
              <a:t>血液高凝态</a:t>
            </a:r>
            <a:endParaRPr lang="en-US" altLang="zh-CN" sz="1400" b="1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B75AD50-A369-278A-98F1-919A57899D42}"/>
              </a:ext>
            </a:extLst>
          </p:cNvPr>
          <p:cNvSpPr txBox="1"/>
          <p:nvPr/>
        </p:nvSpPr>
        <p:spPr>
          <a:xfrm>
            <a:off x="9143768" y="4713878"/>
            <a:ext cx="992275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defTabSz="914400" latinLnBrk="0">
              <a:lnSpc>
                <a:spcPct val="150000"/>
              </a:lnSpc>
              <a:buClrTx/>
              <a:buSzTx/>
              <a:defRPr sz="1400" b="1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内膜损伤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7F2E2DB-80D0-ECCC-4DB7-5C7CA71DF9BB}"/>
              </a:ext>
            </a:extLst>
          </p:cNvPr>
          <p:cNvSpPr txBox="1"/>
          <p:nvPr/>
        </p:nvSpPr>
        <p:spPr>
          <a:xfrm>
            <a:off x="4689019" y="5551793"/>
            <a:ext cx="4145765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DVT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也可以理解为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一种疾病的两个阶段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07398-A934-54C5-8D78-A711EB19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56D6B14-F529-DBE6-BDBC-7DC9E809C9C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l"/>
            <a:r>
              <a:rPr lang="zh-CN" altLang="en-US" b="1" dirty="0">
                <a:solidFill>
                  <a:schemeClr val="tx2"/>
                </a:solidFill>
                <a:latin typeface="+mj-lt"/>
                <a:ea typeface="微软雅黑" pitchFamily="34" charset="-122"/>
              </a:rPr>
              <a:t>外周血栓性疾病</a:t>
            </a:r>
            <a:r>
              <a:rPr lang="zh-CN" altLang="en-US" dirty="0">
                <a:solidFill>
                  <a:schemeClr val="tx2"/>
                </a:solidFill>
                <a:latin typeface="+mj-lt"/>
              </a:rPr>
              <a:t>人群</a:t>
            </a:r>
            <a:endParaRPr lang="zh-CN" altLang="en-US" b="1" dirty="0">
              <a:solidFill>
                <a:schemeClr val="tx2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F9E067-9322-4F1B-9577-29280A376B3F}"/>
              </a:ext>
            </a:extLst>
          </p:cNvPr>
          <p:cNvSpPr txBox="1"/>
          <p:nvPr/>
        </p:nvSpPr>
        <p:spPr>
          <a:xfrm>
            <a:off x="8580722" y="2542386"/>
            <a:ext cx="2756309" cy="1477328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 Neue"/>
              </a:rPr>
              <a:t>全球范围内，每年的静脉血栓栓塞症（</a:t>
            </a:r>
            <a:r>
              <a:rPr lang="en-US" altLang="zh-CN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 Neue"/>
              </a:rPr>
              <a:t>VTE</a:t>
            </a:r>
            <a:r>
              <a:rPr lang="zh-CN" altLang="en-US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 Neue"/>
              </a:rPr>
              <a:t>）例数可达近 </a:t>
            </a:r>
            <a:r>
              <a:rPr lang="en-US" altLang="zh-CN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Helvetica Neue"/>
              </a:rPr>
              <a:t>1000 </a:t>
            </a:r>
            <a:r>
              <a:rPr lang="zh-CN" alt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Helvetica Neue"/>
              </a:rPr>
              <a:t>万例</a:t>
            </a:r>
            <a:r>
              <a:rPr lang="en-US" altLang="zh-CN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Helvetica Neue"/>
              </a:rPr>
              <a:t>, </a:t>
            </a:r>
            <a:r>
              <a:rPr lang="zh-CN" alt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Helvetica Neue"/>
              </a:rPr>
              <a:t>全球市场</a:t>
            </a:r>
            <a:r>
              <a:rPr lang="en-US" altLang="zh-CN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Helvetica Neue"/>
              </a:rPr>
              <a:t>TAM</a:t>
            </a:r>
            <a:r>
              <a:rPr lang="zh-CN" alt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Helvetica Neue"/>
              </a:rPr>
              <a:t>超过</a:t>
            </a:r>
            <a:r>
              <a:rPr lang="en-US" altLang="zh-CN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Helvetica Neue"/>
              </a:rPr>
              <a:t>180</a:t>
            </a:r>
            <a:r>
              <a:rPr lang="zh-CN" alt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Helvetica Neue"/>
              </a:rPr>
              <a:t>亿美金</a:t>
            </a:r>
            <a:r>
              <a:rPr lang="zh-CN" altLang="en-US" b="1" i="0" dirty="0">
                <a:effectLst/>
                <a:highlight>
                  <a:srgbClr val="FFFFFF"/>
                </a:highlight>
                <a:latin typeface="Helvetica Neue"/>
              </a:rPr>
              <a:t>，国内约占</a:t>
            </a:r>
            <a:r>
              <a:rPr lang="en-US" altLang="zh-CN" b="1" i="0" dirty="0">
                <a:effectLst/>
                <a:highlight>
                  <a:srgbClr val="FFFFFF"/>
                </a:highlight>
                <a:latin typeface="Helvetica Neue"/>
              </a:rPr>
              <a:t>20%</a:t>
            </a:r>
            <a:r>
              <a:rPr lang="zh-CN" altLang="en-US" b="1" i="0" dirty="0">
                <a:effectLst/>
                <a:highlight>
                  <a:srgbClr val="FFFFFF"/>
                </a:highlight>
                <a:latin typeface="Helvetica Neue"/>
              </a:rPr>
              <a:t>。</a:t>
            </a:r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E860AEA-AF2E-120F-D041-4AA66A266F2A}"/>
              </a:ext>
            </a:extLst>
          </p:cNvPr>
          <p:cNvGrpSpPr/>
          <p:nvPr/>
        </p:nvGrpSpPr>
        <p:grpSpPr>
          <a:xfrm>
            <a:off x="982982" y="1059245"/>
            <a:ext cx="6687898" cy="4956943"/>
            <a:chOff x="402877" y="872431"/>
            <a:chExt cx="6687898" cy="4956943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8CEBC282-78C3-65F5-8410-5733F4671175}"/>
                </a:ext>
              </a:extLst>
            </p:cNvPr>
            <p:cNvGrpSpPr/>
            <p:nvPr/>
          </p:nvGrpSpPr>
          <p:grpSpPr>
            <a:xfrm>
              <a:off x="402877" y="872431"/>
              <a:ext cx="6679517" cy="4494348"/>
              <a:chOff x="462" y="724"/>
              <a:chExt cx="9280" cy="8203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2EFE8032-0347-1FDF-C312-36546FA0B4D1}"/>
                  </a:ext>
                </a:extLst>
              </p:cNvPr>
              <p:cNvSpPr/>
              <p:nvPr/>
            </p:nvSpPr>
            <p:spPr>
              <a:xfrm>
                <a:off x="462" y="4272"/>
                <a:ext cx="2756" cy="1667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 err="1">
                    <a:sym typeface="+mn-ea"/>
                  </a:rPr>
                  <a:t>中国静脉血栓栓塞症（VTE</a:t>
                </a:r>
                <a:r>
                  <a:rPr lang="en-US" altLang="zh-CN" sz="1400" dirty="0">
                    <a:sym typeface="+mn-ea"/>
                  </a:rPr>
                  <a:t>）</a:t>
                </a:r>
                <a:endParaRPr lang="zh-CN" altLang="en-US" sz="1600" dirty="0"/>
              </a:p>
              <a:p>
                <a:pPr algn="ctr"/>
                <a:r>
                  <a:rPr lang="en-US" altLang="zh-CN" sz="1400" dirty="0"/>
                  <a:t>发病率:127.8/10万</a:t>
                </a:r>
                <a:r>
                  <a:rPr lang="en-US" altLang="zh-CN" sz="1400" baseline="30000" dirty="0"/>
                  <a:t>1</a:t>
                </a:r>
                <a:endParaRPr lang="zh-CN" altLang="en-US" sz="1400" dirty="0"/>
              </a:p>
              <a:p>
                <a:pPr algn="ctr"/>
                <a:r>
                  <a:rPr lang="zh-CN" altLang="en-US" sz="1400" dirty="0"/>
                  <a:t>患者数</a:t>
                </a:r>
                <a:r>
                  <a:rPr lang="en-US" altLang="zh-CN" sz="1400" dirty="0"/>
                  <a:t>:</a:t>
                </a:r>
                <a:r>
                  <a:rPr lang="zh-CN" altLang="en-US" sz="1400" dirty="0"/>
                  <a:t>约</a:t>
                </a:r>
                <a:r>
                  <a:rPr lang="en-US" altLang="zh-CN" sz="1400" dirty="0"/>
                  <a:t>179</a:t>
                </a:r>
                <a:r>
                  <a:rPr lang="zh-CN" altLang="en-US" sz="1400" dirty="0"/>
                  <a:t>万</a:t>
                </a:r>
                <a:r>
                  <a:rPr lang="en-US" altLang="zh-CN" sz="1400" dirty="0"/>
                  <a:t>/</a:t>
                </a:r>
                <a:r>
                  <a:rPr lang="zh-CN" altLang="en-US" sz="1400" dirty="0"/>
                  <a:t>年</a:t>
                </a:r>
              </a:p>
            </p:txBody>
          </p:sp>
          <p:sp>
            <p:nvSpPr>
              <p:cNvPr id="22" name="左大括号 21">
                <a:extLst>
                  <a:ext uri="{FF2B5EF4-FFF2-40B4-BE49-F238E27FC236}">
                    <a16:creationId xmlns:a16="http://schemas.microsoft.com/office/drawing/2014/main" id="{2CE73FB4-9633-19F9-CBD7-71AAB2BCD9DE}"/>
                  </a:ext>
                </a:extLst>
              </p:cNvPr>
              <p:cNvSpPr/>
              <p:nvPr/>
            </p:nvSpPr>
            <p:spPr>
              <a:xfrm>
                <a:off x="3095" y="2722"/>
                <a:ext cx="1450" cy="4767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C3D432A-B4ED-2E8C-6396-8C261B6312A8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4545" y="1963"/>
                <a:ext cx="2526" cy="1732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/>
              </a:p>
              <a:p>
                <a:pPr algn="ctr"/>
                <a:r>
                  <a:rPr lang="zh-CN" altLang="en-US" sz="1400" dirty="0"/>
                  <a:t>下肢深静脉血栓</a:t>
                </a:r>
                <a:endParaRPr lang="en-US" altLang="zh-CN" sz="1400" dirty="0"/>
              </a:p>
              <a:p>
                <a:pPr algn="ctr"/>
                <a:r>
                  <a:rPr lang="zh-CN" altLang="en-US" sz="1400" dirty="0"/>
                  <a:t>（</a:t>
                </a:r>
                <a:r>
                  <a:rPr lang="en-US" altLang="zh-CN" sz="1400" dirty="0"/>
                  <a:t>DVT</a:t>
                </a:r>
                <a:r>
                  <a:rPr lang="zh-CN" altLang="en-US" sz="1400" dirty="0"/>
                  <a:t>）</a:t>
                </a:r>
                <a:r>
                  <a:rPr lang="en-US" sz="1400" dirty="0"/>
                  <a:t>80.4%</a:t>
                </a:r>
                <a:r>
                  <a:rPr lang="en-US" altLang="zh-CN" sz="1400" baseline="30000" dirty="0">
                    <a:sym typeface="+mn-ea"/>
                  </a:rPr>
                  <a:t>2</a:t>
                </a:r>
                <a:endParaRPr lang="zh-CN" altLang="en-US" sz="1400" dirty="0"/>
              </a:p>
              <a:p>
                <a:pPr algn="ctr"/>
                <a:r>
                  <a:rPr lang="zh-CN" altLang="en-US" sz="1400" dirty="0"/>
                  <a:t>患者数：</a:t>
                </a:r>
                <a:r>
                  <a:rPr lang="en-US" altLang="zh-CN" sz="1400" dirty="0"/>
                  <a:t>144</a:t>
                </a:r>
                <a:r>
                  <a:rPr lang="zh-CN" altLang="en-US" sz="1400" dirty="0"/>
                  <a:t>万</a:t>
                </a:r>
                <a:endParaRPr lang="en-US" sz="1400" dirty="0"/>
              </a:p>
              <a:p>
                <a:pPr algn="ctr"/>
                <a:endParaRPr lang="en-US" sz="1400" dirty="0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E7F71341-44A0-CB73-273A-2397807DF386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4573" y="6790"/>
                <a:ext cx="2526" cy="128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  <a:p>
                <a:pPr algn="ctr"/>
                <a:r>
                  <a:rPr lang="en-US" sz="1400" dirty="0"/>
                  <a:t>DVT+PE</a:t>
                </a:r>
                <a:r>
                  <a:rPr lang="zh-CN" altLang="en-US" sz="1400" dirty="0">
                    <a:ea typeface="宋体" panose="02010600030101010101" pitchFamily="2" charset="-122"/>
                  </a:rPr>
                  <a:t>（肺栓塞）</a:t>
                </a:r>
              </a:p>
              <a:p>
                <a:pPr algn="ctr"/>
                <a:r>
                  <a:rPr lang="en-US" sz="1400" dirty="0">
                    <a:ea typeface="宋体" panose="02010600030101010101" pitchFamily="2" charset="-122"/>
                  </a:rPr>
                  <a:t>19.6%</a:t>
                </a:r>
              </a:p>
              <a:p>
                <a:pPr algn="ctr"/>
                <a:r>
                  <a:rPr lang="zh-CN" altLang="en-US" sz="1400" dirty="0">
                    <a:ea typeface="宋体" panose="02010600030101010101" pitchFamily="2" charset="-122"/>
                  </a:rPr>
                  <a:t>患者数：</a:t>
                </a:r>
                <a:r>
                  <a:rPr lang="en-US" altLang="zh-CN" sz="1400" dirty="0">
                    <a:ea typeface="宋体" panose="02010600030101010101" pitchFamily="2" charset="-122"/>
                  </a:rPr>
                  <a:t>35</a:t>
                </a:r>
                <a:r>
                  <a:rPr lang="zh-CN" altLang="en-US" sz="1400" dirty="0">
                    <a:ea typeface="宋体" panose="02010600030101010101" pitchFamily="2" charset="-122"/>
                  </a:rPr>
                  <a:t>万</a:t>
                </a:r>
              </a:p>
              <a:p>
                <a:pPr algn="ctr"/>
                <a:endParaRPr lang="zh-CN" altLang="en-US" sz="14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25" name="左大括号 24">
                <a:extLst>
                  <a:ext uri="{FF2B5EF4-FFF2-40B4-BE49-F238E27FC236}">
                    <a16:creationId xmlns:a16="http://schemas.microsoft.com/office/drawing/2014/main" id="{9BFFFE9D-6198-FF49-4F22-BE6207E4A3CB}"/>
                  </a:ext>
                </a:extLst>
              </p:cNvPr>
              <p:cNvSpPr/>
              <p:nvPr/>
            </p:nvSpPr>
            <p:spPr>
              <a:xfrm>
                <a:off x="7178" y="1321"/>
                <a:ext cx="296" cy="3016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BED6CC7-D7C0-D0FE-A6D6-9F1668275116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474" y="724"/>
                <a:ext cx="2268" cy="1222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/>
              </a:p>
              <a:p>
                <a:pPr algn="ctr"/>
                <a:r>
                  <a:rPr lang="zh-CN" altLang="en-US" sz="1400" dirty="0"/>
                  <a:t>中央型</a:t>
                </a:r>
              </a:p>
              <a:p>
                <a:pPr algn="ctr"/>
                <a:r>
                  <a:rPr lang="en-US" altLang="zh-CN" sz="1400" dirty="0"/>
                  <a:t>22%</a:t>
                </a:r>
              </a:p>
              <a:p>
                <a:pPr algn="ctr"/>
                <a:r>
                  <a:rPr lang="zh-CN" altLang="en-US" sz="1400" dirty="0">
                    <a:sym typeface="+mn-ea"/>
                  </a:rPr>
                  <a:t>患者数：</a:t>
                </a:r>
                <a:r>
                  <a:rPr lang="en-US" altLang="zh-CN" sz="1400" dirty="0">
                    <a:sym typeface="+mn-ea"/>
                  </a:rPr>
                  <a:t>31.7</a:t>
                </a:r>
                <a:r>
                  <a:rPr lang="zh-CN" altLang="en-US" sz="1400" dirty="0">
                    <a:sym typeface="+mn-ea"/>
                  </a:rPr>
                  <a:t>万</a:t>
                </a:r>
                <a:endParaRPr lang="en-US" sz="1400" dirty="0"/>
              </a:p>
              <a:p>
                <a:pPr algn="ctr"/>
                <a:endParaRPr lang="en-US" altLang="zh-CN" sz="1400" dirty="0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86542334-154D-0A5D-23E6-8368FB01AEA9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7474" y="2228"/>
                <a:ext cx="2268" cy="1203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/>
                  <a:t>周围型</a:t>
                </a:r>
              </a:p>
              <a:p>
                <a:pPr algn="ctr"/>
                <a:r>
                  <a:rPr lang="en-US" altLang="zh-CN" sz="1400" dirty="0"/>
                  <a:t>38%</a:t>
                </a:r>
              </a:p>
              <a:p>
                <a:pPr algn="ctr"/>
                <a:r>
                  <a:rPr lang="zh-CN" altLang="en-US" sz="1400" dirty="0">
                    <a:sym typeface="+mn-ea"/>
                  </a:rPr>
                  <a:t>患者数：</a:t>
                </a:r>
                <a:r>
                  <a:rPr lang="en-US" altLang="zh-CN" sz="1400" dirty="0">
                    <a:sym typeface="+mn-ea"/>
                  </a:rPr>
                  <a:t>54.7</a:t>
                </a:r>
                <a:r>
                  <a:rPr lang="zh-CN" altLang="en-US" sz="1400" dirty="0">
                    <a:sym typeface="+mn-ea"/>
                  </a:rPr>
                  <a:t>万</a:t>
                </a:r>
                <a:endParaRPr lang="en-US" altLang="zh-CN" sz="1400" dirty="0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0995B53-7198-1F65-901E-ED3F275E5037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7474" y="3712"/>
                <a:ext cx="2268" cy="1233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/>
                  <a:t>混合型</a:t>
                </a:r>
              </a:p>
              <a:p>
                <a:pPr algn="ctr"/>
                <a:r>
                  <a:rPr lang="en-US" sz="1400"/>
                  <a:t>40%</a:t>
                </a:r>
              </a:p>
              <a:p>
                <a:pPr algn="ctr"/>
                <a:r>
                  <a:rPr lang="zh-CN" altLang="en-US" sz="1400">
                    <a:sym typeface="+mn-ea"/>
                  </a:rPr>
                  <a:t>患者数：</a:t>
                </a:r>
                <a:r>
                  <a:rPr lang="en-US" altLang="zh-CN" sz="1400">
                    <a:sym typeface="+mn-ea"/>
                  </a:rPr>
                  <a:t>57.6</a:t>
                </a:r>
                <a:r>
                  <a:rPr lang="zh-CN" altLang="en-US" sz="1400">
                    <a:sym typeface="+mn-ea"/>
                  </a:rPr>
                  <a:t>万</a:t>
                </a:r>
                <a:endParaRPr lang="en-US" sz="1400">
                  <a:ea typeface="宋体" panose="02010600030101010101" pitchFamily="2" charset="-122"/>
                </a:endParaRPr>
              </a:p>
            </p:txBody>
          </p:sp>
          <p:sp>
            <p:nvSpPr>
              <p:cNvPr id="29" name="左大括号 28">
                <a:extLst>
                  <a:ext uri="{FF2B5EF4-FFF2-40B4-BE49-F238E27FC236}">
                    <a16:creationId xmlns:a16="http://schemas.microsoft.com/office/drawing/2014/main" id="{B4C2988C-6AE0-4F42-03DD-BD0BE4317DB5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7182" y="5939"/>
                <a:ext cx="196" cy="2988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55375B8-15D5-6645-E9E2-57AA814F5861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7399" y="6925"/>
                <a:ext cx="2333" cy="1252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ym typeface="+mn-ea"/>
                  </a:rPr>
                  <a:t>无症状</a:t>
                </a:r>
                <a:r>
                  <a:rPr lang="en-US" altLang="zh-CN" sz="1400" dirty="0">
                    <a:sym typeface="+mn-ea"/>
                  </a:rPr>
                  <a:t>PE</a:t>
                </a:r>
                <a:endParaRPr lang="en-US" altLang="zh-CN" sz="1400" dirty="0"/>
              </a:p>
              <a:p>
                <a:pPr algn="ctr"/>
                <a:r>
                  <a:rPr lang="en-US" altLang="zh-CN" sz="1400" dirty="0">
                    <a:ea typeface="宋体" panose="02010600030101010101" pitchFamily="2" charset="-122"/>
                    <a:sym typeface="+mn-ea"/>
                  </a:rPr>
                  <a:t>39.5%</a:t>
                </a:r>
              </a:p>
              <a:p>
                <a:pPr algn="ctr"/>
                <a:r>
                  <a:rPr lang="zh-CN" altLang="en-US" sz="1400" dirty="0">
                    <a:sym typeface="+mn-ea"/>
                  </a:rPr>
                  <a:t>患者数：</a:t>
                </a:r>
                <a:r>
                  <a:rPr lang="en-US" altLang="zh-CN" sz="1400" dirty="0">
                    <a:sym typeface="+mn-ea"/>
                  </a:rPr>
                  <a:t>13.8</a:t>
                </a:r>
                <a:r>
                  <a:rPr lang="zh-CN" altLang="en-US" sz="1400" dirty="0">
                    <a:sym typeface="+mn-ea"/>
                  </a:rPr>
                  <a:t>万</a:t>
                </a:r>
                <a:endParaRPr lang="zh-CN" altLang="en-US" sz="1400" dirty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203CAEE-35B3-C2B3-F261-FB250926962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395960" y="3329203"/>
              <a:ext cx="1671955" cy="77597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有症状</a:t>
              </a:r>
              <a:r>
                <a:rPr lang="en-US" altLang="zh-CN" sz="1400"/>
                <a:t>PE</a:t>
              </a:r>
            </a:p>
            <a:p>
              <a:pPr algn="ctr"/>
              <a:r>
                <a:rPr lang="en-US" altLang="zh-CN" sz="1400">
                  <a:ea typeface="宋体" panose="02010600030101010101" pitchFamily="2" charset="-122"/>
                </a:rPr>
                <a:t>54.7%</a:t>
              </a:r>
            </a:p>
            <a:p>
              <a:pPr algn="ctr"/>
              <a:r>
                <a:rPr lang="zh-CN" altLang="en-US" sz="1400">
                  <a:sym typeface="+mn-ea"/>
                </a:rPr>
                <a:t>患者数：</a:t>
              </a:r>
              <a:r>
                <a:rPr lang="en-US" altLang="zh-CN" sz="1400">
                  <a:sym typeface="+mn-ea"/>
                </a:rPr>
                <a:t>19</a:t>
              </a:r>
              <a:r>
                <a:rPr lang="zh-CN" altLang="en-US" sz="1400">
                  <a:sym typeface="+mn-ea"/>
                </a:rPr>
                <a:t>万</a:t>
              </a:r>
              <a:endParaRPr lang="en-US" altLang="zh-CN" sz="1400">
                <a:ea typeface="宋体" panose="02010600030101010101" pitchFamily="2" charset="-122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FB4BB16-82F5-EA25-22B9-AE7545D76F81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395960" y="5078804"/>
              <a:ext cx="1694815" cy="75057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ym typeface="+mn-ea"/>
                </a:rPr>
                <a:t>致命</a:t>
              </a:r>
              <a:r>
                <a:rPr lang="en-US" altLang="zh-CN" sz="1400">
                  <a:sym typeface="+mn-ea"/>
                </a:rPr>
                <a:t>PE</a:t>
              </a:r>
              <a:endParaRPr lang="en-US" altLang="zh-CN" sz="1400"/>
            </a:p>
            <a:p>
              <a:pPr algn="ctr"/>
              <a:r>
                <a:rPr lang="en-US" altLang="zh-CN" sz="1400">
                  <a:ea typeface="宋体" panose="02010600030101010101" pitchFamily="2" charset="-122"/>
                  <a:sym typeface="+mn-ea"/>
                </a:rPr>
                <a:t>5.8%</a:t>
              </a:r>
            </a:p>
            <a:p>
              <a:pPr algn="ctr"/>
              <a:r>
                <a:rPr lang="zh-CN" altLang="en-US" sz="1400">
                  <a:sym typeface="+mn-ea"/>
                </a:rPr>
                <a:t>患者数：</a:t>
              </a:r>
              <a:r>
                <a:rPr lang="en-US" altLang="zh-CN" sz="1400">
                  <a:sym typeface="+mn-ea"/>
                </a:rPr>
                <a:t>2</a:t>
              </a:r>
              <a:r>
                <a:rPr lang="zh-CN" altLang="en-US" sz="1400">
                  <a:sym typeface="+mn-ea"/>
                </a:rPr>
                <a:t>万</a:t>
              </a:r>
              <a:endParaRPr lang="zh-CN" altLang="en-US" sz="1400">
                <a:ea typeface="宋体" panose="02010600030101010101" pitchFamily="2" charset="-122"/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2EF9C72B-764D-C2A9-F12E-A463067B5220}"/>
              </a:ext>
            </a:extLst>
          </p:cNvPr>
          <p:cNvSpPr txBox="1"/>
          <p:nvPr/>
        </p:nvSpPr>
        <p:spPr>
          <a:xfrm>
            <a:off x="873826" y="6207530"/>
            <a:ext cx="87781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</a:rPr>
              <a:t>1 2023</a:t>
            </a:r>
            <a:r>
              <a:rPr lang="zh-CN" altLang="en-US" sz="1100" dirty="0">
                <a:latin typeface="Arial" panose="020B0604020202020204" pitchFamily="34" charset="0"/>
                <a:ea typeface="微软雅黑" panose="020B0503020204020204" charset="-122"/>
              </a:rPr>
              <a:t>年</a:t>
            </a: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</a:rPr>
              <a:t>VTE</a:t>
            </a:r>
            <a:r>
              <a:rPr lang="zh-CN" altLang="en-US" sz="1100" dirty="0">
                <a:latin typeface="Arial" panose="020B0604020202020204" pitchFamily="34" charset="0"/>
                <a:ea typeface="微软雅黑" panose="020B0503020204020204" charset="-122"/>
              </a:rPr>
              <a:t>防治大会，翟振国教授发言</a:t>
            </a: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</a:rPr>
              <a:t>.</a:t>
            </a:r>
          </a:p>
          <a:p>
            <a:pPr algn="l"/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</a:rPr>
              <a:t>2 </a:t>
            </a:r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2023 Diagnosis and Treatment of Venous Thromboembolism and Clinical Application of Inferior Vena Cava Filter in China</a:t>
            </a:r>
            <a:endParaRPr lang="en-US" altLang="zh-CN" sz="11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7820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chemeClr val="tx2"/>
                </a:solidFill>
                <a:latin typeface="+mj-lt"/>
              </a:rPr>
              <a:t>现有解决方案及不足</a:t>
            </a:r>
            <a:endParaRPr lang="zh-CN" altLang="en-US" b="1" dirty="0">
              <a:solidFill>
                <a:schemeClr val="tx2"/>
              </a:solidFill>
              <a:latin typeface="+mj-lt"/>
              <a:ea typeface="微软雅黑" pitchFamily="34" charset="-122"/>
            </a:endParaRPr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2E0A0FAD-36E8-1F94-88BF-893A426DE3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7120587"/>
              </p:ext>
            </p:extLst>
          </p:nvPr>
        </p:nvGraphicFramePr>
        <p:xfrm>
          <a:off x="-1632156" y="926143"/>
          <a:ext cx="970443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2EA32114-B900-F1F2-B1F1-23679146ACB2}"/>
              </a:ext>
            </a:extLst>
          </p:cNvPr>
          <p:cNvSpPr txBox="1"/>
          <p:nvPr/>
        </p:nvSpPr>
        <p:spPr>
          <a:xfrm>
            <a:off x="5737122" y="1309838"/>
            <a:ext cx="6120582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ea typeface="+mn-ea"/>
              </a:rPr>
              <a:t>抗凝疗法是防治血栓形成的一种基础治疗方法，但仍有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20%-55%</a:t>
            </a:r>
            <a:r>
              <a:rPr lang="zh-CN" altLang="en-US" dirty="0">
                <a:latin typeface="+mn-ea"/>
                <a:ea typeface="+mn-ea"/>
              </a:rPr>
              <a:t>的</a:t>
            </a:r>
            <a:r>
              <a:rPr lang="en-US" altLang="zh-CN" dirty="0">
                <a:latin typeface="+mn-ea"/>
                <a:ea typeface="+mn-ea"/>
              </a:rPr>
              <a:t>DVT</a:t>
            </a:r>
            <a:r>
              <a:rPr lang="zh-CN" altLang="en-US" dirty="0">
                <a:latin typeface="+mn-ea"/>
                <a:ea typeface="+mn-ea"/>
              </a:rPr>
              <a:t>患者发展为血栓形成后综合征</a:t>
            </a:r>
            <a:r>
              <a:rPr lang="en-US" altLang="zh-CN" dirty="0">
                <a:latin typeface="+mn-ea"/>
                <a:ea typeface="+mn-ea"/>
              </a:rPr>
              <a:t>(PTS)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ea typeface="+mn-ea"/>
              </a:rPr>
              <a:t>老年患者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脑出血</a:t>
            </a:r>
            <a:r>
              <a:rPr lang="zh-CN" altLang="en-US" dirty="0">
                <a:latin typeface="+mn-ea"/>
                <a:ea typeface="+mn-ea"/>
              </a:rPr>
              <a:t>并发症风险致命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39A145-AFDC-3E6B-958C-8C6FE5E20900}"/>
              </a:ext>
            </a:extLst>
          </p:cNvPr>
          <p:cNvSpPr txBox="1"/>
          <p:nvPr/>
        </p:nvSpPr>
        <p:spPr>
          <a:xfrm>
            <a:off x="5737122" y="3158844"/>
            <a:ext cx="6041924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ea typeface="+mn-ea"/>
              </a:rPr>
              <a:t>中老年患者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脑出血</a:t>
            </a:r>
            <a:r>
              <a:rPr lang="zh-CN" altLang="en-US" dirty="0">
                <a:latin typeface="+mn-ea"/>
                <a:ea typeface="+mn-ea"/>
              </a:rPr>
              <a:t>并发症风险致命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ea typeface="+mn-ea"/>
              </a:rPr>
              <a:t>溶栓效率非常慢，患者通常</a:t>
            </a:r>
            <a:r>
              <a:rPr lang="en-US" altLang="zh-CN" dirty="0">
                <a:latin typeface="+mn-ea"/>
                <a:ea typeface="+mn-ea"/>
              </a:rPr>
              <a:t>ICU</a:t>
            </a:r>
            <a:r>
              <a:rPr lang="zh-CN" altLang="en-US" dirty="0">
                <a:latin typeface="+mn-ea"/>
                <a:ea typeface="+mn-ea"/>
              </a:rPr>
              <a:t>病房多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3-5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天</a:t>
            </a:r>
            <a:r>
              <a:rPr lang="zh-CN" altLang="en-US" dirty="0">
                <a:latin typeface="+mn-ea"/>
                <a:ea typeface="+mn-ea"/>
              </a:rPr>
              <a:t>治疗时间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陈旧性血栓</a:t>
            </a:r>
            <a:r>
              <a:rPr lang="zh-CN" altLang="en-US" dirty="0">
                <a:latin typeface="+mn-ea"/>
                <a:ea typeface="+mn-ea"/>
              </a:rPr>
              <a:t>单纯溶栓效果有效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6F00B2-236D-75A7-CBA2-F284C6FDD645}"/>
              </a:ext>
            </a:extLst>
          </p:cNvPr>
          <p:cNvSpPr txBox="1"/>
          <p:nvPr/>
        </p:nvSpPr>
        <p:spPr>
          <a:xfrm>
            <a:off x="5805945" y="4668255"/>
            <a:ext cx="5864945" cy="170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ea typeface="+mn-ea"/>
              </a:rPr>
              <a:t>外科手术取栓创伤大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ea typeface="+mn-ea"/>
              </a:rPr>
              <a:t>抽吸类</a:t>
            </a:r>
            <a:r>
              <a:rPr lang="en-US" altLang="zh-CN" dirty="0">
                <a:latin typeface="+mn-ea"/>
                <a:ea typeface="+mn-ea"/>
              </a:rPr>
              <a:t>PMT</a:t>
            </a:r>
            <a:r>
              <a:rPr lang="zh-CN" altLang="en-US" dirty="0">
                <a:latin typeface="+mn-ea"/>
                <a:ea typeface="+mn-ea"/>
              </a:rPr>
              <a:t>对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亚急性</a:t>
            </a:r>
            <a:r>
              <a:rPr lang="zh-CN" altLang="en-US" dirty="0">
                <a:latin typeface="+mn-ea"/>
                <a:ea typeface="+mn-ea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陈旧血栓</a:t>
            </a:r>
            <a:r>
              <a:rPr lang="zh-CN" altLang="en-US" dirty="0">
                <a:latin typeface="+mn-ea"/>
                <a:ea typeface="+mn-ea"/>
              </a:rPr>
              <a:t>作用有限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ea typeface="+mn-ea"/>
              </a:rPr>
              <a:t>治疗中容易堵管或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失血</a:t>
            </a:r>
            <a:r>
              <a:rPr lang="zh-CN" altLang="en-US" dirty="0">
                <a:latin typeface="+mn-ea"/>
                <a:ea typeface="+mn-ea"/>
              </a:rPr>
              <a:t>过多</a:t>
            </a:r>
            <a:endParaRPr lang="en-US" altLang="zh-CN" dirty="0"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  <a:ea typeface="+mn-ea"/>
              </a:rPr>
              <a:t>通常有大型设备，占据导管室空间，使用不便</a:t>
            </a:r>
          </a:p>
        </p:txBody>
      </p:sp>
    </p:spTree>
    <p:extLst>
      <p:ext uri="{BB962C8B-B14F-4D97-AF65-F5344CB8AC3E}">
        <p14:creationId xmlns:p14="http://schemas.microsoft.com/office/powerpoint/2010/main" val="3662506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39DBB-BAA8-1DD8-38E4-7395E8B91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12A8F00-9B29-AA5E-39E5-37C5467BF2FF}"/>
              </a:ext>
            </a:extLst>
          </p:cNvPr>
          <p:cNvSpPr/>
          <p:nvPr/>
        </p:nvSpPr>
        <p:spPr>
          <a:xfrm>
            <a:off x="4606157" y="1870781"/>
            <a:ext cx="1901771" cy="2124004"/>
          </a:xfrm>
          <a:prstGeom prst="roundRect">
            <a:avLst/>
          </a:prstGeom>
          <a:gradFill flip="none" rotWithShape="1">
            <a:gsLst>
              <a:gs pos="0">
                <a:srgbClr val="9DC3E6">
                  <a:tint val="66000"/>
                  <a:satMod val="160000"/>
                </a:srgbClr>
              </a:gs>
              <a:gs pos="50000">
                <a:srgbClr val="9DC3E6">
                  <a:tint val="44500"/>
                  <a:satMod val="160000"/>
                </a:srgbClr>
              </a:gs>
              <a:gs pos="100000">
                <a:srgbClr val="9DC3E6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/>
              <a:t>行业首创支架开口大小可调节设计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D1F5B44-0ED8-E1F5-E8F5-335162E12515}"/>
              </a:ext>
            </a:extLst>
          </p:cNvPr>
          <p:cNvSpPr/>
          <p:nvPr/>
        </p:nvSpPr>
        <p:spPr>
          <a:xfrm>
            <a:off x="2489381" y="2584216"/>
            <a:ext cx="1901771" cy="2124004"/>
          </a:xfrm>
          <a:prstGeom prst="roundRect">
            <a:avLst/>
          </a:prstGeom>
          <a:gradFill flip="none" rotWithShape="1">
            <a:gsLst>
              <a:gs pos="0">
                <a:srgbClr val="9DC3E6">
                  <a:tint val="66000"/>
                  <a:satMod val="160000"/>
                </a:srgbClr>
              </a:gs>
              <a:gs pos="50000">
                <a:srgbClr val="9DC3E6">
                  <a:tint val="44500"/>
                  <a:satMod val="160000"/>
                </a:srgbClr>
              </a:gs>
              <a:gs pos="100000">
                <a:srgbClr val="9DC3E6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924BDEE-C080-EE85-076B-DA8E6A004DD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chemeClr val="tx2"/>
                </a:solidFill>
                <a:latin typeface="+mj-lt"/>
              </a:rPr>
              <a:t>佰特微</a:t>
            </a:r>
            <a:r>
              <a:rPr lang="en-US" altLang="zh-CN" dirty="0">
                <a:solidFill>
                  <a:schemeClr val="tx2"/>
                </a:solidFill>
                <a:latin typeface="+mj-lt"/>
              </a:rPr>
              <a:t>-</a:t>
            </a:r>
            <a:r>
              <a:rPr lang="zh-CN" altLang="en-US" dirty="0">
                <a:solidFill>
                  <a:schemeClr val="tx2"/>
                </a:solidFill>
                <a:latin typeface="+mj-lt"/>
              </a:rPr>
              <a:t>外周静脉支架取栓</a:t>
            </a:r>
            <a:endParaRPr lang="zh-CN" altLang="en-US" sz="1600" b="1" dirty="0">
              <a:solidFill>
                <a:schemeClr val="tx2"/>
              </a:solidFill>
              <a:latin typeface="+mj-lt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392E52-7D4B-61E5-83EC-785431BBD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631" y="5011649"/>
            <a:ext cx="3748682" cy="8235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3CCFD8B-B1BB-AC2A-B4F7-145CCA46F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826" y="6046198"/>
            <a:ext cx="5133092" cy="6663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7B6AE85D-E5F0-F9D2-5E88-1797187B54D9}"/>
              </a:ext>
            </a:extLst>
          </p:cNvPr>
          <p:cNvSpPr/>
          <p:nvPr/>
        </p:nvSpPr>
        <p:spPr>
          <a:xfrm>
            <a:off x="594765" y="3576481"/>
            <a:ext cx="1901771" cy="2124004"/>
          </a:xfrm>
          <a:prstGeom prst="roundRect">
            <a:avLst/>
          </a:prstGeom>
          <a:gradFill flip="none" rotWithShape="1">
            <a:gsLst>
              <a:gs pos="0">
                <a:srgbClr val="9DC3E6">
                  <a:tint val="66000"/>
                  <a:satMod val="160000"/>
                </a:srgbClr>
              </a:gs>
              <a:gs pos="50000">
                <a:srgbClr val="9DC3E6">
                  <a:tint val="44500"/>
                  <a:satMod val="160000"/>
                </a:srgbClr>
              </a:gs>
              <a:gs pos="100000">
                <a:srgbClr val="9DC3E6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/>
              <a:t>10</a:t>
            </a:r>
            <a:r>
              <a:rPr lang="zh-CN" altLang="en-US" sz="1600" dirty="0"/>
              <a:t>微米过滤膜设计捕获更小血栓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818F2C3-F53B-8035-057B-29141C504DE2}"/>
              </a:ext>
            </a:extLst>
          </p:cNvPr>
          <p:cNvGrpSpPr/>
          <p:nvPr/>
        </p:nvGrpSpPr>
        <p:grpSpPr>
          <a:xfrm>
            <a:off x="1080618" y="3185441"/>
            <a:ext cx="930063" cy="820324"/>
            <a:chOff x="4147629" y="1978797"/>
            <a:chExt cx="930063" cy="820324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EC8F9EF-5AC3-2DF2-BF61-9CEB7CF3BF57}"/>
                </a:ext>
              </a:extLst>
            </p:cNvPr>
            <p:cNvSpPr/>
            <p:nvPr/>
          </p:nvSpPr>
          <p:spPr>
            <a:xfrm>
              <a:off x="4212454" y="1978797"/>
              <a:ext cx="845574" cy="820324"/>
            </a:xfrm>
            <a:prstGeom prst="ellipse">
              <a:avLst/>
            </a:prstGeom>
            <a:solidFill>
              <a:srgbClr val="02A1DC"/>
            </a:solidFill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C42B459-078C-F015-0A81-46B3FB2E0D51}"/>
                </a:ext>
              </a:extLst>
            </p:cNvPr>
            <p:cNvSpPr txBox="1"/>
            <p:nvPr/>
          </p:nvSpPr>
          <p:spPr>
            <a:xfrm>
              <a:off x="4147629" y="2009642"/>
              <a:ext cx="93006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创新点</a:t>
              </a:r>
              <a:r>
                <a:rPr lang="en-US" altLang="zh-CN" sz="32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AD03F00-FEBF-A643-3E15-BAC0ACB9BA27}"/>
              </a:ext>
            </a:extLst>
          </p:cNvPr>
          <p:cNvGrpSpPr/>
          <p:nvPr/>
        </p:nvGrpSpPr>
        <p:grpSpPr>
          <a:xfrm>
            <a:off x="2940701" y="2198286"/>
            <a:ext cx="930063" cy="820324"/>
            <a:chOff x="4147629" y="1978797"/>
            <a:chExt cx="930063" cy="820324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C1F5ECC8-E736-271B-FD36-D293A88A531E}"/>
                </a:ext>
              </a:extLst>
            </p:cNvPr>
            <p:cNvSpPr/>
            <p:nvPr/>
          </p:nvSpPr>
          <p:spPr>
            <a:xfrm>
              <a:off x="4212454" y="1978797"/>
              <a:ext cx="845574" cy="820324"/>
            </a:xfrm>
            <a:prstGeom prst="ellipse">
              <a:avLst/>
            </a:prstGeom>
            <a:solidFill>
              <a:srgbClr val="02A1DC"/>
            </a:solidFill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7676BBD-FE88-D577-2FE2-6AEA6881B31C}"/>
                </a:ext>
              </a:extLst>
            </p:cNvPr>
            <p:cNvSpPr txBox="1"/>
            <p:nvPr/>
          </p:nvSpPr>
          <p:spPr>
            <a:xfrm>
              <a:off x="4147629" y="2009642"/>
              <a:ext cx="93006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创新点</a:t>
              </a:r>
              <a:r>
                <a:rPr lang="en-US" altLang="zh-CN" sz="32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C3866E9-A2BA-6C86-72D6-69653EC4ADC2}"/>
              </a:ext>
            </a:extLst>
          </p:cNvPr>
          <p:cNvGrpSpPr/>
          <p:nvPr/>
        </p:nvGrpSpPr>
        <p:grpSpPr>
          <a:xfrm>
            <a:off x="5034166" y="1469200"/>
            <a:ext cx="930063" cy="820324"/>
            <a:chOff x="4147629" y="1978797"/>
            <a:chExt cx="930063" cy="82032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BB69E96-073E-C202-B5C1-692F82926E37}"/>
                </a:ext>
              </a:extLst>
            </p:cNvPr>
            <p:cNvSpPr/>
            <p:nvPr/>
          </p:nvSpPr>
          <p:spPr>
            <a:xfrm>
              <a:off x="4212454" y="1978797"/>
              <a:ext cx="845574" cy="820324"/>
            </a:xfrm>
            <a:prstGeom prst="ellipse">
              <a:avLst/>
            </a:prstGeom>
            <a:solidFill>
              <a:srgbClr val="02A1DC"/>
            </a:solidFill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B716662-5C55-4DA8-DC57-FD887F5F1B40}"/>
                </a:ext>
              </a:extLst>
            </p:cNvPr>
            <p:cNvSpPr txBox="1"/>
            <p:nvPr/>
          </p:nvSpPr>
          <p:spPr>
            <a:xfrm>
              <a:off x="4147629" y="2009642"/>
              <a:ext cx="9300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创新点</a:t>
              </a:r>
              <a:r>
                <a:rPr lang="en-US" altLang="zh-CN" sz="32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A8B6EFE-F25A-2160-DC7B-F7B40BFBE297}"/>
              </a:ext>
            </a:extLst>
          </p:cNvPr>
          <p:cNvSpPr/>
          <p:nvPr/>
        </p:nvSpPr>
        <p:spPr>
          <a:xfrm>
            <a:off x="6730201" y="2503800"/>
            <a:ext cx="1901771" cy="2124004"/>
          </a:xfrm>
          <a:prstGeom prst="roundRect">
            <a:avLst/>
          </a:prstGeom>
          <a:gradFill flip="none" rotWithShape="1">
            <a:gsLst>
              <a:gs pos="0">
                <a:srgbClr val="9DC3E6">
                  <a:tint val="66000"/>
                  <a:satMod val="160000"/>
                </a:srgbClr>
              </a:gs>
              <a:gs pos="50000">
                <a:srgbClr val="9DC3E6">
                  <a:tint val="44500"/>
                  <a:satMod val="160000"/>
                </a:srgbClr>
              </a:gs>
              <a:gs pos="100000">
                <a:srgbClr val="9DC3E6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71830-9D09-D23B-49C4-5BAA4C620384}"/>
              </a:ext>
            </a:extLst>
          </p:cNvPr>
          <p:cNvGrpSpPr/>
          <p:nvPr/>
        </p:nvGrpSpPr>
        <p:grpSpPr>
          <a:xfrm>
            <a:off x="7246710" y="2024988"/>
            <a:ext cx="930063" cy="820324"/>
            <a:chOff x="4147629" y="1978797"/>
            <a:chExt cx="930063" cy="820324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C6B26E84-1B4C-B607-BC96-3DE4B0856E63}"/>
                </a:ext>
              </a:extLst>
            </p:cNvPr>
            <p:cNvSpPr/>
            <p:nvPr/>
          </p:nvSpPr>
          <p:spPr>
            <a:xfrm>
              <a:off x="4212454" y="1978797"/>
              <a:ext cx="845574" cy="820324"/>
            </a:xfrm>
            <a:prstGeom prst="ellipse">
              <a:avLst/>
            </a:prstGeom>
            <a:solidFill>
              <a:srgbClr val="02A1DC"/>
            </a:solidFill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034872C-2526-4CC7-4C05-3FD094AB009E}"/>
                </a:ext>
              </a:extLst>
            </p:cNvPr>
            <p:cNvSpPr txBox="1"/>
            <p:nvPr/>
          </p:nvSpPr>
          <p:spPr>
            <a:xfrm>
              <a:off x="4147629" y="2009642"/>
              <a:ext cx="93006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创新点</a:t>
              </a:r>
              <a:r>
                <a:rPr lang="en-US" altLang="zh-CN" sz="32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6A9FFDE-1821-D49D-5ED6-19658072B480}"/>
              </a:ext>
            </a:extLst>
          </p:cNvPr>
          <p:cNvSpPr/>
          <p:nvPr/>
        </p:nvSpPr>
        <p:spPr>
          <a:xfrm>
            <a:off x="8747409" y="3476597"/>
            <a:ext cx="1901771" cy="2124004"/>
          </a:xfrm>
          <a:prstGeom prst="roundRect">
            <a:avLst/>
          </a:prstGeom>
          <a:gradFill flip="none" rotWithShape="1">
            <a:gsLst>
              <a:gs pos="0">
                <a:srgbClr val="9DC3E6">
                  <a:tint val="66000"/>
                  <a:satMod val="160000"/>
                </a:srgbClr>
              </a:gs>
              <a:gs pos="50000">
                <a:srgbClr val="9DC3E6">
                  <a:tint val="44500"/>
                  <a:satMod val="160000"/>
                </a:srgbClr>
              </a:gs>
              <a:gs pos="100000">
                <a:srgbClr val="9DC3E6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F059F77-26AE-325F-F8D0-BDDF80EE62FF}"/>
              </a:ext>
            </a:extLst>
          </p:cNvPr>
          <p:cNvGrpSpPr/>
          <p:nvPr/>
        </p:nvGrpSpPr>
        <p:grpSpPr>
          <a:xfrm>
            <a:off x="9233264" y="3042945"/>
            <a:ext cx="930063" cy="820324"/>
            <a:chOff x="4147629" y="1978797"/>
            <a:chExt cx="930063" cy="820324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37B9E5D5-15D8-D6E5-1D10-13F9C56B1126}"/>
                </a:ext>
              </a:extLst>
            </p:cNvPr>
            <p:cNvSpPr/>
            <p:nvPr/>
          </p:nvSpPr>
          <p:spPr>
            <a:xfrm>
              <a:off x="4212454" y="1978797"/>
              <a:ext cx="845574" cy="820324"/>
            </a:xfrm>
            <a:prstGeom prst="ellipse">
              <a:avLst/>
            </a:prstGeom>
            <a:solidFill>
              <a:srgbClr val="02A1DC"/>
            </a:solidFill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11DC8A7-53D9-CA75-67DB-EC22D60DDBC3}"/>
                </a:ext>
              </a:extLst>
            </p:cNvPr>
            <p:cNvSpPr txBox="1"/>
            <p:nvPr/>
          </p:nvSpPr>
          <p:spPr>
            <a:xfrm>
              <a:off x="4147629" y="2009642"/>
              <a:ext cx="93006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创新点</a:t>
              </a:r>
              <a:r>
                <a:rPr lang="en-US" altLang="zh-CN" sz="32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C2C8696E-D0BD-4BA2-9979-EFE4A04DAC74}"/>
              </a:ext>
            </a:extLst>
          </p:cNvPr>
          <p:cNvSpPr txBox="1"/>
          <p:nvPr/>
        </p:nvSpPr>
        <p:spPr>
          <a:xfrm>
            <a:off x="6913661" y="2944037"/>
            <a:ext cx="14959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无极密封阀设计，失血量少且操作便捷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833F9FC-5391-53C4-420F-5D3C08E9FC55}"/>
              </a:ext>
            </a:extLst>
          </p:cNvPr>
          <p:cNvSpPr txBox="1"/>
          <p:nvPr/>
        </p:nvSpPr>
        <p:spPr>
          <a:xfrm>
            <a:off x="2681569" y="3133586"/>
            <a:ext cx="17021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过滤膜体外可翻转，实现快速清理，提高多次取栓效率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467F45D-ED37-1A55-C6EB-71FFEBB11830}"/>
              </a:ext>
            </a:extLst>
          </p:cNvPr>
          <p:cNvSpPr txBox="1"/>
          <p:nvPr/>
        </p:nvSpPr>
        <p:spPr>
          <a:xfrm>
            <a:off x="8864769" y="4005765"/>
            <a:ext cx="14959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一体式锥形支架设计，平衡取栓效率和产品通过性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875249-23D2-B758-BD4E-54BE2F1CD13F}"/>
              </a:ext>
            </a:extLst>
          </p:cNvPr>
          <p:cNvSpPr txBox="1"/>
          <p:nvPr/>
        </p:nvSpPr>
        <p:spPr>
          <a:xfrm>
            <a:off x="542509" y="970355"/>
            <a:ext cx="8322260" cy="461665"/>
          </a:xfrm>
          <a:prstGeom prst="rect">
            <a:avLst/>
          </a:prstGeom>
          <a:solidFill>
            <a:srgbClr val="9DC3E6"/>
          </a:solidFill>
        </p:spPr>
        <p:txBody>
          <a:bodyPr wrap="square">
            <a:spAutoFit/>
          </a:bodyPr>
          <a:lstStyle/>
          <a:p>
            <a:r>
              <a:rPr lang="zh-CN" altLang="en-US" sz="2400" dirty="0"/>
              <a:t>同类产品中国产</a:t>
            </a:r>
            <a:r>
              <a:rPr lang="zh-CN" altLang="en-US" sz="2400" b="1" dirty="0">
                <a:solidFill>
                  <a:srgbClr val="FF0000"/>
                </a:solidFill>
              </a:rPr>
              <a:t>首个且唯一</a:t>
            </a:r>
            <a:r>
              <a:rPr lang="zh-CN" altLang="en-US" sz="2400" dirty="0"/>
              <a:t>获得国家医疗器械创新特别审批</a:t>
            </a:r>
          </a:p>
        </p:txBody>
      </p:sp>
    </p:spTree>
    <p:extLst>
      <p:ext uri="{BB962C8B-B14F-4D97-AF65-F5344CB8AC3E}">
        <p14:creationId xmlns:p14="http://schemas.microsoft.com/office/powerpoint/2010/main" val="2906231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chemeClr val="tx2"/>
                </a:solidFill>
                <a:latin typeface="+mj-lt"/>
              </a:rPr>
              <a:t>佰特微</a:t>
            </a:r>
            <a:r>
              <a:rPr lang="en-US" altLang="zh-CN" dirty="0">
                <a:solidFill>
                  <a:schemeClr val="tx2"/>
                </a:solidFill>
                <a:latin typeface="+mj-lt"/>
              </a:rPr>
              <a:t>-</a:t>
            </a:r>
            <a:r>
              <a:rPr lang="zh-CN" altLang="en-US" dirty="0">
                <a:solidFill>
                  <a:schemeClr val="tx2"/>
                </a:solidFill>
                <a:latin typeface="+mj-lt"/>
              </a:rPr>
              <a:t>外周静脉支架取栓系统</a:t>
            </a:r>
            <a:endParaRPr lang="zh-CN" altLang="en-US" b="1" dirty="0">
              <a:solidFill>
                <a:schemeClr val="tx2"/>
              </a:solidFill>
              <a:latin typeface="+mj-lt"/>
              <a:ea typeface="微软雅黑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11C7C3A-EDBF-C08D-109D-23B2C9ECC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348228"/>
              </p:ext>
            </p:extLst>
          </p:nvPr>
        </p:nvGraphicFramePr>
        <p:xfrm>
          <a:off x="914400" y="2893582"/>
          <a:ext cx="10439400" cy="3389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38">
                  <a:extLst>
                    <a:ext uri="{9D8B030D-6E8A-4147-A177-3AD203B41FA5}">
                      <a16:colId xmlns:a16="http://schemas.microsoft.com/office/drawing/2014/main" val="8446300"/>
                    </a:ext>
                  </a:extLst>
                </a:gridCol>
                <a:gridCol w="3081510">
                  <a:extLst>
                    <a:ext uri="{9D8B030D-6E8A-4147-A177-3AD203B41FA5}">
                      <a16:colId xmlns:a16="http://schemas.microsoft.com/office/drawing/2014/main" val="1119673299"/>
                    </a:ext>
                  </a:extLst>
                </a:gridCol>
                <a:gridCol w="3396296">
                  <a:extLst>
                    <a:ext uri="{9D8B030D-6E8A-4147-A177-3AD203B41FA5}">
                      <a16:colId xmlns:a16="http://schemas.microsoft.com/office/drawing/2014/main" val="2556773858"/>
                    </a:ext>
                  </a:extLst>
                </a:gridCol>
                <a:gridCol w="2242656">
                  <a:extLst>
                    <a:ext uri="{9D8B030D-6E8A-4147-A177-3AD203B41FA5}">
                      <a16:colId xmlns:a16="http://schemas.microsoft.com/office/drawing/2014/main" val="3269112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产品特征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     佰特微产品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</a:t>
                      </a:r>
                      <a:r>
                        <a:rPr lang="en-US" altLang="zh-CN" dirty="0" err="1"/>
                        <a:t>ClotTriever</a:t>
                      </a:r>
                      <a:r>
                        <a:rPr lang="en-US" altLang="zh-CN" dirty="0"/>
                        <a:t> (Inari Medical)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对比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38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回收鞘规格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10F, 12F, 14F,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16F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14F,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16F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规格尺寸更小，更齐全适应国内人群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444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支架设计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一体锥形支架设计，支架开口可调节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圆柱体支架设计，支架开口不可调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减少血管壁和静脉瓣损伤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070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支架硬度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偏软，适应国内人群应用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偏硬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减少血管壁和静脉瓣损伤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096480"/>
                  </a:ext>
                </a:extLst>
              </a:tr>
              <a:tr h="727499">
                <a:tc>
                  <a:txBody>
                    <a:bodyPr/>
                    <a:lstStyle/>
                    <a:p>
                      <a:r>
                        <a:rPr lang="zh-CN" altLang="en-US" dirty="0"/>
                        <a:t>血栓收集装置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微孔过滤膜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镍钛编织网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过滤更小栓子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23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血栓体外处理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通过操作手柄翻转过滤膜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用镊子在网兜内逐一清理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清理方便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928578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AD7956B6-54B8-71BC-9A3C-06095C242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738" y="1088846"/>
            <a:ext cx="3875782" cy="1515350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00000000-0008-0000-0000-00000700000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901604" y="726056"/>
            <a:ext cx="3490172" cy="211706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68EDEE9-E0E8-234C-0537-85BA3727A787}"/>
              </a:ext>
            </a:extLst>
          </p:cNvPr>
          <p:cNvSpPr txBox="1"/>
          <p:nvPr/>
        </p:nvSpPr>
        <p:spPr>
          <a:xfrm>
            <a:off x="3343275" y="232410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BTW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652992-9627-C95D-3381-FBB8C8694547}"/>
              </a:ext>
            </a:extLst>
          </p:cNvPr>
          <p:cNvSpPr txBox="1"/>
          <p:nvPr/>
        </p:nvSpPr>
        <p:spPr>
          <a:xfrm>
            <a:off x="8543925" y="237955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Inari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495806-CC30-FD63-3DA6-699DC85CBA14}"/>
              </a:ext>
            </a:extLst>
          </p:cNvPr>
          <p:cNvSpPr txBox="1"/>
          <p:nvPr/>
        </p:nvSpPr>
        <p:spPr>
          <a:xfrm>
            <a:off x="6134100" y="1615688"/>
            <a:ext cx="674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VS.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844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chemeClr val="tx2"/>
                </a:solidFill>
                <a:latin typeface="+mj-lt"/>
              </a:rPr>
              <a:t>佰特微</a:t>
            </a:r>
            <a:r>
              <a:rPr lang="en-US" altLang="zh-CN" dirty="0">
                <a:solidFill>
                  <a:schemeClr val="tx2"/>
                </a:solidFill>
                <a:latin typeface="+mj-lt"/>
              </a:rPr>
              <a:t>-</a:t>
            </a:r>
            <a:r>
              <a:rPr lang="zh-CN" altLang="en-US" dirty="0">
                <a:solidFill>
                  <a:schemeClr val="tx2"/>
                </a:solidFill>
                <a:latin typeface="+mj-lt"/>
              </a:rPr>
              <a:t>外周静脉支架取栓系统</a:t>
            </a:r>
            <a:r>
              <a:rPr lang="en-US" altLang="zh-CN" dirty="0">
                <a:solidFill>
                  <a:schemeClr val="tx2"/>
                </a:solidFill>
                <a:latin typeface="+mj-lt"/>
              </a:rPr>
              <a:t>-</a:t>
            </a:r>
            <a:r>
              <a:rPr lang="zh-CN" altLang="en-US" dirty="0">
                <a:solidFill>
                  <a:schemeClr val="tx2"/>
                </a:solidFill>
                <a:latin typeface="+mj-lt"/>
              </a:rPr>
              <a:t>临床数据</a:t>
            </a:r>
            <a:endParaRPr lang="zh-CN" altLang="en-US" b="1" dirty="0">
              <a:solidFill>
                <a:schemeClr val="tx2"/>
              </a:solidFill>
              <a:latin typeface="+mj-lt"/>
              <a:ea typeface="微软雅黑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9A9D1B7-946D-0829-F841-6F2EB5039114}"/>
              </a:ext>
            </a:extLst>
          </p:cNvPr>
          <p:cNvGrpSpPr/>
          <p:nvPr/>
        </p:nvGrpSpPr>
        <p:grpSpPr>
          <a:xfrm>
            <a:off x="813484" y="4375207"/>
            <a:ext cx="3910915" cy="2164349"/>
            <a:chOff x="6740969" y="1586872"/>
            <a:chExt cx="5153820" cy="277924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CD32F6E-88C1-9405-0B73-B0C5A962E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0969" y="1586872"/>
              <a:ext cx="2969305" cy="13004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FF70EB0-152A-1AED-5455-D7EFDEB88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91888" y="1602944"/>
              <a:ext cx="2102901" cy="1284353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818BD6C-E02B-824D-232D-7944DF76A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40969" y="2996175"/>
              <a:ext cx="5153820" cy="1369939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graphicFrame>
        <p:nvGraphicFramePr>
          <p:cNvPr id="13" name="表格 11">
            <a:extLst>
              <a:ext uri="{FF2B5EF4-FFF2-40B4-BE49-F238E27FC236}">
                <a16:creationId xmlns:a16="http://schemas.microsoft.com/office/drawing/2014/main" id="{EA3A246A-DE4C-0645-9CC6-4A52294BC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856784"/>
              </p:ext>
            </p:extLst>
          </p:nvPr>
        </p:nvGraphicFramePr>
        <p:xfrm>
          <a:off x="5283200" y="1642813"/>
          <a:ext cx="6559632" cy="1005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86544">
                  <a:extLst>
                    <a:ext uri="{9D8B030D-6E8A-4147-A177-3AD203B41FA5}">
                      <a16:colId xmlns:a16="http://schemas.microsoft.com/office/drawing/2014/main" val="943377791"/>
                    </a:ext>
                  </a:extLst>
                </a:gridCol>
                <a:gridCol w="2186544">
                  <a:extLst>
                    <a:ext uri="{9D8B030D-6E8A-4147-A177-3AD203B41FA5}">
                      <a16:colId xmlns:a16="http://schemas.microsoft.com/office/drawing/2014/main" val="2027975317"/>
                    </a:ext>
                  </a:extLst>
                </a:gridCol>
                <a:gridCol w="2186544">
                  <a:extLst>
                    <a:ext uri="{9D8B030D-6E8A-4147-A177-3AD203B41FA5}">
                      <a16:colId xmlns:a16="http://schemas.microsoft.com/office/drawing/2014/main" val="3061487092"/>
                    </a:ext>
                  </a:extLst>
                </a:gridCol>
              </a:tblGrid>
              <a:tr h="293525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血栓清除率</a:t>
                      </a:r>
                      <a:endParaRPr lang="zh-CN" altLang="en-US" sz="1600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813216"/>
                  </a:ext>
                </a:extLst>
              </a:tr>
              <a:tr h="293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BTW</a:t>
                      </a:r>
                      <a:endParaRPr lang="zh-CN" altLang="en-US" sz="16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Inari</a:t>
                      </a:r>
                      <a:endParaRPr lang="zh-CN" altLang="en-US" sz="16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CDT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805816"/>
                  </a:ext>
                </a:extLst>
              </a:tr>
              <a:tr h="293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89.2%</a:t>
                      </a:r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117</a:t>
                      </a:r>
                      <a:r>
                        <a:rPr lang="zh-CN" altLang="en-US" sz="1600" dirty="0"/>
                        <a:t>）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85.8%</a:t>
                      </a:r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250</a:t>
                      </a:r>
                      <a:r>
                        <a:rPr lang="zh-CN" altLang="en-US" sz="1600" dirty="0"/>
                        <a:t>）</a:t>
                      </a:r>
                      <a:endParaRPr lang="zh-CN" altLang="en-US" sz="16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aseline="0" dirty="0"/>
                        <a:t>67.0%</a:t>
                      </a:r>
                      <a:r>
                        <a:rPr lang="zh-CN" altLang="en-US" sz="1600" baseline="0" dirty="0"/>
                        <a:t>（</a:t>
                      </a:r>
                      <a:r>
                        <a:rPr lang="en-US" altLang="zh-CN" sz="1600" baseline="0" dirty="0"/>
                        <a:t>1323</a:t>
                      </a:r>
                      <a:r>
                        <a:rPr lang="zh-CN" altLang="en-US" sz="1600" baseline="0" dirty="0"/>
                        <a:t>）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047311"/>
                  </a:ext>
                </a:extLst>
              </a:tr>
            </a:tbl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D2AAEF06-E909-1DE8-BD6D-4A3A143D1F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7270363"/>
              </p:ext>
            </p:extLst>
          </p:nvPr>
        </p:nvGraphicFramePr>
        <p:xfrm>
          <a:off x="349168" y="116516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662BAEDD-9CED-816B-51D6-B96BABD6A7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9552" y="3081833"/>
            <a:ext cx="535305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38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C526A-31B0-1544-D1F0-2FA1E083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0618C9B-A503-11B7-79D5-2CB685B0331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chemeClr val="tx2"/>
                </a:solidFill>
                <a:latin typeface="+mj-lt"/>
              </a:rPr>
              <a:t>佰特微</a:t>
            </a:r>
            <a:r>
              <a:rPr lang="en-US" altLang="zh-CN" dirty="0">
                <a:solidFill>
                  <a:schemeClr val="tx2"/>
                </a:solidFill>
                <a:latin typeface="+mj-lt"/>
              </a:rPr>
              <a:t>-</a:t>
            </a:r>
            <a:r>
              <a:rPr lang="zh-CN" altLang="en-US" dirty="0">
                <a:solidFill>
                  <a:schemeClr val="tx2"/>
                </a:solidFill>
                <a:latin typeface="+mj-lt"/>
              </a:rPr>
              <a:t>外周静脉支架取栓系统</a:t>
            </a:r>
            <a:r>
              <a:rPr lang="en-US" altLang="zh-CN" dirty="0">
                <a:solidFill>
                  <a:schemeClr val="tx2"/>
                </a:solidFill>
                <a:latin typeface="+mj-lt"/>
              </a:rPr>
              <a:t>-</a:t>
            </a:r>
            <a:r>
              <a:rPr lang="zh-CN" altLang="en-US" dirty="0">
                <a:solidFill>
                  <a:schemeClr val="tx2"/>
                </a:solidFill>
                <a:latin typeface="+mj-lt"/>
              </a:rPr>
              <a:t>临床数据</a:t>
            </a:r>
            <a:endParaRPr lang="zh-CN" altLang="en-US" b="1" dirty="0">
              <a:solidFill>
                <a:schemeClr val="tx2"/>
              </a:solidFill>
              <a:latin typeface="+mj-lt"/>
              <a:ea typeface="微软雅黑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3E62579-5291-016D-DD62-23BE8F495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515603"/>
              </p:ext>
            </p:extLst>
          </p:nvPr>
        </p:nvGraphicFramePr>
        <p:xfrm>
          <a:off x="215495" y="1313635"/>
          <a:ext cx="11761010" cy="4483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10">
                  <a:extLst>
                    <a:ext uri="{9D8B030D-6E8A-4147-A177-3AD203B41FA5}">
                      <a16:colId xmlns:a16="http://schemas.microsoft.com/office/drawing/2014/main" val="3296898822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1582466525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1374622834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539221518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17195971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评价指标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BTW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Inari Medical</a:t>
                      </a:r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250</a:t>
                      </a:r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Inari Medical</a:t>
                      </a:r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500</a:t>
                      </a:r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210927"/>
                  </a:ext>
                </a:extLst>
              </a:tr>
              <a:tr h="389795"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400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主要终点</a:t>
                      </a:r>
                      <a:endParaRPr lang="en-US" altLang="en-US" sz="1400" b="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技术成功率（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栓子移除率）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113/113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460826"/>
                  </a:ext>
                </a:extLst>
              </a:tr>
              <a:tr h="389795">
                <a:tc vMerge="1"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75%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栓子移除率（非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BTW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研究终点）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86.73%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98/113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85.8%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＞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90%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8652256"/>
                  </a:ext>
                </a:extLst>
              </a:tr>
              <a:tr h="389795"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b="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次要有效性指标</a:t>
                      </a:r>
                      <a:endParaRPr lang="en-US" altLang="en-US" sz="1400" b="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天全因死亡率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0/123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1.2%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3/250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4/443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610382"/>
                  </a:ext>
                </a:extLst>
              </a:tr>
              <a:tr h="389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血栓清除率</a:t>
                      </a:r>
                      <a:r>
                        <a:rPr lang="en-US" altLang="zh-CN" sz="1400" b="1" kern="1200" baseline="30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400" b="1" kern="1200" baseline="300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89.2%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8847594"/>
                  </a:ext>
                </a:extLst>
              </a:tr>
              <a:tr h="38979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术后 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个月血栓复发率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1.68%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2/119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4.5%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10/223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4.8%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24/499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156132"/>
                  </a:ext>
                </a:extLst>
              </a:tr>
              <a:tr h="389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基线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PTS</a:t>
                      </a: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发生率</a:t>
                      </a:r>
                      <a:r>
                        <a:rPr lang="en-US" altLang="zh-CN" sz="1400" b="1" kern="1200" baseline="30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en-US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88.62%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109/123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86.1%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81.2%</a:t>
                      </a:r>
                      <a:r>
                        <a:rPr kumimoji="0" lang="zh-CN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358/441</a:t>
                      </a:r>
                      <a:r>
                        <a:rPr kumimoji="0" lang="zh-CN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en-US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936605"/>
                  </a:ext>
                </a:extLst>
              </a:tr>
              <a:tr h="389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术后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个月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PTS</a:t>
                      </a: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发生率</a:t>
                      </a:r>
                      <a:r>
                        <a:rPr lang="en-US" altLang="zh-CN" sz="1400" b="1" kern="1200" baseline="30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en-US" sz="1400" b="1" kern="1200" baseline="300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31.67%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38/120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30.5%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372346"/>
                  </a:ext>
                </a:extLst>
              </a:tr>
              <a:tr h="3897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术后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个月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PTS</a:t>
                      </a: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发生率</a:t>
                      </a:r>
                      <a:r>
                        <a:rPr lang="en-US" altLang="zh-CN" sz="1400" b="1" kern="1200" baseline="30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en-US" sz="1400" b="1" kern="1200" baseline="300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18.97%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22/116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7963801"/>
                  </a:ext>
                </a:extLst>
              </a:tr>
              <a:tr h="389795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术后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个月</a:t>
                      </a: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PTS</a:t>
                      </a:r>
                      <a:r>
                        <a:rPr lang="zh-CN" alt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发生率</a:t>
                      </a:r>
                      <a:r>
                        <a:rPr lang="en-US" altLang="zh-CN" sz="1400" b="1" kern="1200" baseline="30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en-US" sz="1400" b="1" kern="1200" baseline="300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b="1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8.04%</a:t>
                      </a:r>
                      <a:r>
                        <a:rPr lang="zh-CN" altLang="en-US" sz="1400" b="1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9/112</a:t>
                      </a:r>
                      <a:r>
                        <a:rPr lang="zh-CN" altLang="en-US" sz="1400" b="1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en-US" altLang="en-US" sz="1400" b="1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24.4%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23.3%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76/326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192130"/>
                  </a:ext>
                </a:extLst>
              </a:tr>
              <a:tr h="22583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器械相关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SAE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0.81%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1/123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1/223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0.2%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1/499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480391"/>
                  </a:ext>
                </a:extLst>
              </a:tr>
              <a:tr h="186381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血管损伤、瓣膜损伤、急性肾损伤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400614"/>
                  </a:ext>
                </a:extLst>
              </a:tr>
            </a:tbl>
          </a:graphicData>
        </a:graphic>
      </p:graphicFrame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253D283-CE58-CEEE-6DAE-A16332A879AE}"/>
              </a:ext>
            </a:extLst>
          </p:cNvPr>
          <p:cNvSpPr/>
          <p:nvPr/>
        </p:nvSpPr>
        <p:spPr>
          <a:xfrm>
            <a:off x="1538262" y="4796304"/>
            <a:ext cx="10368603" cy="3617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160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chemeClr val="tx2"/>
                </a:solidFill>
                <a:latin typeface="+mj-lt"/>
              </a:rPr>
              <a:t>佰特微</a:t>
            </a:r>
            <a:r>
              <a:rPr lang="en-US" altLang="zh-CN" dirty="0">
                <a:solidFill>
                  <a:schemeClr val="tx2"/>
                </a:solidFill>
                <a:latin typeface="+mj-lt"/>
              </a:rPr>
              <a:t>-</a:t>
            </a:r>
            <a:r>
              <a:rPr lang="zh-CN" altLang="en-US" dirty="0">
                <a:solidFill>
                  <a:schemeClr val="tx2"/>
                </a:solidFill>
                <a:latin typeface="+mj-lt"/>
              </a:rPr>
              <a:t>肺动脉支架取栓系统</a:t>
            </a:r>
            <a:endParaRPr lang="zh-CN" altLang="en-US" b="1" dirty="0">
              <a:solidFill>
                <a:schemeClr val="tx2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1713D3A-7BE5-2DDA-0D62-D6B580BF45D4}"/>
              </a:ext>
            </a:extLst>
          </p:cNvPr>
          <p:cNvSpPr txBox="1"/>
          <p:nvPr/>
        </p:nvSpPr>
        <p:spPr>
          <a:xfrm>
            <a:off x="605127" y="4439373"/>
            <a:ext cx="4818058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同时适用急性、亚急性、陈旧性</a:t>
            </a:r>
            <a:r>
              <a:rPr lang="zh-CN" altLang="en-US" sz="1600" dirty="0">
                <a:solidFill>
                  <a:srgbClr val="FF0000"/>
                </a:solidFill>
              </a:rPr>
              <a:t>血栓。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FF0000"/>
                </a:solidFill>
              </a:rPr>
              <a:t>无需使用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溶栓</a:t>
            </a:r>
            <a:r>
              <a:rPr lang="zh-CN" altLang="en-US" sz="1600" dirty="0">
                <a:solidFill>
                  <a:srgbClr val="FF0000"/>
                </a:solidFill>
              </a:rPr>
              <a:t>药物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，降低出血风险。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FF0000"/>
                </a:solidFill>
              </a:rPr>
              <a:t>两段支架设计，带微孔过滤膜，过滤更小栓子。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无大型设备，易于推广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B1BBA9-190A-FA35-4191-5E12F5BC0F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0485" y="4326951"/>
            <a:ext cx="2812389" cy="1667212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F4965A8A-1608-9F53-4332-3C2BC70AB05C}"/>
              </a:ext>
            </a:extLst>
          </p:cNvPr>
          <p:cNvGrpSpPr/>
          <p:nvPr/>
        </p:nvGrpSpPr>
        <p:grpSpPr>
          <a:xfrm>
            <a:off x="313355" y="1096294"/>
            <a:ext cx="7468632" cy="2731472"/>
            <a:chOff x="1852" y="6695"/>
            <a:chExt cx="10799" cy="352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95783DC-6B1B-1710-FF17-8BB2B5F67169}"/>
                </a:ext>
              </a:extLst>
            </p:cNvPr>
            <p:cNvGrpSpPr/>
            <p:nvPr/>
          </p:nvGrpSpPr>
          <p:grpSpPr>
            <a:xfrm>
              <a:off x="1852" y="6695"/>
              <a:ext cx="10799" cy="3529"/>
              <a:chOff x="1852" y="6695"/>
              <a:chExt cx="10799" cy="3529"/>
            </a:xfrm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3AD1067A-C0E3-9D8D-AF3D-815519F9B107}"/>
                  </a:ext>
                </a:extLst>
              </p:cNvPr>
              <p:cNvGrpSpPr/>
              <p:nvPr/>
            </p:nvGrpSpPr>
            <p:grpSpPr>
              <a:xfrm>
                <a:off x="1852" y="6695"/>
                <a:ext cx="10799" cy="3529"/>
                <a:chOff x="-567" y="5404"/>
                <a:chExt cx="10799" cy="3529"/>
              </a:xfrm>
            </p:grpSpPr>
            <p:grpSp>
              <p:nvGrpSpPr>
                <p:cNvPr id="20" name="组合 19">
                  <a:extLst>
                    <a:ext uri="{FF2B5EF4-FFF2-40B4-BE49-F238E27FC236}">
                      <a16:creationId xmlns:a16="http://schemas.microsoft.com/office/drawing/2014/main" id="{A19E2B30-B7D3-338E-A3E8-67732B0CC6AB}"/>
                    </a:ext>
                  </a:extLst>
                </p:cNvPr>
                <p:cNvGrpSpPr/>
                <p:nvPr/>
              </p:nvGrpSpPr>
              <p:grpSpPr>
                <a:xfrm>
                  <a:off x="-567" y="5404"/>
                  <a:ext cx="9713" cy="3529"/>
                  <a:chOff x="-567" y="5404"/>
                  <a:chExt cx="9713" cy="3529"/>
                </a:xfrm>
              </p:grpSpPr>
              <p:grpSp>
                <p:nvGrpSpPr>
                  <p:cNvPr id="22" name="组合 21">
                    <a:extLst>
                      <a:ext uri="{FF2B5EF4-FFF2-40B4-BE49-F238E27FC236}">
                        <a16:creationId xmlns:a16="http://schemas.microsoft.com/office/drawing/2014/main" id="{DC0B4D48-3F8C-B490-F4E2-593C6171412C}"/>
                      </a:ext>
                    </a:extLst>
                  </p:cNvPr>
                  <p:cNvGrpSpPr/>
                  <p:nvPr/>
                </p:nvGrpSpPr>
                <p:grpSpPr>
                  <a:xfrm>
                    <a:off x="-567" y="5404"/>
                    <a:ext cx="9713" cy="3529"/>
                    <a:chOff x="-115" y="6534"/>
                    <a:chExt cx="9713" cy="3529"/>
                  </a:xfrm>
                </p:grpSpPr>
                <p:pic>
                  <p:nvPicPr>
                    <p:cNvPr id="25" name="图片 24">
                      <a:extLst>
                        <a:ext uri="{FF2B5EF4-FFF2-40B4-BE49-F238E27FC236}">
                          <a16:creationId xmlns:a16="http://schemas.microsoft.com/office/drawing/2014/main" id="{461D842E-91EA-490D-E106-95AE22117F1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5400000">
                      <a:off x="3850" y="3590"/>
                      <a:ext cx="2154" cy="8614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6" name="组合 25">
                      <a:extLst>
                        <a:ext uri="{FF2B5EF4-FFF2-40B4-BE49-F238E27FC236}">
                          <a16:creationId xmlns:a16="http://schemas.microsoft.com/office/drawing/2014/main" id="{44CCCA49-C19F-1FD0-0CF4-261FE747CD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15" y="8571"/>
                      <a:ext cx="4363" cy="1492"/>
                      <a:chOff x="-115" y="8571"/>
                      <a:chExt cx="4363" cy="1492"/>
                    </a:xfrm>
                  </p:grpSpPr>
                  <p:grpSp>
                    <p:nvGrpSpPr>
                      <p:cNvPr id="40" name="组合 39">
                        <a:extLst>
                          <a:ext uri="{FF2B5EF4-FFF2-40B4-BE49-F238E27FC236}">
                            <a16:creationId xmlns:a16="http://schemas.microsoft.com/office/drawing/2014/main" id="{66893D9A-83B1-5D00-4F7C-D0A5150F8532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0800000">
                        <a:off x="2779" y="8571"/>
                        <a:ext cx="118" cy="912"/>
                        <a:chOff x="5046" y="6420"/>
                        <a:chExt cx="118" cy="912"/>
                      </a:xfrm>
                    </p:grpSpPr>
                    <p:sp>
                      <p:nvSpPr>
                        <p:cNvPr id="42" name="椭圆 41">
                          <a:extLst>
                            <a:ext uri="{FF2B5EF4-FFF2-40B4-BE49-F238E27FC236}">
                              <a16:creationId xmlns:a16="http://schemas.microsoft.com/office/drawing/2014/main" id="{38FE3E1C-4640-4C09-D186-F81427F8766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46" y="7214"/>
                          <a:ext cx="119" cy="119"/>
                        </a:xfrm>
                        <a:prstGeom prst="ellipse">
                          <a:avLst/>
                        </a:prstGeom>
                        <a:solidFill>
                          <a:srgbClr val="0170C1"/>
                        </a:solidFill>
                        <a:ln>
                          <a:noFill/>
                        </a:ln>
                        <a:effectLst>
                          <a:outerShdw blurRad="215900" dist="63500" dir="5400000" algn="l" rotWithShape="0">
                            <a:prstClr val="black">
                              <a:alpha val="7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cxnSp>
                      <p:nvCxnSpPr>
                        <p:cNvPr id="43" name="直接连接符 42">
                          <a:extLst>
                            <a:ext uri="{FF2B5EF4-FFF2-40B4-BE49-F238E27FC236}">
                              <a16:creationId xmlns:a16="http://schemas.microsoft.com/office/drawing/2014/main" id="{1D59DB54-4194-9472-0221-458AA04A02E0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 flipV="1">
                          <a:off x="5106" y="6420"/>
                          <a:ext cx="0" cy="794"/>
                        </a:xfrm>
                        <a:prstGeom prst="line">
                          <a:avLst/>
                        </a:prstGeom>
                        <a:ln w="19050" cmpd="sng">
                          <a:solidFill>
                            <a:srgbClr val="0070C0"/>
                          </a:solidFill>
                          <a:prstDash val="solid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41" name="文本框 40">
                        <a:extLst>
                          <a:ext uri="{FF2B5EF4-FFF2-40B4-BE49-F238E27FC236}">
                            <a16:creationId xmlns:a16="http://schemas.microsoft.com/office/drawing/2014/main" id="{EF7AC30D-D292-BD89-78B8-A869B5F867B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-115" y="9483"/>
                        <a:ext cx="4363" cy="58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t">
                        <a:spAutoFit/>
                      </a:bodyPr>
                      <a:lstStyle/>
                      <a:p>
                        <a:r>
                          <a:rPr lang="zh-CN" altLang="en-US" b="1" dirty="0">
                            <a:solidFill>
                              <a:srgbClr val="FF0000"/>
                            </a:solidFill>
                            <a:sym typeface="+mn-ea"/>
                          </a:rPr>
                          <a:t>输送鞘（</a:t>
                        </a:r>
                        <a:r>
                          <a:rPr lang="en-US" altLang="zh-CN" b="1" dirty="0">
                            <a:solidFill>
                              <a:srgbClr val="FF0000"/>
                            </a:solidFill>
                            <a:sym typeface="+mn-ea"/>
                          </a:rPr>
                          <a:t>18F/20F/24F</a:t>
                        </a:r>
                        <a:r>
                          <a:rPr lang="zh-CN" altLang="en-US" b="1" dirty="0">
                            <a:solidFill>
                              <a:srgbClr val="FF0000"/>
                            </a:solidFill>
                            <a:sym typeface="+mn-ea"/>
                          </a:rPr>
                          <a:t>）</a:t>
                        </a:r>
                        <a:endParaRPr lang="zh-CN" altLang="en-US"/>
                      </a:p>
                    </p:txBody>
                  </p:sp>
                </p:grpSp>
                <p:grpSp>
                  <p:nvGrpSpPr>
                    <p:cNvPr id="27" name="组合 26">
                      <a:extLst>
                        <a:ext uri="{FF2B5EF4-FFF2-40B4-BE49-F238E27FC236}">
                          <a16:creationId xmlns:a16="http://schemas.microsoft.com/office/drawing/2014/main" id="{D6F9DD60-D035-9FB9-DFF5-8E888E49C53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07" y="8008"/>
                      <a:ext cx="1491" cy="2054"/>
                      <a:chOff x="8107" y="8008"/>
                      <a:chExt cx="1491" cy="2054"/>
                    </a:xfrm>
                  </p:grpSpPr>
                  <p:cxnSp>
                    <p:nvCxnSpPr>
                      <p:cNvPr id="33" name="直接连接符 32">
                        <a:extLst>
                          <a:ext uri="{FF2B5EF4-FFF2-40B4-BE49-F238E27FC236}">
                            <a16:creationId xmlns:a16="http://schemas.microsoft.com/office/drawing/2014/main" id="{91EE0BA2-ECC1-6F6E-A386-748C42F8CFC0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8107" y="8516"/>
                        <a:ext cx="1322" cy="5"/>
                      </a:xfrm>
                      <a:prstGeom prst="line">
                        <a:avLst/>
                      </a:prstGeom>
                      <a:ln w="0">
                        <a:prstDash val="dashDot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4" name="直接连接符 33">
                        <a:extLst>
                          <a:ext uri="{FF2B5EF4-FFF2-40B4-BE49-F238E27FC236}">
                            <a16:creationId xmlns:a16="http://schemas.microsoft.com/office/drawing/2014/main" id="{3E7486C0-A586-1799-0096-A1A684767CE9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8107" y="8008"/>
                        <a:ext cx="1367" cy="18"/>
                      </a:xfrm>
                      <a:prstGeom prst="line">
                        <a:avLst/>
                      </a:prstGeom>
                      <a:ln w="0">
                        <a:prstDash val="dashDot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35" name="组合 34">
                        <a:extLst>
                          <a:ext uri="{FF2B5EF4-FFF2-40B4-BE49-F238E27FC236}">
                            <a16:creationId xmlns:a16="http://schemas.microsoft.com/office/drawing/2014/main" id="{FF728926-8DD1-C56A-C663-C5DC387FB7C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224" y="8564"/>
                        <a:ext cx="1374" cy="1498"/>
                        <a:chOff x="8224" y="8564"/>
                        <a:chExt cx="1374" cy="1498"/>
                      </a:xfrm>
                    </p:grpSpPr>
                    <p:grpSp>
                      <p:nvGrpSpPr>
                        <p:cNvPr id="36" name="组合 35">
                          <a:extLst>
                            <a:ext uri="{FF2B5EF4-FFF2-40B4-BE49-F238E27FC236}">
                              <a16:creationId xmlns:a16="http://schemas.microsoft.com/office/drawing/2014/main" id="{790A4515-2623-5940-6FD9-C923C6B7A49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0800000">
                          <a:off x="8502" y="8564"/>
                          <a:ext cx="120" cy="918"/>
                          <a:chOff x="5046" y="6420"/>
                          <a:chExt cx="118" cy="912"/>
                        </a:xfrm>
                      </p:grpSpPr>
                      <p:sp>
                        <p:nvSpPr>
                          <p:cNvPr id="38" name="椭圆 37">
                            <a:extLst>
                              <a:ext uri="{FF2B5EF4-FFF2-40B4-BE49-F238E27FC236}">
                                <a16:creationId xmlns:a16="http://schemas.microsoft.com/office/drawing/2014/main" id="{46F2108D-790F-72B3-71F0-828E2211C02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046" y="7214"/>
                            <a:ext cx="119" cy="119"/>
                          </a:xfrm>
                          <a:prstGeom prst="ellipse">
                            <a:avLst/>
                          </a:prstGeom>
                          <a:solidFill>
                            <a:srgbClr val="0170C1"/>
                          </a:solidFill>
                          <a:ln>
                            <a:noFill/>
                          </a:ln>
                          <a:effectLst>
                            <a:outerShdw blurRad="215900" dist="63500" dir="5400000" algn="l" rotWithShape="0">
                              <a:prstClr val="black">
                                <a:alpha val="70000"/>
                              </a:prstClr>
                            </a:outerShdw>
                          </a:effectLst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cxnSp>
                        <p:nvCxnSpPr>
                          <p:cNvPr id="39" name="直接连接符 38">
                            <a:extLst>
                              <a:ext uri="{FF2B5EF4-FFF2-40B4-BE49-F238E27FC236}">
                                <a16:creationId xmlns:a16="http://schemas.microsoft.com/office/drawing/2014/main" id="{A739A5FF-E2ED-EBAF-9896-CE7AF8942786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flipV="1">
                            <a:off x="5106" y="6420"/>
                            <a:ext cx="0" cy="794"/>
                          </a:xfrm>
                          <a:prstGeom prst="line">
                            <a:avLst/>
                          </a:prstGeom>
                          <a:ln w="19050" cmpd="sng">
                            <a:solidFill>
                              <a:srgbClr val="0070C0"/>
                            </a:solidFill>
                            <a:prstDash val="solid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37" name="文本框 36">
                          <a:extLst>
                            <a:ext uri="{FF2B5EF4-FFF2-40B4-BE49-F238E27FC236}">
                              <a16:creationId xmlns:a16="http://schemas.microsoft.com/office/drawing/2014/main" id="{4A895928-E6CF-502B-83AC-65649D985DC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8224" y="9482"/>
                          <a:ext cx="1374" cy="58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 anchor="t">
                          <a:spAutoFit/>
                        </a:bodyPr>
                        <a:lstStyle/>
                        <a:p>
                          <a:pPr lvl="0" algn="l">
                            <a:buClrTx/>
                            <a:buSzTx/>
                            <a:buFontTx/>
                          </a:pPr>
                          <a:r>
                            <a:rPr lang="zh-CN" altLang="en-US" sz="1800" b="1" dirty="0">
                              <a:solidFill>
                                <a:srgbClr val="FF0000"/>
                              </a:solidFill>
                              <a:sym typeface="+mn-ea"/>
                            </a:rPr>
                            <a:t>取栓件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28" name="组合 27">
                      <a:extLst>
                        <a:ext uri="{FF2B5EF4-FFF2-40B4-BE49-F238E27FC236}">
                          <a16:creationId xmlns:a16="http://schemas.microsoft.com/office/drawing/2014/main" id="{737ACE0C-E010-B859-FDFD-0019B90169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51" y="6534"/>
                      <a:ext cx="1736" cy="1592"/>
                      <a:chOff x="3951" y="6534"/>
                      <a:chExt cx="1736" cy="1592"/>
                    </a:xfrm>
                  </p:grpSpPr>
                  <p:grpSp>
                    <p:nvGrpSpPr>
                      <p:cNvPr id="29" name="组合 28">
                        <a:extLst>
                          <a:ext uri="{FF2B5EF4-FFF2-40B4-BE49-F238E27FC236}">
                            <a16:creationId xmlns:a16="http://schemas.microsoft.com/office/drawing/2014/main" id="{28B6673E-D75F-70FF-ACCA-65E593E399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59" y="7214"/>
                        <a:ext cx="118" cy="912"/>
                        <a:chOff x="5046" y="6420"/>
                        <a:chExt cx="118" cy="912"/>
                      </a:xfrm>
                    </p:grpSpPr>
                    <p:sp>
                      <p:nvSpPr>
                        <p:cNvPr id="31" name="椭圆 30">
                          <a:extLst>
                            <a:ext uri="{FF2B5EF4-FFF2-40B4-BE49-F238E27FC236}">
                              <a16:creationId xmlns:a16="http://schemas.microsoft.com/office/drawing/2014/main" id="{04B17694-528D-8D73-D589-DCC42A05B56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46" y="7214"/>
                          <a:ext cx="119" cy="119"/>
                        </a:xfrm>
                        <a:prstGeom prst="ellipse">
                          <a:avLst/>
                        </a:prstGeom>
                        <a:solidFill>
                          <a:srgbClr val="0170C1"/>
                        </a:solidFill>
                        <a:ln>
                          <a:noFill/>
                        </a:ln>
                        <a:effectLst>
                          <a:outerShdw blurRad="215900" dist="63500" dir="5400000" algn="l" rotWithShape="0">
                            <a:prstClr val="black">
                              <a:alpha val="7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cxnSp>
                      <p:nvCxnSpPr>
                        <p:cNvPr id="32" name="直接连接符 31">
                          <a:extLst>
                            <a:ext uri="{FF2B5EF4-FFF2-40B4-BE49-F238E27FC236}">
                              <a16:creationId xmlns:a16="http://schemas.microsoft.com/office/drawing/2014/main" id="{F829C7D7-DD3C-3136-767C-9789355E58D6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 flipV="1">
                          <a:off x="5106" y="6420"/>
                          <a:ext cx="0" cy="794"/>
                        </a:xfrm>
                        <a:prstGeom prst="line">
                          <a:avLst/>
                        </a:prstGeom>
                        <a:ln w="19050" cmpd="sng">
                          <a:solidFill>
                            <a:srgbClr val="0070C0"/>
                          </a:solidFill>
                          <a:prstDash val="solid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30" name="文本框 29">
                        <a:extLst>
                          <a:ext uri="{FF2B5EF4-FFF2-40B4-BE49-F238E27FC236}">
                            <a16:creationId xmlns:a16="http://schemas.microsoft.com/office/drawing/2014/main" id="{CA96CE13-5633-60AA-CFEE-F4A9BAF7D5C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51" y="6534"/>
                        <a:ext cx="1736" cy="58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 anchor="t">
                        <a:spAutoFit/>
                      </a:bodyPr>
                      <a:lstStyle/>
                      <a:p>
                        <a:r>
                          <a:rPr lang="zh-CN" altLang="en-US" b="1" dirty="0">
                            <a:solidFill>
                              <a:srgbClr val="FF0000"/>
                            </a:solidFill>
                            <a:sym typeface="+mn-ea"/>
                          </a:rPr>
                          <a:t>取栓装置</a:t>
                        </a:r>
                        <a:endParaRPr lang="zh-CN" altLang="en-US"/>
                      </a:p>
                    </p:txBody>
                  </p:sp>
                </p:grpSp>
              </p:grpSp>
              <p:cxnSp>
                <p:nvCxnSpPr>
                  <p:cNvPr id="23" name="直接箭头连接符 22">
                    <a:extLst>
                      <a:ext uri="{FF2B5EF4-FFF2-40B4-BE49-F238E27FC236}">
                        <a16:creationId xmlns:a16="http://schemas.microsoft.com/office/drawing/2014/main" id="{5D96809C-6A57-7723-40B8-B879B4226389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8993" y="6878"/>
                    <a:ext cx="1" cy="520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headEnd type="arrow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738D57F-68F6-12FD-0B7E-F60F26F8CE6B}"/>
                    </a:ext>
                  </a:extLst>
                </p:cNvPr>
                <p:cNvSpPr txBox="1"/>
                <p:nvPr/>
              </p:nvSpPr>
              <p:spPr>
                <a:xfrm>
                  <a:off x="9015" y="6874"/>
                  <a:ext cx="1217" cy="48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lvl="0" algn="l">
                    <a:buClrTx/>
                    <a:buSzTx/>
                    <a:buFontTx/>
                  </a:pPr>
                  <a:r>
                    <a:rPr lang="en-US" altLang="zh-CN" sz="1400" b="1" dirty="0">
                      <a:solidFill>
                        <a:srgbClr val="FF0000"/>
                      </a:solidFill>
                      <a:sym typeface="+mn-ea"/>
                    </a:rPr>
                    <a:t>25mm</a:t>
                  </a:r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548A0887-74BA-ADD1-13B4-E8A74B1C8F9B}"/>
                  </a:ext>
                </a:extLst>
              </p:cNvPr>
              <p:cNvGrpSpPr/>
              <p:nvPr/>
            </p:nvGrpSpPr>
            <p:grpSpPr>
              <a:xfrm>
                <a:off x="3455" y="8652"/>
                <a:ext cx="4787" cy="514"/>
                <a:chOff x="3455" y="8652"/>
                <a:chExt cx="4787" cy="514"/>
              </a:xfrm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90E8158E-0939-0237-7C24-589627215ACC}"/>
                    </a:ext>
                  </a:extLst>
                </p:cNvPr>
                <p:cNvCxnSpPr/>
                <p:nvPr/>
              </p:nvCxnSpPr>
              <p:spPr>
                <a:xfrm flipH="1">
                  <a:off x="3455" y="8652"/>
                  <a:ext cx="15" cy="48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5C30C7E6-FCC8-AF8A-BC8B-252610543F95}"/>
                    </a:ext>
                  </a:extLst>
                </p:cNvPr>
                <p:cNvCxnSpPr/>
                <p:nvPr/>
              </p:nvCxnSpPr>
              <p:spPr>
                <a:xfrm flipH="1">
                  <a:off x="8228" y="8684"/>
                  <a:ext cx="15" cy="48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>
                  <a:extLst>
                    <a:ext uri="{FF2B5EF4-FFF2-40B4-BE49-F238E27FC236}">
                      <a16:creationId xmlns:a16="http://schemas.microsoft.com/office/drawing/2014/main" id="{C2E61C98-FA70-8D3E-FE48-26401CCEE12E}"/>
                    </a:ext>
                  </a:extLst>
                </p:cNvPr>
                <p:cNvCxnSpPr/>
                <p:nvPr/>
              </p:nvCxnSpPr>
              <p:spPr>
                <a:xfrm>
                  <a:off x="3470" y="9060"/>
                  <a:ext cx="475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3072678-C018-A795-4890-62E92DA8BD3F}"/>
                    </a:ext>
                  </a:extLst>
                </p:cNvPr>
                <p:cNvSpPr txBox="1"/>
                <p:nvPr/>
              </p:nvSpPr>
              <p:spPr>
                <a:xfrm>
                  <a:off x="5085" y="8694"/>
                  <a:ext cx="1641" cy="43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r>
                    <a:rPr lang="zh-CN" altLang="en-US" sz="1200" dirty="0">
                      <a:solidFill>
                        <a:schemeClr val="tx1"/>
                      </a:solidFill>
                      <a:sym typeface="+mn-ea"/>
                    </a:rPr>
                    <a:t>长度</a:t>
                  </a:r>
                  <a:r>
                    <a:rPr lang="en-US" altLang="zh-CN" sz="1200" dirty="0">
                      <a:solidFill>
                        <a:schemeClr val="tx1"/>
                      </a:solidFill>
                      <a:sym typeface="+mn-ea"/>
                    </a:rPr>
                    <a:t>900mm</a:t>
                  </a:r>
                </a:p>
              </p:txBody>
            </p:sp>
          </p:grp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3DD7C40-0488-5241-3FB6-24F1B0974DED}"/>
                </a:ext>
              </a:extLst>
            </p:cNvPr>
            <p:cNvGrpSpPr/>
            <p:nvPr/>
          </p:nvGrpSpPr>
          <p:grpSpPr>
            <a:xfrm>
              <a:off x="5795" y="7662"/>
              <a:ext cx="5364" cy="770"/>
              <a:chOff x="3448" y="8586"/>
              <a:chExt cx="5364" cy="770"/>
            </a:xfrm>
          </p:grpSpPr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84A5E035-8C5E-D028-6B74-676E0D8FFEAF}"/>
                  </a:ext>
                </a:extLst>
              </p:cNvPr>
              <p:cNvCxnSpPr/>
              <p:nvPr/>
            </p:nvCxnSpPr>
            <p:spPr>
              <a:xfrm flipH="1">
                <a:off x="3448" y="8846"/>
                <a:ext cx="17" cy="47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88045A72-AC99-7C5B-1980-7E91C6DA2818}"/>
                  </a:ext>
                </a:extLst>
              </p:cNvPr>
              <p:cNvCxnSpPr/>
              <p:nvPr/>
            </p:nvCxnSpPr>
            <p:spPr>
              <a:xfrm>
                <a:off x="8810" y="8881"/>
                <a:ext cx="2" cy="4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3186E88D-13F5-4A7D-E71D-926485D15D06}"/>
                  </a:ext>
                </a:extLst>
              </p:cNvPr>
              <p:cNvCxnSpPr/>
              <p:nvPr/>
            </p:nvCxnSpPr>
            <p:spPr>
              <a:xfrm>
                <a:off x="3470" y="8976"/>
                <a:ext cx="5337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F9F0DC9-4160-925C-21AF-30B602461528}"/>
                  </a:ext>
                </a:extLst>
              </p:cNvPr>
              <p:cNvSpPr txBox="1"/>
              <p:nvPr/>
            </p:nvSpPr>
            <p:spPr>
              <a:xfrm>
                <a:off x="5085" y="8586"/>
                <a:ext cx="1782" cy="434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 sz="1200" dirty="0">
                    <a:solidFill>
                      <a:schemeClr val="tx1"/>
                    </a:solidFill>
                    <a:sym typeface="+mn-ea"/>
                  </a:rPr>
                  <a:t>长度</a:t>
                </a:r>
                <a:r>
                  <a:rPr lang="en-US" altLang="zh-CN" sz="1200" dirty="0">
                    <a:solidFill>
                      <a:schemeClr val="tx1"/>
                    </a:solidFill>
                    <a:sym typeface="+mn-ea"/>
                  </a:rPr>
                  <a:t>1265mm</a:t>
                </a:r>
              </a:p>
            </p:txBody>
          </p:sp>
        </p:grp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237C2EA-C7EB-CC74-0855-BF1114E7FD82}"/>
              </a:ext>
            </a:extLst>
          </p:cNvPr>
          <p:cNvGrpSpPr/>
          <p:nvPr/>
        </p:nvGrpSpPr>
        <p:grpSpPr>
          <a:xfrm>
            <a:off x="8090443" y="1836431"/>
            <a:ext cx="3762813" cy="4129129"/>
            <a:chOff x="13867" y="1625"/>
            <a:chExt cx="5569" cy="5979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A45D6BB8-37AE-9058-8E0D-ED0F7E6EEE62}"/>
                </a:ext>
              </a:extLst>
            </p:cNvPr>
            <p:cNvGrpSpPr/>
            <p:nvPr/>
          </p:nvGrpSpPr>
          <p:grpSpPr>
            <a:xfrm>
              <a:off x="14193" y="4542"/>
              <a:ext cx="5243" cy="3062"/>
              <a:chOff x="14193" y="4542"/>
              <a:chExt cx="5243" cy="3062"/>
            </a:xfrm>
          </p:grpSpPr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55BF797C-77E5-719A-D796-3CBB415D6DFE}"/>
                  </a:ext>
                </a:extLst>
              </p:cNvPr>
              <p:cNvGrpSpPr/>
              <p:nvPr/>
            </p:nvGrpSpPr>
            <p:grpSpPr>
              <a:xfrm>
                <a:off x="14193" y="4542"/>
                <a:ext cx="2987" cy="3062"/>
                <a:chOff x="12607" y="2557"/>
                <a:chExt cx="3874" cy="5360"/>
              </a:xfrm>
            </p:grpSpPr>
            <p:pic>
              <p:nvPicPr>
                <p:cNvPr id="54" name="图片 53">
                  <a:extLst>
                    <a:ext uri="{FF2B5EF4-FFF2-40B4-BE49-F238E27FC236}">
                      <a16:creationId xmlns:a16="http://schemas.microsoft.com/office/drawing/2014/main" id="{D8DFEBE6-8B4E-76EE-27A9-48A02AF87358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5"/>
                  </p:custDataLst>
                </p:nvPr>
              </p:nvPicPr>
              <p:blipFill>
                <a:blip r:embed="rId11">
                  <a:lum bright="12000"/>
                </a:blip>
                <a:srcRect t="3526"/>
                <a:stretch>
                  <a:fillRect/>
                </a:stretch>
              </p:blipFill>
              <p:spPr>
                <a:xfrm>
                  <a:off x="12607" y="2557"/>
                  <a:ext cx="3630" cy="5360"/>
                </a:xfrm>
                <a:prstGeom prst="flowChartAlternateProcess">
                  <a:avLst/>
                </a:prstGeom>
              </p:spPr>
            </p:pic>
            <p:cxnSp>
              <p:nvCxnSpPr>
                <p:cNvPr id="55" name="直接箭头连接符 54">
                  <a:extLst>
                    <a:ext uri="{FF2B5EF4-FFF2-40B4-BE49-F238E27FC236}">
                      <a16:creationId xmlns:a16="http://schemas.microsoft.com/office/drawing/2014/main" id="{EA4E9756-884F-5E3D-7261-0CAA1D5E31A7}"/>
                    </a:ext>
                  </a:extLst>
                </p:cNvPr>
                <p:cNvCxnSpPr>
                  <a:stCxn id="53" idx="6"/>
                </p:cNvCxnSpPr>
                <p:nvPr>
                  <p:custDataLst>
                    <p:tags r:id="rId6"/>
                  </p:custDataLst>
                </p:nvPr>
              </p:nvCxnSpPr>
              <p:spPr>
                <a:xfrm flipV="1">
                  <a:off x="15551" y="3703"/>
                  <a:ext cx="930" cy="169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A66EC5F-85B8-8B4C-8280-6C016E1991D5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7010" y="4857"/>
                <a:ext cx="2426" cy="483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xmlns="" type="text"/>
                  </a:ext>
                </a:extLst>
              </a:bodyPr>
              <a:lstStyle/>
              <a:p>
                <a:pPr algn="l"/>
                <a:r>
                  <a:rPr lang="zh-CN" altLang="en-US" sz="1400">
                    <a:latin typeface="Arial" panose="020B0604020202020204" pitchFamily="34" charset="0"/>
                    <a:ea typeface="微软雅黑" panose="020B0503020204020204" pitchFamily="34" charset="-122"/>
                  </a:rPr>
                  <a:t>血管顺应性</a:t>
                </a:r>
                <a:r>
                  <a:rPr lang="zh-CN" altLang="en-US" sz="1400">
                    <a:latin typeface="Arial" panose="020B0604020202020204" pitchFamily="34" charset="0"/>
                    <a:sym typeface="+mn-ea"/>
                  </a:rPr>
                  <a:t>较好</a:t>
                </a:r>
                <a:endParaRPr lang="zh-CN" altLang="en-US" sz="14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535D06D6-4824-6E75-1150-2F9EE60A4E11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 rot="20580000">
                <a:off x="15447" y="5077"/>
                <a:ext cx="1038" cy="248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  <a:effectLst>
                <a:outerShdw blurRad="215900" dist="63500" dir="5400000" algn="l" rotWithShape="0">
                  <a:prstClr val="black">
                    <a:alpha val="7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0170C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>
                  <a:solidFill>
                    <a:schemeClr val="bg1"/>
                  </a:solidFill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8E0FB35C-6971-654B-7F9D-E8B17DEEA059}"/>
                </a:ext>
              </a:extLst>
            </p:cNvPr>
            <p:cNvGrpSpPr/>
            <p:nvPr/>
          </p:nvGrpSpPr>
          <p:grpSpPr>
            <a:xfrm>
              <a:off x="14193" y="1625"/>
              <a:ext cx="4750" cy="2608"/>
              <a:chOff x="10948" y="1621"/>
              <a:chExt cx="4750" cy="2608"/>
            </a:xfrm>
          </p:grpSpPr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0AC02367-793A-2F45-737F-45ABBFB4F97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12">
                <a:lum bright="12000"/>
              </a:blip>
              <a:srcRect l="28566" t="9144" r="12475" b="6858"/>
              <a:stretch>
                <a:fillRect/>
              </a:stretch>
            </p:blipFill>
            <p:spPr>
              <a:xfrm>
                <a:off x="10948" y="1621"/>
                <a:ext cx="2794" cy="2608"/>
              </a:xfrm>
              <a:prstGeom prst="flowChartAlternateProcess">
                <a:avLst/>
              </a:prstGeom>
            </p:spPr>
          </p:pic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5665BCC2-0801-3CA4-54AD-AD4951B39DDC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3936" y="1963"/>
                <a:ext cx="1762" cy="742"/>
              </a:xfrm>
              <a:prstGeom prst="rect">
                <a:avLst/>
              </a:prstGeom>
            </p:spPr>
            <p:txBody>
              <a:bodyPr>
                <a:noAutofit/>
                <a:extLst>
                  <a:ext uri="{4A0BC546-FE56-4ADE-93B0-CB8AF2F6F144}">
                    <wpsdc:textFrameExt xmlns:wpsdc="http://www.wps.cn/officeDocument/2022/drawingmlCustomData" xmlns="" type="text"/>
                  </a:ext>
                </a:extLst>
              </a:bodyPr>
              <a:lstStyle/>
              <a:p>
                <a:pPr algn="l"/>
                <a:r>
                  <a:rPr lang="zh-CN" altLang="en-US" sz="1400">
                    <a:latin typeface="Arial" panose="020B0604020202020204" pitchFamily="34" charset="0"/>
                    <a:ea typeface="微软雅黑" panose="020B0503020204020204" pitchFamily="34" charset="-122"/>
                  </a:rPr>
                  <a:t>过滤膜</a:t>
                </a:r>
                <a:r>
                  <a:rPr lang="zh-CN" altLang="en-US" sz="1400">
                    <a:latin typeface="Arial" panose="020B0604020202020204" pitchFamily="34" charset="0"/>
                    <a:sym typeface="+mn-ea"/>
                  </a:rPr>
                  <a:t>防止血栓逃逸</a:t>
                </a:r>
                <a:endParaRPr lang="zh-CN" altLang="en-US" sz="14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algn="l"/>
                <a:endParaRPr lang="zh-CN" altLang="en-US" sz="14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3F43D49C-F398-192B-AC92-B8388405DA9C}"/>
                  </a:ext>
                </a:extLst>
              </p:cNvPr>
              <p:cNvCxnSpPr>
                <a:stCxn id="49" idx="1"/>
              </p:cNvCxnSpPr>
              <p:nvPr/>
            </p:nvCxnSpPr>
            <p:spPr>
              <a:xfrm flipH="1">
                <a:off x="12780" y="2334"/>
                <a:ext cx="1156" cy="110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7" name="左大括号 46">
              <a:extLst>
                <a:ext uri="{FF2B5EF4-FFF2-40B4-BE49-F238E27FC236}">
                  <a16:creationId xmlns:a16="http://schemas.microsoft.com/office/drawing/2014/main" id="{77EFD387-25C6-1779-96FD-729400AD3036}"/>
                </a:ext>
              </a:extLst>
            </p:cNvPr>
            <p:cNvSpPr/>
            <p:nvPr/>
          </p:nvSpPr>
          <p:spPr>
            <a:xfrm>
              <a:off x="13867" y="2853"/>
              <a:ext cx="348" cy="3313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66869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14CCF5C-D551-C5DE-36A9-FF90446B078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-64" t="6942" r="17272" b="5152"/>
          <a:stretch>
            <a:fillRect/>
          </a:stretch>
        </p:blipFill>
        <p:spPr>
          <a:xfrm>
            <a:off x="1268482" y="1408421"/>
            <a:ext cx="3515850" cy="16999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7C8126-9289-E958-A472-72ACB886F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7273" y="1039763"/>
            <a:ext cx="2499617" cy="1979894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2"/>
                </a:solidFill>
                <a:latin typeface="+mj-lt"/>
              </a:rPr>
              <a:t>佰特微</a:t>
            </a:r>
            <a:r>
              <a:rPr lang="en-US" altLang="zh-CN" dirty="0">
                <a:solidFill>
                  <a:schemeClr val="tx2"/>
                </a:solidFill>
                <a:latin typeface="+mj-lt"/>
              </a:rPr>
              <a:t>-</a:t>
            </a:r>
            <a:r>
              <a:rPr lang="zh-CN" altLang="en-US" dirty="0">
                <a:solidFill>
                  <a:schemeClr val="tx2"/>
                </a:solidFill>
                <a:latin typeface="+mj-lt"/>
              </a:rPr>
              <a:t>肺动脉支架取栓系统</a:t>
            </a:r>
            <a:endParaRPr lang="zh-CN" altLang="en-US" b="1" dirty="0">
              <a:solidFill>
                <a:schemeClr val="tx2"/>
              </a:solidFill>
              <a:latin typeface="+mj-lt"/>
              <a:ea typeface="微软雅黑" pitchFamily="34" charset="-122"/>
            </a:endParaRPr>
          </a:p>
          <a:p>
            <a:pPr algn="l"/>
            <a:endParaRPr lang="zh-CN" altLang="en-US" b="1" dirty="0">
              <a:solidFill>
                <a:schemeClr val="tx2"/>
              </a:solidFill>
              <a:latin typeface="+mj-lt"/>
              <a:ea typeface="微软雅黑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11C7C3A-EDBF-C08D-109D-23B2C9ECC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624023"/>
              </p:ext>
            </p:extLst>
          </p:nvPr>
        </p:nvGraphicFramePr>
        <p:xfrm>
          <a:off x="1075863" y="3425043"/>
          <a:ext cx="10391775" cy="2168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313">
                  <a:extLst>
                    <a:ext uri="{9D8B030D-6E8A-4147-A177-3AD203B41FA5}">
                      <a16:colId xmlns:a16="http://schemas.microsoft.com/office/drawing/2014/main" val="8446300"/>
                    </a:ext>
                  </a:extLst>
                </a:gridCol>
                <a:gridCol w="3081510">
                  <a:extLst>
                    <a:ext uri="{9D8B030D-6E8A-4147-A177-3AD203B41FA5}">
                      <a16:colId xmlns:a16="http://schemas.microsoft.com/office/drawing/2014/main" val="1119673299"/>
                    </a:ext>
                  </a:extLst>
                </a:gridCol>
                <a:gridCol w="3396296">
                  <a:extLst>
                    <a:ext uri="{9D8B030D-6E8A-4147-A177-3AD203B41FA5}">
                      <a16:colId xmlns:a16="http://schemas.microsoft.com/office/drawing/2014/main" val="2556773858"/>
                    </a:ext>
                  </a:extLst>
                </a:gridCol>
                <a:gridCol w="2242656">
                  <a:extLst>
                    <a:ext uri="{9D8B030D-6E8A-4147-A177-3AD203B41FA5}">
                      <a16:colId xmlns:a16="http://schemas.microsoft.com/office/drawing/2014/main" val="3269112099"/>
                    </a:ext>
                  </a:extLst>
                </a:gridCol>
              </a:tblGrid>
              <a:tr h="47826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产品特征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     佰特微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</a:t>
                      </a:r>
                      <a:r>
                        <a:rPr lang="en-US" altLang="zh-CN" dirty="0" err="1"/>
                        <a:t>FlowTriever</a:t>
                      </a:r>
                      <a:r>
                        <a:rPr lang="en-US" altLang="zh-CN" dirty="0"/>
                        <a:t> (Inari Medical)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对比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382492"/>
                  </a:ext>
                </a:extLst>
              </a:tr>
              <a:tr h="517003">
                <a:tc>
                  <a:txBody>
                    <a:bodyPr/>
                    <a:lstStyle/>
                    <a:p>
                      <a:r>
                        <a:rPr lang="zh-CN" altLang="en-US" dirty="0"/>
                        <a:t>回收鞘规格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18F, 20F, 24F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18F, 20F, 24F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相当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44432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zh-CN" altLang="en-US" dirty="0"/>
                        <a:t>支架设计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镍钛切割闭环支架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镍钛编织网盘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支撑力更强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070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血栓收集装置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微孔过滤膜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过滤更小栓子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096480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68EDEE9-E0E8-234C-0537-85BA3727A787}"/>
              </a:ext>
            </a:extLst>
          </p:cNvPr>
          <p:cNvSpPr txBox="1"/>
          <p:nvPr/>
        </p:nvSpPr>
        <p:spPr>
          <a:xfrm>
            <a:off x="2194746" y="280149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BTW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652992-9627-C95D-3381-FBB8C8694547}"/>
              </a:ext>
            </a:extLst>
          </p:cNvPr>
          <p:cNvSpPr txBox="1"/>
          <p:nvPr/>
        </p:nvSpPr>
        <p:spPr>
          <a:xfrm>
            <a:off x="8446535" y="280149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Inari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495806-CC30-FD63-3DA6-699DC85CBA14}"/>
              </a:ext>
            </a:extLst>
          </p:cNvPr>
          <p:cNvSpPr txBox="1"/>
          <p:nvPr/>
        </p:nvSpPr>
        <p:spPr>
          <a:xfrm>
            <a:off x="5934350" y="1920098"/>
            <a:ext cx="674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VS.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642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chemeClr val="tx2"/>
                </a:solidFill>
                <a:latin typeface="+mj-lt"/>
              </a:rPr>
              <a:t>佰特微</a:t>
            </a:r>
            <a:r>
              <a:rPr lang="en-US" altLang="zh-CN" dirty="0">
                <a:solidFill>
                  <a:schemeClr val="tx2"/>
                </a:solidFill>
                <a:latin typeface="+mj-lt"/>
              </a:rPr>
              <a:t>-</a:t>
            </a:r>
            <a:r>
              <a:rPr lang="zh-CN" altLang="en-US" dirty="0">
                <a:solidFill>
                  <a:schemeClr val="tx2"/>
                </a:solidFill>
                <a:latin typeface="+mj-lt"/>
              </a:rPr>
              <a:t>肺动脉支架取栓系统</a:t>
            </a:r>
            <a:r>
              <a:rPr lang="en-US" altLang="zh-CN" dirty="0">
                <a:solidFill>
                  <a:schemeClr val="tx2"/>
                </a:solidFill>
                <a:latin typeface="+mj-lt"/>
              </a:rPr>
              <a:t>-</a:t>
            </a:r>
            <a:r>
              <a:rPr lang="zh-CN" altLang="en-US" dirty="0">
                <a:solidFill>
                  <a:schemeClr val="tx2"/>
                </a:solidFill>
                <a:latin typeface="+mj-lt"/>
              </a:rPr>
              <a:t>临床数据</a:t>
            </a:r>
            <a:endParaRPr lang="zh-CN" altLang="en-US" b="1" dirty="0">
              <a:solidFill>
                <a:schemeClr val="tx2"/>
              </a:solidFill>
              <a:latin typeface="+mj-lt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4532C8-847D-F5CF-8A95-679E580807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06" y="919377"/>
            <a:ext cx="2161922" cy="288256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30F0ECF-DBFD-D361-B9F3-F6E8AAC856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083" y="919377"/>
            <a:ext cx="3825100" cy="286882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4E9C28D3-E5B6-87AF-2C0F-60CFC25A8AB0}"/>
              </a:ext>
            </a:extLst>
          </p:cNvPr>
          <p:cNvGrpSpPr/>
          <p:nvPr/>
        </p:nvGrpSpPr>
        <p:grpSpPr>
          <a:xfrm>
            <a:off x="6923038" y="913450"/>
            <a:ext cx="4819026" cy="2868825"/>
            <a:chOff x="10507" y="2225"/>
            <a:chExt cx="7174" cy="4254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BAC9FC5-A159-989B-4653-9FE11008D589}"/>
                </a:ext>
              </a:extLst>
            </p:cNvPr>
            <p:cNvPicPr/>
            <p:nvPr/>
          </p:nvPicPr>
          <p:blipFill>
            <a:blip r:embed="rId6"/>
            <a:srcRect l="43115" r="1205" b="18031"/>
            <a:stretch>
              <a:fillRect/>
            </a:stretch>
          </p:blipFill>
          <p:spPr>
            <a:xfrm>
              <a:off x="10507" y="2225"/>
              <a:ext cx="7174" cy="42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8DA25D8-704A-264B-9B61-3CA653C00EB7}"/>
                </a:ext>
              </a:extLst>
            </p:cNvPr>
            <p:cNvSpPr txBox="1"/>
            <p:nvPr/>
          </p:nvSpPr>
          <p:spPr>
            <a:xfrm>
              <a:off x="14249" y="2679"/>
              <a:ext cx="1262" cy="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>
                  <a:solidFill>
                    <a:srgbClr val="C00000"/>
                  </a:solidFill>
                </a:rPr>
                <a:t>右心室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F334899-660E-C1EC-F562-7C6BA7459D60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15561" y="3586"/>
              <a:ext cx="1188" cy="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>
                  <a:solidFill>
                    <a:srgbClr val="C00000"/>
                  </a:solidFill>
                </a:rPr>
                <a:t>左心室</a:t>
              </a:r>
            </a:p>
          </p:txBody>
        </p:sp>
      </p:grp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2EC77E6-923D-5496-47B4-CBA202B9D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507266"/>
              </p:ext>
            </p:extLst>
          </p:nvPr>
        </p:nvGraphicFramePr>
        <p:xfrm>
          <a:off x="914400" y="4160911"/>
          <a:ext cx="9998907" cy="2144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407">
                  <a:extLst>
                    <a:ext uri="{9D8B030D-6E8A-4147-A177-3AD203B41FA5}">
                      <a16:colId xmlns:a16="http://schemas.microsoft.com/office/drawing/2014/main" val="8446300"/>
                    </a:ext>
                  </a:extLst>
                </a:gridCol>
                <a:gridCol w="2945258">
                  <a:extLst>
                    <a:ext uri="{9D8B030D-6E8A-4147-A177-3AD203B41FA5}">
                      <a16:colId xmlns:a16="http://schemas.microsoft.com/office/drawing/2014/main" val="1119673299"/>
                    </a:ext>
                  </a:extLst>
                </a:gridCol>
                <a:gridCol w="2103604">
                  <a:extLst>
                    <a:ext uri="{9D8B030D-6E8A-4147-A177-3AD203B41FA5}">
                      <a16:colId xmlns:a16="http://schemas.microsoft.com/office/drawing/2014/main" val="2556773858"/>
                    </a:ext>
                  </a:extLst>
                </a:gridCol>
                <a:gridCol w="3303638">
                  <a:extLst>
                    <a:ext uri="{9D8B030D-6E8A-4147-A177-3AD203B41FA5}">
                      <a16:colId xmlns:a16="http://schemas.microsoft.com/office/drawing/2014/main" val="3269112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     评价指标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BTW 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FlowTriever</a:t>
                      </a: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(Inari Medical)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382492"/>
                  </a:ext>
                </a:extLst>
              </a:tr>
              <a:tr h="3897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主要有效性指标</a:t>
                      </a:r>
                      <a:endParaRPr lang="en-US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基线与术后48h RV/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LV比值的差值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0.52±0.43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0.43±0.44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444324"/>
                  </a:ext>
                </a:extLst>
              </a:tr>
              <a:tr h="389795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次要有效性指标</a:t>
                      </a:r>
                      <a:endParaRPr lang="en-US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技术成功率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98.68%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070632"/>
                  </a:ext>
                </a:extLst>
              </a:tr>
              <a:tr h="389795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器械成功率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97.25%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096480"/>
                  </a:ext>
                </a:extLst>
              </a:tr>
              <a:tr h="22583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术后30d全因死亡率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0.92%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0.8%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95078"/>
                  </a:ext>
                </a:extLst>
              </a:tr>
              <a:tr h="186381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术后30d症状性肺栓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塞复发率</a:t>
                      </a:r>
                      <a:endParaRPr lang="en-US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endParaRPr lang="en-US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6.2%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928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99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chemeClr val="tx2"/>
                </a:solidFill>
                <a:latin typeface="+mj-lt"/>
              </a:rPr>
              <a:t>佰特微</a:t>
            </a:r>
            <a:r>
              <a:rPr lang="en-US" altLang="zh-CN" dirty="0">
                <a:solidFill>
                  <a:schemeClr val="tx2"/>
                </a:solidFill>
                <a:latin typeface="+mj-lt"/>
              </a:rPr>
              <a:t>-</a:t>
            </a:r>
            <a:r>
              <a:rPr lang="zh-CN" altLang="en-US" dirty="0">
                <a:solidFill>
                  <a:schemeClr val="tx2"/>
                </a:solidFill>
                <a:latin typeface="+mj-lt"/>
              </a:rPr>
              <a:t>血栓抽吸系统</a:t>
            </a:r>
            <a:endParaRPr lang="zh-CN" altLang="en-US" b="1" dirty="0">
              <a:solidFill>
                <a:schemeClr val="tx2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719B55-51B0-8A25-09F0-B7E25EED4AD5}"/>
              </a:ext>
            </a:extLst>
          </p:cNvPr>
          <p:cNvSpPr txBox="1"/>
          <p:nvPr/>
        </p:nvSpPr>
        <p:spPr>
          <a:xfrm>
            <a:off x="527092" y="958187"/>
            <a:ext cx="7693948" cy="461665"/>
          </a:xfrm>
          <a:prstGeom prst="rect">
            <a:avLst/>
          </a:prstGeom>
          <a:solidFill>
            <a:srgbClr val="9DC3E6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市场上</a:t>
            </a:r>
            <a:r>
              <a:rPr lang="zh-CN" altLang="en-US" sz="2400" dirty="0">
                <a:solidFill>
                  <a:srgbClr val="FF0000"/>
                </a:solidFill>
              </a:rPr>
              <a:t>最小尺寸</a:t>
            </a:r>
            <a:r>
              <a:rPr lang="zh-CN" altLang="en-US" sz="2400" dirty="0"/>
              <a:t>便携负压抽吸系统</a:t>
            </a:r>
          </a:p>
        </p:txBody>
      </p:sp>
      <p:pic>
        <p:nvPicPr>
          <p:cNvPr id="6" name="内容占位符 5" descr="图片包含 室内, 桌子, 镜子, 水槽&#10;&#10;描述已自动生成">
            <a:extLst>
              <a:ext uri="{FF2B5EF4-FFF2-40B4-BE49-F238E27FC236}">
                <a16:creationId xmlns:a16="http://schemas.microsoft.com/office/drawing/2014/main" id="{2D2DA85B-746A-A746-640C-975DBBFE7F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19" y="2081263"/>
            <a:ext cx="3558310" cy="23326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D10EB07-FAD1-0DB8-763E-797AA7A0D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6465" y="2590352"/>
            <a:ext cx="2057400" cy="13144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EEB8BF-DFBD-A332-23C6-501363E100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30" y="2081264"/>
            <a:ext cx="3558310" cy="23326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6CD9C8D-1444-458A-0890-60BEB6FDA1E2}"/>
              </a:ext>
            </a:extLst>
          </p:cNvPr>
          <p:cNvSpPr txBox="1"/>
          <p:nvPr/>
        </p:nvSpPr>
        <p:spPr>
          <a:xfrm>
            <a:off x="814352" y="4624100"/>
            <a:ext cx="7119427" cy="2367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一键开启，配合流量开关，操作便捷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一次性使用，便携，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无需额外电源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，即可提供高真空负压性能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抽吸导管编织弹簧设计，提供优异的扭控和抗折性能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6-12F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规格，直型和弯型，可适配多种血管尺寸，清理贴壁栓子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大容量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60ml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注射器，可快速清理堆积血栓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434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chemeClr val="tx2"/>
                </a:solidFill>
                <a:latin typeface="+mj-lt"/>
              </a:rPr>
              <a:t>佰特微</a:t>
            </a:r>
            <a:r>
              <a:rPr lang="en-US" altLang="zh-CN" dirty="0">
                <a:solidFill>
                  <a:schemeClr val="tx2"/>
                </a:solidFill>
                <a:latin typeface="+mj-lt"/>
              </a:rPr>
              <a:t>-</a:t>
            </a:r>
            <a:r>
              <a:rPr lang="zh-CN" altLang="en-US" dirty="0">
                <a:solidFill>
                  <a:schemeClr val="tx2"/>
                </a:solidFill>
                <a:latin typeface="+mj-lt"/>
              </a:rPr>
              <a:t>血栓抽吸系统</a:t>
            </a:r>
            <a:endParaRPr lang="zh-CN" altLang="en-US" b="1" dirty="0">
              <a:solidFill>
                <a:schemeClr val="tx2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74591E-3E57-746C-555C-A9416B16D5C8}"/>
              </a:ext>
            </a:extLst>
          </p:cNvPr>
          <p:cNvSpPr txBox="1"/>
          <p:nvPr/>
        </p:nvSpPr>
        <p:spPr>
          <a:xfrm>
            <a:off x="5568335" y="2535311"/>
            <a:ext cx="674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VS.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5" name="内容占位符 5" descr="图片包含 室内, 桌子, 镜子, 水槽&#10;&#10;描述已自动生成">
            <a:extLst>
              <a:ext uri="{FF2B5EF4-FFF2-40B4-BE49-F238E27FC236}">
                <a16:creationId xmlns:a16="http://schemas.microsoft.com/office/drawing/2014/main" id="{58B4B339-5EDB-6DD1-8411-C843B9C15F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84" y="1485529"/>
            <a:ext cx="4485982" cy="29407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818054-FE8F-E880-72B2-2FE6E843B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735" y="1444971"/>
            <a:ext cx="3497890" cy="310401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88E78AD-C869-A1A2-1B57-C04E0F6881A6}"/>
              </a:ext>
            </a:extLst>
          </p:cNvPr>
          <p:cNvSpPr txBox="1"/>
          <p:nvPr/>
        </p:nvSpPr>
        <p:spPr>
          <a:xfrm>
            <a:off x="914400" y="4727518"/>
            <a:ext cx="4397358" cy="1705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无需外接设备，内置锂电池设计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整体一次性耗材，不涉及设备进院问题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超便携，负压泵整体不到</a:t>
            </a:r>
            <a:r>
              <a:rPr lang="en-US" altLang="zh-CN" dirty="0"/>
              <a:t>1kg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最大抽吸力约</a:t>
            </a:r>
            <a:r>
              <a:rPr lang="en-US" altLang="zh-CN" dirty="0"/>
              <a:t>88kpa(</a:t>
            </a:r>
            <a:r>
              <a:rPr lang="zh-CN" altLang="en-US" dirty="0"/>
              <a:t>实测值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85E8EF-EB0D-C773-2162-F23716C026E3}"/>
              </a:ext>
            </a:extLst>
          </p:cNvPr>
          <p:cNvSpPr txBox="1"/>
          <p:nvPr/>
        </p:nvSpPr>
        <p:spPr>
          <a:xfrm>
            <a:off x="7481247" y="4835673"/>
            <a:ext cx="3440301" cy="1705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需外接设备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耗材和主机分开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负压泵整体大约</a:t>
            </a:r>
            <a:r>
              <a:rPr lang="en-US" altLang="zh-CN" dirty="0"/>
              <a:t>10kg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最大抽吸力约</a:t>
            </a:r>
            <a:r>
              <a:rPr lang="en-US" altLang="zh-CN" dirty="0"/>
              <a:t>88kpa (</a:t>
            </a:r>
            <a:r>
              <a:rPr lang="zh-CN" altLang="en-US" dirty="0"/>
              <a:t>实测值</a:t>
            </a:r>
            <a:r>
              <a:rPr lang="en-US" altLang="zh-CN" dirty="0"/>
              <a:t>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A5A361-0CD2-A1A3-6B72-BD5F83DFD781}"/>
              </a:ext>
            </a:extLst>
          </p:cNvPr>
          <p:cNvSpPr txBox="1"/>
          <p:nvPr/>
        </p:nvSpPr>
        <p:spPr>
          <a:xfrm>
            <a:off x="7825765" y="920662"/>
            <a:ext cx="2095830" cy="369332"/>
          </a:xfrm>
          <a:prstGeom prst="rect">
            <a:avLst/>
          </a:prstGeom>
          <a:solidFill>
            <a:srgbClr val="9DC3E6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Penumbra Indigo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F8051D-515A-EA8F-EA7F-4B633E653EB4}"/>
              </a:ext>
            </a:extLst>
          </p:cNvPr>
          <p:cNvSpPr txBox="1"/>
          <p:nvPr/>
        </p:nvSpPr>
        <p:spPr>
          <a:xfrm>
            <a:off x="2478667" y="965581"/>
            <a:ext cx="691215" cy="369332"/>
          </a:xfrm>
          <a:prstGeom prst="rect">
            <a:avLst/>
          </a:prstGeom>
          <a:solidFill>
            <a:srgbClr val="9DC3E6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BTW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692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内容占位符 5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管线</a:t>
            </a:r>
            <a:r>
              <a:rPr lang="zh-CN" altLang="en-US" dirty="0">
                <a:sym typeface="+mn-ea"/>
              </a:rPr>
              <a:t>布局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外周血管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第一阶段布局</a:t>
            </a:r>
            <a:r>
              <a:rPr lang="en-US" altLang="zh-CN" dirty="0">
                <a:sym typeface="+mn-ea"/>
              </a:rPr>
              <a:t>)</a:t>
            </a:r>
            <a:endParaRPr lang="zh-CN" altLang="en-US" dirty="0"/>
          </a:p>
        </p:txBody>
      </p:sp>
      <p:graphicFrame>
        <p:nvGraphicFramePr>
          <p:cNvPr id="78" name="表格 3">
            <a:extLst>
              <a:ext uri="{FF2B5EF4-FFF2-40B4-BE49-F238E27FC236}">
                <a16:creationId xmlns:a16="http://schemas.microsoft.com/office/drawing/2014/main" id="{C39AB04C-90A6-CC82-12D2-CC4EE122D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158270"/>
              </p:ext>
            </p:extLst>
          </p:nvPr>
        </p:nvGraphicFramePr>
        <p:xfrm>
          <a:off x="621697" y="1019209"/>
          <a:ext cx="10686347" cy="4840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1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5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9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44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34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产品名称</a:t>
                      </a:r>
                    </a:p>
                  </a:txBody>
                  <a:tcPr marL="91432" marR="91432" marT="45730" marB="45730" anchor="ctr">
                    <a:solidFill>
                      <a:srgbClr val="99CC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产品定位</a:t>
                      </a:r>
                    </a:p>
                  </a:txBody>
                  <a:tcPr marL="91432" marR="91432" marT="45730" marB="45730" anchor="ctr">
                    <a:solidFill>
                      <a:srgbClr val="99CC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产品开发进度</a:t>
                      </a:r>
                    </a:p>
                  </a:txBody>
                  <a:tcPr marL="91432" marR="91432" marT="45730" marB="45730"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46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设计开发</a:t>
                      </a:r>
                    </a:p>
                  </a:txBody>
                  <a:tcPr marL="91432" marR="91432" marT="45730" marB="4573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注册检验</a:t>
                      </a:r>
                    </a:p>
                  </a:txBody>
                  <a:tcPr marL="91432" marR="91432" marT="45730" marB="4573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开始临床试验</a:t>
                      </a:r>
                    </a:p>
                  </a:txBody>
                  <a:tcPr marL="91432" marR="91432" marT="45730" marB="4573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注册批准</a:t>
                      </a:r>
                    </a:p>
                  </a:txBody>
                  <a:tcPr marL="91432" marR="91432" marT="45730" marB="4573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346"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深静脉机械取栓系统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国内第一梯队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2026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Q1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442"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肺动脉机械取栓系统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国内第一梯队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     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70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血栓抽吸系统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无源抽吸泵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            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                    </a:t>
                      </a: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473171"/>
                  </a:ext>
                </a:extLst>
              </a:tr>
              <a:tr h="421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外周机械解脱弹簧圈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对标波科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Interlock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外周微导管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配套弹簧圈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928610"/>
                  </a:ext>
                </a:extLst>
              </a:tr>
              <a:tr h="432653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抓捕器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配套产品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0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可调弯鞘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编织扭矩可控型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1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Tips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穿刺套件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国内首个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导丝系列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7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血管鞘</a:t>
                      </a:r>
                      <a:endParaRPr lang="zh-CN" altLang="en-US" sz="1400" kern="12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替代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COOK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909">
                <a:tc>
                  <a:txBody>
                    <a:bodyPr/>
                    <a:lstStyle/>
                    <a:p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CODA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球囊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替代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COOK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    </a:t>
                      </a:r>
                      <a:endParaRPr lang="zh-CN" altLang="en-US" sz="1600" dirty="0"/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     </a:t>
                      </a:r>
                      <a:endParaRPr lang="zh-CN" altLang="en-US" sz="1600" dirty="0"/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912907"/>
                  </a:ext>
                </a:extLst>
              </a:tr>
            </a:tbl>
          </a:graphicData>
        </a:graphic>
      </p:graphicFrame>
      <p:sp>
        <p:nvSpPr>
          <p:cNvPr id="86" name="箭头: 五边形 85">
            <a:extLst>
              <a:ext uri="{FF2B5EF4-FFF2-40B4-BE49-F238E27FC236}">
                <a16:creationId xmlns:a16="http://schemas.microsoft.com/office/drawing/2014/main" id="{F8889E13-49FF-111E-B235-023E140950C4}"/>
              </a:ext>
            </a:extLst>
          </p:cNvPr>
          <p:cNvSpPr/>
          <p:nvPr/>
        </p:nvSpPr>
        <p:spPr>
          <a:xfrm>
            <a:off x="4236131" y="1839822"/>
            <a:ext cx="5930424" cy="316544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/>
              <a:t>已递交国内注册申请</a:t>
            </a:r>
          </a:p>
        </p:txBody>
      </p:sp>
      <p:sp>
        <p:nvSpPr>
          <p:cNvPr id="87" name="箭头: 五边形 86">
            <a:extLst>
              <a:ext uri="{FF2B5EF4-FFF2-40B4-BE49-F238E27FC236}">
                <a16:creationId xmlns:a16="http://schemas.microsoft.com/office/drawing/2014/main" id="{72168747-6154-7095-3966-BC8A0AA3C50C}"/>
              </a:ext>
            </a:extLst>
          </p:cNvPr>
          <p:cNvSpPr/>
          <p:nvPr/>
        </p:nvSpPr>
        <p:spPr>
          <a:xfrm>
            <a:off x="4253151" y="3103707"/>
            <a:ext cx="6987645" cy="314489"/>
          </a:xfrm>
          <a:prstGeom prst="homePlat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dirty="0">
                <a:solidFill>
                  <a:schemeClr val="tx1"/>
                </a:solidFill>
              </a:rPr>
              <a:t>2024</a:t>
            </a:r>
            <a:r>
              <a:rPr lang="zh-CN" altLang="en-US" sz="1400" b="1" dirty="0">
                <a:solidFill>
                  <a:schemeClr val="tx1"/>
                </a:solidFill>
              </a:rPr>
              <a:t>年</a:t>
            </a:r>
            <a:r>
              <a:rPr lang="en-US" altLang="zh-CN" sz="1400" b="1" dirty="0">
                <a:solidFill>
                  <a:schemeClr val="tx1"/>
                </a:solidFill>
              </a:rPr>
              <a:t>6</a:t>
            </a:r>
            <a:r>
              <a:rPr lang="zh-CN" altLang="en-US" sz="1400" b="1" dirty="0">
                <a:solidFill>
                  <a:schemeClr val="tx1"/>
                </a:solidFill>
              </a:rPr>
              <a:t>月国内获批</a:t>
            </a:r>
          </a:p>
        </p:txBody>
      </p:sp>
      <p:sp>
        <p:nvSpPr>
          <p:cNvPr id="88" name="箭头: 五边形 87">
            <a:extLst>
              <a:ext uri="{FF2B5EF4-FFF2-40B4-BE49-F238E27FC236}">
                <a16:creationId xmlns:a16="http://schemas.microsoft.com/office/drawing/2014/main" id="{75A2DBBD-618E-39E5-D4B7-1D0412E46DE7}"/>
              </a:ext>
            </a:extLst>
          </p:cNvPr>
          <p:cNvSpPr/>
          <p:nvPr/>
        </p:nvSpPr>
        <p:spPr>
          <a:xfrm>
            <a:off x="4253151" y="3560121"/>
            <a:ext cx="6987646" cy="325386"/>
          </a:xfrm>
          <a:prstGeom prst="homePlat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dirty="0">
                <a:solidFill>
                  <a:schemeClr val="tx1"/>
                </a:solidFill>
              </a:rPr>
              <a:t>2023</a:t>
            </a:r>
            <a:r>
              <a:rPr lang="zh-CN" altLang="en-US" sz="1400" b="1" dirty="0">
                <a:solidFill>
                  <a:schemeClr val="tx1"/>
                </a:solidFill>
              </a:rPr>
              <a:t>年</a:t>
            </a:r>
            <a:r>
              <a:rPr lang="en-US" altLang="zh-CN" sz="1400" b="1" dirty="0">
                <a:solidFill>
                  <a:schemeClr val="tx1"/>
                </a:solidFill>
              </a:rPr>
              <a:t>7</a:t>
            </a:r>
            <a:r>
              <a:rPr lang="zh-CN" altLang="en-US" sz="1400" b="1" dirty="0">
                <a:solidFill>
                  <a:schemeClr val="tx1"/>
                </a:solidFill>
              </a:rPr>
              <a:t>月国内获批</a:t>
            </a:r>
          </a:p>
        </p:txBody>
      </p:sp>
      <p:sp>
        <p:nvSpPr>
          <p:cNvPr id="97" name="箭头: 五边形 96">
            <a:extLst>
              <a:ext uri="{FF2B5EF4-FFF2-40B4-BE49-F238E27FC236}">
                <a16:creationId xmlns:a16="http://schemas.microsoft.com/office/drawing/2014/main" id="{6EE4BEDA-E2FA-E2B2-D90D-D37B5E108F62}"/>
              </a:ext>
            </a:extLst>
          </p:cNvPr>
          <p:cNvSpPr/>
          <p:nvPr/>
        </p:nvSpPr>
        <p:spPr>
          <a:xfrm>
            <a:off x="4245964" y="4819544"/>
            <a:ext cx="6969735" cy="309599"/>
          </a:xfrm>
          <a:prstGeom prst="homePlat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/>
                </a:solidFill>
              </a:rPr>
              <a:t>2024</a:t>
            </a:r>
            <a:r>
              <a:rPr lang="zh-CN" altLang="en-US" sz="1400" b="1" dirty="0">
                <a:solidFill>
                  <a:schemeClr val="tx1"/>
                </a:solidFill>
              </a:rPr>
              <a:t>年</a:t>
            </a:r>
            <a:r>
              <a:rPr lang="en-US" altLang="zh-CN" sz="1400" b="1" dirty="0">
                <a:solidFill>
                  <a:schemeClr val="tx1"/>
                </a:solidFill>
              </a:rPr>
              <a:t>8</a:t>
            </a:r>
            <a:r>
              <a:rPr lang="zh-CN" altLang="en-US" sz="1400" b="1" dirty="0">
                <a:solidFill>
                  <a:schemeClr val="tx1"/>
                </a:solidFill>
              </a:rPr>
              <a:t>月国内获批</a:t>
            </a:r>
          </a:p>
        </p:txBody>
      </p:sp>
      <p:sp>
        <p:nvSpPr>
          <p:cNvPr id="104" name="箭头: 五边形 103">
            <a:extLst>
              <a:ext uri="{FF2B5EF4-FFF2-40B4-BE49-F238E27FC236}">
                <a16:creationId xmlns:a16="http://schemas.microsoft.com/office/drawing/2014/main" id="{AF5CB309-5315-61F6-7CD4-23A237813995}"/>
              </a:ext>
            </a:extLst>
          </p:cNvPr>
          <p:cNvSpPr/>
          <p:nvPr/>
        </p:nvSpPr>
        <p:spPr>
          <a:xfrm>
            <a:off x="4236132" y="5522287"/>
            <a:ext cx="6969735" cy="309598"/>
          </a:xfrm>
          <a:prstGeom prst="homePlat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/>
                </a:solidFill>
              </a:rPr>
              <a:t>2024</a:t>
            </a:r>
            <a:r>
              <a:rPr lang="zh-CN" altLang="en-US" sz="1400" b="1" dirty="0">
                <a:solidFill>
                  <a:schemeClr val="tx1"/>
                </a:solidFill>
              </a:rPr>
              <a:t>年</a:t>
            </a:r>
            <a:r>
              <a:rPr lang="en-US" altLang="zh-CN" sz="1400" b="1" dirty="0">
                <a:solidFill>
                  <a:schemeClr val="tx1"/>
                </a:solidFill>
              </a:rPr>
              <a:t>8</a:t>
            </a:r>
            <a:r>
              <a:rPr lang="zh-CN" altLang="en-US" sz="1400" b="1" dirty="0">
                <a:solidFill>
                  <a:schemeClr val="tx1"/>
                </a:solidFill>
              </a:rPr>
              <a:t>月国内获批</a:t>
            </a:r>
          </a:p>
        </p:txBody>
      </p:sp>
      <p:sp>
        <p:nvSpPr>
          <p:cNvPr id="105" name="箭头: 五边形 104">
            <a:extLst>
              <a:ext uri="{FF2B5EF4-FFF2-40B4-BE49-F238E27FC236}">
                <a16:creationId xmlns:a16="http://schemas.microsoft.com/office/drawing/2014/main" id="{145233E5-7C49-09E8-D387-373EE81E944F}"/>
              </a:ext>
            </a:extLst>
          </p:cNvPr>
          <p:cNvSpPr/>
          <p:nvPr/>
        </p:nvSpPr>
        <p:spPr>
          <a:xfrm>
            <a:off x="4243318" y="2664065"/>
            <a:ext cx="6962548" cy="297717"/>
          </a:xfrm>
          <a:prstGeom prst="homePlat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/>
                </a:solidFill>
              </a:rPr>
              <a:t>2025</a:t>
            </a:r>
            <a:r>
              <a:rPr lang="zh-CN" altLang="en-US" sz="1400" b="1" dirty="0">
                <a:solidFill>
                  <a:schemeClr val="tx1"/>
                </a:solidFill>
              </a:rPr>
              <a:t>年</a:t>
            </a:r>
            <a:r>
              <a:rPr lang="en-US" altLang="zh-CN" sz="1400" b="1" dirty="0">
                <a:solidFill>
                  <a:schemeClr val="tx1"/>
                </a:solidFill>
              </a:rPr>
              <a:t>5</a:t>
            </a:r>
            <a:r>
              <a:rPr lang="zh-CN" altLang="en-US" sz="1400" b="1" dirty="0">
                <a:solidFill>
                  <a:schemeClr val="tx1"/>
                </a:solidFill>
              </a:rPr>
              <a:t>月国内获批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FFDBDF3-893F-D552-3DBC-276CF7805D03}"/>
              </a:ext>
            </a:extLst>
          </p:cNvPr>
          <p:cNvSpPr/>
          <p:nvPr/>
        </p:nvSpPr>
        <p:spPr>
          <a:xfrm>
            <a:off x="4258696" y="3996588"/>
            <a:ext cx="6987646" cy="316896"/>
          </a:xfrm>
          <a:prstGeom prst="homePlat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dirty="0">
                <a:solidFill>
                  <a:schemeClr val="tx1"/>
                </a:solidFill>
              </a:rPr>
              <a:t>2023</a:t>
            </a:r>
            <a:r>
              <a:rPr lang="zh-CN" altLang="en-US" sz="1400" b="1" dirty="0">
                <a:solidFill>
                  <a:schemeClr val="tx1"/>
                </a:solidFill>
              </a:rPr>
              <a:t>年</a:t>
            </a:r>
            <a:r>
              <a:rPr lang="en-US" altLang="zh-CN" sz="1400" b="1" dirty="0">
                <a:solidFill>
                  <a:schemeClr val="tx1"/>
                </a:solidFill>
              </a:rPr>
              <a:t>8</a:t>
            </a:r>
            <a:r>
              <a:rPr lang="zh-CN" altLang="en-US" sz="1400" b="1" dirty="0">
                <a:solidFill>
                  <a:schemeClr val="tx1"/>
                </a:solidFill>
              </a:rPr>
              <a:t>月国内获批</a:t>
            </a: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D1735BD2-1132-BB23-30AA-108BA0B0BE01}"/>
              </a:ext>
            </a:extLst>
          </p:cNvPr>
          <p:cNvSpPr/>
          <p:nvPr/>
        </p:nvSpPr>
        <p:spPr>
          <a:xfrm>
            <a:off x="4253151" y="4423497"/>
            <a:ext cx="6962549" cy="311287"/>
          </a:xfrm>
          <a:prstGeom prst="homePlat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dirty="0">
                <a:solidFill>
                  <a:schemeClr val="tx1"/>
                </a:solidFill>
              </a:rPr>
              <a:t>2023</a:t>
            </a:r>
            <a:r>
              <a:rPr lang="zh-CN" altLang="en-US" sz="1400" b="1" dirty="0">
                <a:solidFill>
                  <a:schemeClr val="tx1"/>
                </a:solidFill>
              </a:rPr>
              <a:t>年</a:t>
            </a:r>
            <a:r>
              <a:rPr lang="en-US" altLang="zh-CN" sz="1400" b="1" dirty="0">
                <a:solidFill>
                  <a:schemeClr val="tx1"/>
                </a:solidFill>
              </a:rPr>
              <a:t>9</a:t>
            </a:r>
            <a:r>
              <a:rPr lang="zh-CN" altLang="en-US" sz="1400" b="1" dirty="0">
                <a:solidFill>
                  <a:schemeClr val="tx1"/>
                </a:solidFill>
              </a:rPr>
              <a:t>月国内获批</a:t>
            </a: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A77A2C2A-4DDB-6126-A64F-B2A495D3BF81}"/>
              </a:ext>
            </a:extLst>
          </p:cNvPr>
          <p:cNvSpPr/>
          <p:nvPr/>
        </p:nvSpPr>
        <p:spPr>
          <a:xfrm>
            <a:off x="4236132" y="5185664"/>
            <a:ext cx="6969735" cy="291952"/>
          </a:xfrm>
          <a:prstGeom prst="homePlat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/>
                </a:solidFill>
              </a:rPr>
              <a:t>2024</a:t>
            </a:r>
            <a:r>
              <a:rPr lang="zh-CN" altLang="en-US" sz="1400" b="1" dirty="0">
                <a:solidFill>
                  <a:schemeClr val="tx1"/>
                </a:solidFill>
              </a:rPr>
              <a:t>年</a:t>
            </a:r>
            <a:r>
              <a:rPr lang="en-US" altLang="zh-CN" sz="1400" b="1" dirty="0">
                <a:solidFill>
                  <a:schemeClr val="tx1"/>
                </a:solidFill>
              </a:rPr>
              <a:t>9</a:t>
            </a:r>
            <a:r>
              <a:rPr lang="zh-CN" altLang="en-US" sz="1400" b="1" dirty="0">
                <a:solidFill>
                  <a:schemeClr val="tx1"/>
                </a:solidFill>
              </a:rPr>
              <a:t>月国内获批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D514DC39-C107-145F-FD57-9BC9BFDA18DC}"/>
              </a:ext>
            </a:extLst>
          </p:cNvPr>
          <p:cNvSpPr/>
          <p:nvPr/>
        </p:nvSpPr>
        <p:spPr>
          <a:xfrm>
            <a:off x="4253151" y="2245675"/>
            <a:ext cx="6962548" cy="297717"/>
          </a:xfrm>
          <a:prstGeom prst="homePlat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/>
                </a:solidFill>
              </a:rPr>
              <a:t>   2025</a:t>
            </a:r>
            <a:r>
              <a:rPr lang="zh-CN" altLang="en-US" sz="1400" b="1" dirty="0">
                <a:solidFill>
                  <a:schemeClr val="tx1"/>
                </a:solidFill>
              </a:rPr>
              <a:t>年</a:t>
            </a:r>
            <a:r>
              <a:rPr lang="en-US" altLang="zh-CN" sz="1400" b="1" dirty="0">
                <a:solidFill>
                  <a:schemeClr val="tx1"/>
                </a:solidFill>
              </a:rPr>
              <a:t>11</a:t>
            </a:r>
            <a:r>
              <a:rPr lang="zh-CN" altLang="en-US" sz="1400" b="1" dirty="0">
                <a:solidFill>
                  <a:schemeClr val="tx1"/>
                </a:solidFill>
              </a:rPr>
              <a:t>月国内获批</a:t>
            </a:r>
          </a:p>
        </p:txBody>
      </p:sp>
    </p:spTree>
    <p:extLst>
      <p:ext uri="{BB962C8B-B14F-4D97-AF65-F5344CB8AC3E}">
        <p14:creationId xmlns:p14="http://schemas.microsoft.com/office/powerpoint/2010/main" val="231719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4F8C2-1437-285D-CD8F-CAE4C527D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内容占位符 58">
            <a:extLst>
              <a:ext uri="{FF2B5EF4-FFF2-40B4-BE49-F238E27FC236}">
                <a16:creationId xmlns:a16="http://schemas.microsoft.com/office/drawing/2014/main" id="{2B6F3976-EAD5-9A55-FA80-FCABEF34D5B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管线</a:t>
            </a:r>
            <a:r>
              <a:rPr lang="zh-CN" altLang="en-US" dirty="0">
                <a:sym typeface="+mn-ea"/>
              </a:rPr>
              <a:t>布局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外周血管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第二阶段布局</a:t>
            </a:r>
            <a:r>
              <a:rPr lang="en-US" altLang="zh-CN" dirty="0">
                <a:sym typeface="+mn-ea"/>
              </a:rPr>
              <a:t>)</a:t>
            </a:r>
            <a:endParaRPr lang="zh-CN" altLang="en-US" dirty="0"/>
          </a:p>
        </p:txBody>
      </p:sp>
      <p:graphicFrame>
        <p:nvGraphicFramePr>
          <p:cNvPr id="78" name="表格 3">
            <a:extLst>
              <a:ext uri="{FF2B5EF4-FFF2-40B4-BE49-F238E27FC236}">
                <a16:creationId xmlns:a16="http://schemas.microsoft.com/office/drawing/2014/main" id="{BCF614BF-1559-7CC9-E1B1-B08057AD9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395033"/>
              </p:ext>
            </p:extLst>
          </p:nvPr>
        </p:nvGraphicFramePr>
        <p:xfrm>
          <a:off x="1024820" y="979881"/>
          <a:ext cx="10686347" cy="5145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5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9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44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434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产品名称</a:t>
                      </a:r>
                    </a:p>
                  </a:txBody>
                  <a:tcPr marL="91432" marR="91432" marT="45730" marB="45730" anchor="ctr">
                    <a:solidFill>
                      <a:srgbClr val="99CC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产品定位</a:t>
                      </a:r>
                    </a:p>
                  </a:txBody>
                  <a:tcPr marL="91432" marR="91432" marT="45730" marB="45730" anchor="ctr">
                    <a:solidFill>
                      <a:srgbClr val="99CC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产品开发进度</a:t>
                      </a:r>
                    </a:p>
                  </a:txBody>
                  <a:tcPr marL="91432" marR="91432" marT="45730" marB="45730"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46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设计开发</a:t>
                      </a:r>
                    </a:p>
                  </a:txBody>
                  <a:tcPr marL="91432" marR="91432" marT="45730" marB="4573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注册检验</a:t>
                      </a:r>
                    </a:p>
                  </a:txBody>
                  <a:tcPr marL="91432" marR="91432" marT="45730" marB="4573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开始临床试验</a:t>
                      </a:r>
                    </a:p>
                  </a:txBody>
                  <a:tcPr marL="91432" marR="91432" marT="45730" marB="45730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注册批准</a:t>
                      </a:r>
                    </a:p>
                  </a:txBody>
                  <a:tcPr marL="91432" marR="91432" marT="45730" marB="45730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346"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动脉血栓旋切导管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国内唯一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2029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Q1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4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 可调湾超选导管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国内唯一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2027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Q2         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70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新型肿瘤介入导管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国内唯一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            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                    </a:t>
                      </a: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2027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Q2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473171"/>
                  </a:ext>
                </a:extLst>
              </a:tr>
              <a:tr h="421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CTO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穿刺导管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国内唯一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2027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Q1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二代静脉取栓导管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产品升级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2028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Q2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928610"/>
                  </a:ext>
                </a:extLst>
              </a:tr>
              <a:tr h="4326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二代肺动脉取栓导管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产品升级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2028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Q2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0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二代弹簧圈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产品升级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2027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Q1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8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二代抽吸导管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产品升级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2027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Q2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7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DVT-</a:t>
                      </a:r>
                      <a:r>
                        <a:rPr lang="zh-CN" altLang="en-US" sz="1400" b="1" kern="1200" dirty="0">
                          <a:solidFill>
                            <a:srgbClr val="F4721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海外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2027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Q1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909">
                <a:tc>
                  <a:txBody>
                    <a:bodyPr/>
                    <a:lstStyle/>
                    <a:p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PE-</a:t>
                      </a:r>
                      <a:r>
                        <a:rPr lang="zh-CN" altLang="en-US" sz="1400" b="1" kern="1200" dirty="0">
                          <a:solidFill>
                            <a:srgbClr val="F4721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海外</a:t>
                      </a: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    </a:t>
                      </a:r>
                      <a:endParaRPr lang="zh-CN" altLang="en-US" sz="1600" dirty="0"/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       </a:t>
                      </a:r>
                      <a:endParaRPr lang="zh-CN" altLang="en-US" sz="1600" dirty="0"/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2027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Q1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912907"/>
                  </a:ext>
                </a:extLst>
              </a:tr>
              <a:tr h="3729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32" marR="91432" marT="45730" marB="457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6" name="箭头: 五边形 85">
            <a:extLst>
              <a:ext uri="{FF2B5EF4-FFF2-40B4-BE49-F238E27FC236}">
                <a16:creationId xmlns:a16="http://schemas.microsoft.com/office/drawing/2014/main" id="{142C5E49-A37B-A8B3-B245-A22FE48A939F}"/>
              </a:ext>
            </a:extLst>
          </p:cNvPr>
          <p:cNvSpPr/>
          <p:nvPr/>
        </p:nvSpPr>
        <p:spPr>
          <a:xfrm>
            <a:off x="4688415" y="1810326"/>
            <a:ext cx="1407585" cy="316543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/>
              <a:t>设计中</a:t>
            </a: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DAA1DA0-EEDD-550D-7902-F6F3ADC2BBFB}"/>
              </a:ext>
            </a:extLst>
          </p:cNvPr>
          <p:cNvSpPr/>
          <p:nvPr/>
        </p:nvSpPr>
        <p:spPr>
          <a:xfrm>
            <a:off x="4702310" y="2195732"/>
            <a:ext cx="1324864" cy="316544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/>
              <a:t>设计中</a:t>
            </a:r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FA57274D-C805-7B90-043D-7AB38655204E}"/>
              </a:ext>
            </a:extLst>
          </p:cNvPr>
          <p:cNvSpPr/>
          <p:nvPr/>
        </p:nvSpPr>
        <p:spPr>
          <a:xfrm>
            <a:off x="4688414" y="2600803"/>
            <a:ext cx="1161777" cy="316544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/>
              <a:t>设计中</a:t>
            </a: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C23E8D77-0D6E-52A7-3E45-6852BB94E2CA}"/>
              </a:ext>
            </a:extLst>
          </p:cNvPr>
          <p:cNvSpPr/>
          <p:nvPr/>
        </p:nvSpPr>
        <p:spPr>
          <a:xfrm>
            <a:off x="4702311" y="3045840"/>
            <a:ext cx="1161777" cy="316544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/>
              <a:t>设计中</a:t>
            </a: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6885E78-AA10-E7E9-2582-6DC84CEDF94A}"/>
              </a:ext>
            </a:extLst>
          </p:cNvPr>
          <p:cNvSpPr/>
          <p:nvPr/>
        </p:nvSpPr>
        <p:spPr>
          <a:xfrm>
            <a:off x="4702311" y="3474670"/>
            <a:ext cx="1161777" cy="316544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/>
              <a:t>设计中</a:t>
            </a:r>
          </a:p>
        </p:txBody>
      </p:sp>
      <p:sp>
        <p:nvSpPr>
          <p:cNvPr id="10" name="箭头: 五边形 9">
            <a:extLst>
              <a:ext uri="{FF2B5EF4-FFF2-40B4-BE49-F238E27FC236}">
                <a16:creationId xmlns:a16="http://schemas.microsoft.com/office/drawing/2014/main" id="{507C1B1A-033D-4699-A623-D55A417EA781}"/>
              </a:ext>
            </a:extLst>
          </p:cNvPr>
          <p:cNvSpPr/>
          <p:nvPr/>
        </p:nvSpPr>
        <p:spPr>
          <a:xfrm>
            <a:off x="4688413" y="3895948"/>
            <a:ext cx="1161777" cy="316544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/>
              <a:t>设计中</a:t>
            </a:r>
          </a:p>
        </p:txBody>
      </p: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3B3DFDB3-DF05-253E-7B69-89CBC23437EB}"/>
              </a:ext>
            </a:extLst>
          </p:cNvPr>
          <p:cNvSpPr/>
          <p:nvPr/>
        </p:nvSpPr>
        <p:spPr>
          <a:xfrm>
            <a:off x="4702310" y="4317226"/>
            <a:ext cx="1161777" cy="316544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/>
              <a:t>设计中</a:t>
            </a:r>
          </a:p>
        </p:txBody>
      </p:sp>
      <p:sp>
        <p:nvSpPr>
          <p:cNvPr id="13" name="箭头: 五边形 12">
            <a:extLst>
              <a:ext uri="{FF2B5EF4-FFF2-40B4-BE49-F238E27FC236}">
                <a16:creationId xmlns:a16="http://schemas.microsoft.com/office/drawing/2014/main" id="{1125D61D-0F75-B3D4-5E80-D6DE8135CD11}"/>
              </a:ext>
            </a:extLst>
          </p:cNvPr>
          <p:cNvSpPr/>
          <p:nvPr/>
        </p:nvSpPr>
        <p:spPr>
          <a:xfrm>
            <a:off x="4702310" y="4726392"/>
            <a:ext cx="1161777" cy="316544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/>
              <a:t>设计中</a:t>
            </a:r>
          </a:p>
        </p:txBody>
      </p:sp>
    </p:spTree>
    <p:extLst>
      <p:ext uri="{BB962C8B-B14F-4D97-AF65-F5344CB8AC3E}">
        <p14:creationId xmlns:p14="http://schemas.microsoft.com/office/powerpoint/2010/main" val="2812567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6">
            <a:extLst>
              <a:ext uri="{FF2B5EF4-FFF2-40B4-BE49-F238E27FC236}">
                <a16:creationId xmlns:a16="http://schemas.microsoft.com/office/drawing/2014/main" id="{23A6272A-CC7C-36E4-866C-B97A65D53489}"/>
              </a:ext>
            </a:extLst>
          </p:cNvPr>
          <p:cNvSpPr txBox="1"/>
          <p:nvPr/>
        </p:nvSpPr>
        <p:spPr>
          <a:xfrm>
            <a:off x="3280766" y="2129721"/>
            <a:ext cx="5283130" cy="1721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8000" b="1" dirty="0">
                <a:solidFill>
                  <a:schemeClr val="tx2">
                    <a:lumMod val="75000"/>
                  </a:schemeClr>
                </a:solidFill>
              </a:rPr>
              <a:t>心衰产品线</a:t>
            </a:r>
            <a:endParaRPr lang="en-US" altLang="zh-CN" sz="8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3193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心房分流器械</a:t>
            </a:r>
          </a:p>
        </p:txBody>
      </p:sp>
      <p:graphicFrame>
        <p:nvGraphicFramePr>
          <p:cNvPr id="16" name="图示 15">
            <a:extLst>
              <a:ext uri="{FF2B5EF4-FFF2-40B4-BE49-F238E27FC236}">
                <a16:creationId xmlns:a16="http://schemas.microsoft.com/office/drawing/2014/main" id="{E4EE2A93-BF20-474B-FC10-B9C4FFB5BF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5091661"/>
              </p:ext>
            </p:extLst>
          </p:nvPr>
        </p:nvGraphicFramePr>
        <p:xfrm>
          <a:off x="5155381" y="836191"/>
          <a:ext cx="5016035" cy="2539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2B27DAA7-4FAE-5ACB-EED7-B873689D271F}"/>
              </a:ext>
            </a:extLst>
          </p:cNvPr>
          <p:cNvSpPr txBox="1"/>
          <p:nvPr/>
        </p:nvSpPr>
        <p:spPr>
          <a:xfrm>
            <a:off x="8302578" y="6191957"/>
            <a:ext cx="306926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房间隔造口术：降低左房压力，改善心衰症状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616660D9-10B4-D4B9-4868-80245CFE85D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729532" y="4045132"/>
            <a:ext cx="4215358" cy="2061937"/>
          </a:xfrm>
          <a:prstGeom prst="rect">
            <a:avLst/>
          </a:prstGeom>
        </p:spPr>
      </p:pic>
      <p:graphicFrame>
        <p:nvGraphicFramePr>
          <p:cNvPr id="37" name="图示 36">
            <a:extLst>
              <a:ext uri="{FF2B5EF4-FFF2-40B4-BE49-F238E27FC236}">
                <a16:creationId xmlns:a16="http://schemas.microsoft.com/office/drawing/2014/main" id="{EE5509F8-4255-663D-7AAF-9A897FBE05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9368174"/>
              </p:ext>
            </p:extLst>
          </p:nvPr>
        </p:nvGraphicFramePr>
        <p:xfrm>
          <a:off x="4157063" y="3761210"/>
          <a:ext cx="4145515" cy="2629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pic>
        <p:nvPicPr>
          <p:cNvPr id="3" name="Picture 4" descr="http://p2.so.qhimgs1.com/t01be22a6d455c4e3a2.gif">
            <a:extLst>
              <a:ext uri="{FF2B5EF4-FFF2-40B4-BE49-F238E27FC236}">
                <a16:creationId xmlns:a16="http://schemas.microsoft.com/office/drawing/2014/main" id="{07AE00A9-C1B2-6248-A4B3-0288EBFBBBE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1195305" y="685800"/>
            <a:ext cx="2659269" cy="2659269"/>
          </a:xfrm>
          <a:prstGeom prst="rect">
            <a:avLst/>
          </a:prstGeom>
          <a:noFill/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E4AF53D1-71B8-4A62-E314-07D9E004C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05" y="3438832"/>
            <a:ext cx="2402593" cy="3296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25242-FC9E-A716-56BB-EC745F2D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7DC8B21-30CD-BF0D-CA84-A1D1450EA2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心房分流产品设计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C90E5D-1954-BBFC-2E06-D78027ED9E44}"/>
              </a:ext>
            </a:extLst>
          </p:cNvPr>
          <p:cNvSpPr txBox="1"/>
          <p:nvPr/>
        </p:nvSpPr>
        <p:spPr>
          <a:xfrm>
            <a:off x="607560" y="6272601"/>
            <a:ext cx="1348740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高频发生器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CDA23E-F3DF-1D10-D2CF-2DF46F9530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3" r="27129" b="41621"/>
          <a:stretch>
            <a:fillRect/>
          </a:stretch>
        </p:blipFill>
        <p:spPr>
          <a:xfrm>
            <a:off x="5900130" y="1442417"/>
            <a:ext cx="1828025" cy="271506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51C4A2B-72B0-06EA-949C-96661A3EDB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27" y="3444935"/>
            <a:ext cx="5543084" cy="101239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6E38D3C-CC35-BA64-C745-01AC9E4227F3}"/>
              </a:ext>
            </a:extLst>
          </p:cNvPr>
          <p:cNvSpPr/>
          <p:nvPr/>
        </p:nvSpPr>
        <p:spPr>
          <a:xfrm>
            <a:off x="324955" y="1013401"/>
            <a:ext cx="9511563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产品名称：心房分流导管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规格型号：</a:t>
            </a:r>
            <a:r>
              <a:rPr lang="en-US" altLang="zh-CN" sz="2000" dirty="0"/>
              <a:t>BTW-AS-M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配合器械：高频发生器、</a:t>
            </a:r>
            <a:r>
              <a:rPr lang="en-US" altLang="zh-CN" sz="2000" dirty="0"/>
              <a:t>14F</a:t>
            </a:r>
            <a:r>
              <a:rPr lang="zh-CN" altLang="en-US" sz="2000" dirty="0"/>
              <a:t>可调弯鞘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适应症：慢性心衰竭患者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/>
              <a:t>包装：双层透析袋无菌包装</a:t>
            </a:r>
            <a:endParaRPr lang="en-US" altLang="zh-CN" sz="2000" dirty="0"/>
          </a:p>
        </p:txBody>
      </p:sp>
      <p:sp>
        <p:nvSpPr>
          <p:cNvPr id="8" name="文本框 14">
            <a:extLst>
              <a:ext uri="{FF2B5EF4-FFF2-40B4-BE49-F238E27FC236}">
                <a16:creationId xmlns:a16="http://schemas.microsoft.com/office/drawing/2014/main" id="{036989D0-7D8D-D362-B1BA-BFA010B5DB2C}"/>
              </a:ext>
            </a:extLst>
          </p:cNvPr>
          <p:cNvSpPr txBox="1"/>
          <p:nvPr/>
        </p:nvSpPr>
        <p:spPr>
          <a:xfrm>
            <a:off x="8211329" y="1167331"/>
            <a:ext cx="3485515" cy="342350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特点：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</a:rPr>
              <a:t>无植入物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</a:rPr>
              <a:t>无需抗凝、无血栓风险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</a:rPr>
              <a:t>组织切割并取出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</a:rPr>
              <a:t>开口尺寸稳定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</a:rPr>
              <a:t>开口尺寸</a:t>
            </a:r>
            <a:r>
              <a:rPr lang="en-US" altLang="zh-CN" sz="2000" b="1" dirty="0">
                <a:solidFill>
                  <a:srgbClr val="FF0000"/>
                </a:solidFill>
              </a:rPr>
              <a:t>6/7/8mm(</a:t>
            </a:r>
            <a:r>
              <a:rPr lang="zh-CN" altLang="en-US" sz="2000" b="1" dirty="0">
                <a:solidFill>
                  <a:srgbClr val="FF0000"/>
                </a:solidFill>
              </a:rPr>
              <a:t>根据卵圆窝厚度而定</a:t>
            </a:r>
            <a:r>
              <a:rPr lang="en-US" altLang="zh-CN" sz="2000" b="1" dirty="0">
                <a:solidFill>
                  <a:srgbClr val="FF0000"/>
                </a:solidFill>
              </a:rPr>
              <a:t>)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88690D6-1D20-957D-0AEC-7B3149191C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27" y="4905884"/>
            <a:ext cx="2248006" cy="12874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B0A63D6-3302-848F-0F4C-71DB28E424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1523" y="4451735"/>
            <a:ext cx="2661264" cy="224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00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心房分流器械竞争格局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fld id="{36944289-FC76-46EC-ACC8-9B73858F5725}" type="slidenum">
              <a:rPr lang="zh-CN" altLang="en-US" smtClean="0"/>
              <a:t>23</a:t>
            </a:fld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A866745-254F-E250-8E40-F7FB7B88C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48415"/>
              </p:ext>
            </p:extLst>
          </p:nvPr>
        </p:nvGraphicFramePr>
        <p:xfrm>
          <a:off x="167145" y="2948823"/>
          <a:ext cx="11700387" cy="37285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5410">
                  <a:extLst>
                    <a:ext uri="{9D8B030D-6E8A-4147-A177-3AD203B41FA5}">
                      <a16:colId xmlns:a16="http://schemas.microsoft.com/office/drawing/2014/main" val="2095853596"/>
                    </a:ext>
                  </a:extLst>
                </a:gridCol>
                <a:gridCol w="1415845">
                  <a:extLst>
                    <a:ext uri="{9D8B030D-6E8A-4147-A177-3AD203B41FA5}">
                      <a16:colId xmlns:a16="http://schemas.microsoft.com/office/drawing/2014/main" val="943108786"/>
                    </a:ext>
                  </a:extLst>
                </a:gridCol>
                <a:gridCol w="1415845">
                  <a:extLst>
                    <a:ext uri="{9D8B030D-6E8A-4147-A177-3AD203B41FA5}">
                      <a16:colId xmlns:a16="http://schemas.microsoft.com/office/drawing/2014/main" val="4235558316"/>
                    </a:ext>
                  </a:extLst>
                </a:gridCol>
                <a:gridCol w="1593608">
                  <a:extLst>
                    <a:ext uri="{9D8B030D-6E8A-4147-A177-3AD203B41FA5}">
                      <a16:colId xmlns:a16="http://schemas.microsoft.com/office/drawing/2014/main" val="3328244986"/>
                    </a:ext>
                  </a:extLst>
                </a:gridCol>
                <a:gridCol w="1729695">
                  <a:extLst>
                    <a:ext uri="{9D8B030D-6E8A-4147-A177-3AD203B41FA5}">
                      <a16:colId xmlns:a16="http://schemas.microsoft.com/office/drawing/2014/main" val="1963791108"/>
                    </a:ext>
                  </a:extLst>
                </a:gridCol>
                <a:gridCol w="1762895">
                  <a:extLst>
                    <a:ext uri="{9D8B030D-6E8A-4147-A177-3AD203B41FA5}">
                      <a16:colId xmlns:a16="http://schemas.microsoft.com/office/drawing/2014/main" val="2385597471"/>
                    </a:ext>
                  </a:extLst>
                </a:gridCol>
                <a:gridCol w="1359005">
                  <a:extLst>
                    <a:ext uri="{9D8B030D-6E8A-4147-A177-3AD203B41FA5}">
                      <a16:colId xmlns:a16="http://schemas.microsoft.com/office/drawing/2014/main" val="3004872078"/>
                    </a:ext>
                  </a:extLst>
                </a:gridCol>
                <a:gridCol w="1568084">
                  <a:extLst>
                    <a:ext uri="{9D8B030D-6E8A-4147-A177-3AD203B41FA5}">
                      <a16:colId xmlns:a16="http://schemas.microsoft.com/office/drawing/2014/main" val="1032235304"/>
                    </a:ext>
                  </a:extLst>
                </a:gridCol>
              </a:tblGrid>
              <a:tr h="33845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厂家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effectLst/>
                        </a:rPr>
                        <a:t>Corvia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V-Wave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err="1">
                          <a:effectLst/>
                        </a:rPr>
                        <a:t>Occlutech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InterShunt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Alleviant Medical</a:t>
                      </a:r>
                      <a:endParaRPr lang="zh-CN" alt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唯柯医疗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</a:rPr>
                        <a:t>佰特微医疗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65255095"/>
                  </a:ext>
                </a:extLst>
              </a:tr>
              <a:tr h="35419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产品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IASD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Ventura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AFR Device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Atrial Shunt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Cathter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Alleviant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D-</a:t>
                      </a:r>
                      <a:r>
                        <a:rPr lang="en-US" sz="1200" u="none" strike="noStrike" dirty="0" err="1">
                          <a:effectLst/>
                        </a:rPr>
                        <a:t>Shant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房间隔造瘘系统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61043632"/>
                  </a:ext>
                </a:extLst>
              </a:tr>
              <a:tr h="9130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产品形状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4493292"/>
                  </a:ext>
                </a:extLst>
              </a:tr>
              <a:tr h="4171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结构设计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切割支架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覆膜支架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编织封堵器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经导管刀片切除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导管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射频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编织封堵器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高频电刀组织切割及回收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71607334"/>
                  </a:ext>
                </a:extLst>
              </a:tr>
              <a:tr h="62181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产品特点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植入物</a:t>
                      </a:r>
                      <a:b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终生服药</a:t>
                      </a:r>
                      <a:endParaRPr lang="zh-CN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植入物</a:t>
                      </a:r>
                      <a:b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终生服药</a:t>
                      </a:r>
                      <a:endParaRPr lang="zh-CN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植入物</a:t>
                      </a:r>
                      <a:b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终生服药</a:t>
                      </a:r>
                      <a:endParaRPr lang="zh-CN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无植入物</a:t>
                      </a:r>
                      <a:br>
                        <a:rPr lang="zh-CN" altLang="en-US" sz="1200" u="none" strike="noStrike" dirty="0">
                          <a:effectLst/>
                        </a:rPr>
                      </a:br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机械切除操作难度大，轮廓尺寸大，有血栓风险</a:t>
                      </a:r>
                      <a:endParaRPr lang="zh-CN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无植入物</a:t>
                      </a:r>
                      <a:endParaRPr lang="en-US" altLang="zh-CN" sz="1200" b="1" u="none" strike="noStrike" dirty="0">
                        <a:solidFill>
                          <a:srgbClr val="0070C0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rgbClr val="0766D4"/>
                          </a:solidFill>
                          <a:effectLst/>
                        </a:rPr>
                        <a:t>组织回收</a:t>
                      </a:r>
                      <a:endParaRPr lang="en-US" altLang="zh-CN" sz="1200" b="1" u="none" strike="noStrike" dirty="0">
                        <a:solidFill>
                          <a:srgbClr val="0766D4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rgbClr val="0766D4"/>
                          </a:solidFill>
                          <a:effectLst/>
                        </a:rPr>
                        <a:t>导管尺寸较大</a:t>
                      </a:r>
                      <a:endParaRPr lang="zh-CN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植入物</a:t>
                      </a:r>
                      <a:b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终生服药</a:t>
                      </a:r>
                      <a:endParaRPr lang="zh-CN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rgbClr val="0766D4"/>
                          </a:solidFill>
                          <a:effectLst/>
                        </a:rPr>
                        <a:t>无植入物</a:t>
                      </a:r>
                      <a:endParaRPr lang="en-US" altLang="zh-CN" sz="1200" b="1" u="none" strike="noStrike" dirty="0">
                        <a:solidFill>
                          <a:srgbClr val="0766D4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rgbClr val="0766D4"/>
                          </a:solidFill>
                          <a:effectLst/>
                        </a:rPr>
                        <a:t>组织回收</a:t>
                      </a:r>
                      <a:br>
                        <a:rPr lang="zh-CN" altLang="en-US" sz="1200" b="1" u="none" strike="noStrike" dirty="0">
                          <a:solidFill>
                            <a:srgbClr val="0766D4"/>
                          </a:solidFill>
                          <a:effectLst/>
                        </a:rPr>
                      </a:br>
                      <a:r>
                        <a:rPr lang="zh-CN" altLang="en-US" sz="1200" b="1" u="none" strike="noStrike" dirty="0">
                          <a:solidFill>
                            <a:srgbClr val="0766D4"/>
                          </a:solidFill>
                          <a:effectLst/>
                        </a:rPr>
                        <a:t>无需长期抗凝</a:t>
                      </a:r>
                      <a:endParaRPr lang="zh-CN" altLang="en-US" sz="1200" b="1" i="0" u="none" strike="noStrike" dirty="0">
                        <a:solidFill>
                          <a:srgbClr val="0766D4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5219345"/>
                  </a:ext>
                </a:extLst>
              </a:tr>
              <a:tr h="5352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产品进度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2016</a:t>
                      </a:r>
                      <a:r>
                        <a:rPr lang="zh-CN" altLang="en-US" sz="1200" u="none" strike="noStrike">
                          <a:effectLst/>
                        </a:rPr>
                        <a:t>年 </a:t>
                      </a:r>
                      <a:r>
                        <a:rPr lang="en-US" altLang="zh-CN" sz="1200" u="none" strike="noStrike">
                          <a:effectLst/>
                        </a:rPr>
                        <a:t>CE</a:t>
                      </a:r>
                      <a:r>
                        <a:rPr lang="zh-CN" altLang="en-US" sz="1200" u="none" strike="noStrike">
                          <a:effectLst/>
                        </a:rPr>
                        <a:t>；</a:t>
                      </a:r>
                      <a:br>
                        <a:rPr lang="zh-CN" altLang="en-US" sz="1200" u="none" strike="noStrike">
                          <a:effectLst/>
                        </a:rPr>
                      </a:br>
                      <a:r>
                        <a:rPr lang="en-US" altLang="zh-CN" sz="1200" u="none" strike="noStrike">
                          <a:effectLst/>
                        </a:rPr>
                        <a:t>FDA PMA</a:t>
                      </a:r>
                      <a:r>
                        <a:rPr lang="zh-CN" altLang="en-US" sz="1200" u="none" strike="noStrike">
                          <a:effectLst/>
                        </a:rPr>
                        <a:t>临床进行中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FDA PMA</a:t>
                      </a:r>
                      <a:r>
                        <a:rPr lang="zh-CN" altLang="en-US" sz="1200" u="none" strike="noStrike">
                          <a:effectLst/>
                        </a:rPr>
                        <a:t>临床进行中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2019</a:t>
                      </a:r>
                      <a:r>
                        <a:rPr lang="zh-CN" altLang="en-US" sz="1200" u="none" strike="noStrike">
                          <a:effectLst/>
                        </a:rPr>
                        <a:t>年 </a:t>
                      </a:r>
                      <a:r>
                        <a:rPr lang="en-US" sz="1200" u="none" strike="noStrike">
                          <a:effectLst/>
                        </a:rPr>
                        <a:t>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临床中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FDA IDE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研究完成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2021</a:t>
                      </a:r>
                      <a:r>
                        <a:rPr lang="zh-CN" altLang="en-US" sz="1200" u="none" strike="noStrike" dirty="0">
                          <a:effectLst/>
                        </a:rPr>
                        <a:t>开始国内正式临床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2022</a:t>
                      </a:r>
                      <a:r>
                        <a:rPr lang="zh-CN" altLang="en-US" sz="1200" u="none" strike="noStrike" dirty="0">
                          <a:effectLst/>
                        </a:rPr>
                        <a:t>年</a:t>
                      </a:r>
                      <a:r>
                        <a:rPr lang="en-US" altLang="zh-CN" sz="1200" u="none" strike="noStrike" dirty="0">
                          <a:effectLst/>
                        </a:rPr>
                        <a:t>8</a:t>
                      </a:r>
                      <a:r>
                        <a:rPr lang="zh-CN" altLang="en-US" sz="1200" u="none" strike="noStrike" dirty="0">
                          <a:effectLst/>
                        </a:rPr>
                        <a:t>月获得</a:t>
                      </a:r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北京安贞医院伦理批件</a:t>
                      </a:r>
                      <a:r>
                        <a:rPr lang="zh-CN" altLang="en-US" sz="1200" u="none" strike="noStrike" dirty="0">
                          <a:effectLst/>
                        </a:rPr>
                        <a:t>，开始国内临床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18439885"/>
                  </a:ext>
                </a:extLst>
              </a:tr>
              <a:tr h="5352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备注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FDA</a:t>
                      </a:r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突破性器械</a:t>
                      </a:r>
                      <a:b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融资</a:t>
                      </a:r>
                      <a:r>
                        <a:rPr lang="en-US" altLang="zh-CN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1.194</a:t>
                      </a:r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亿美金</a:t>
                      </a:r>
                      <a:endParaRPr lang="zh-CN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FDA</a:t>
                      </a:r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突破性器械</a:t>
                      </a:r>
                      <a:b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超亿元美金融资</a:t>
                      </a:r>
                      <a:endParaRPr lang="zh-CN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FDA</a:t>
                      </a:r>
                      <a:r>
                        <a:rPr lang="zh-CN" altLang="en-US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突破性器械</a:t>
                      </a:r>
                      <a:endParaRPr lang="zh-CN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超</a:t>
                      </a:r>
                      <a:r>
                        <a:rPr lang="en-US" altLang="zh-CN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zh-CN" altLang="en-US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亿元融资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中国创新器械绿色通道</a:t>
                      </a:r>
                      <a:endParaRPr lang="zh-CN" alt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</a:rPr>
                        <a:t>即将申报</a:t>
                      </a:r>
                      <a:endParaRPr lang="zh-CN" altLang="en-US" sz="1200" b="1" i="0" u="none" strike="noStrike" dirty="0">
                        <a:solidFill>
                          <a:srgbClr val="0070C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19742675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BB20E290-4DE5-2BC0-AF7C-866692204B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664" y="3688352"/>
            <a:ext cx="1297259" cy="78549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A7A738A-B052-0060-AA4C-847B37706C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273" y="3650053"/>
            <a:ext cx="1183482" cy="8237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DD50E37-2A11-D268-25E2-50D4F97DAB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965" y="3688352"/>
            <a:ext cx="1363570" cy="77618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6CCC870-A7B3-BE58-C700-066A0949EB2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152" y="3679858"/>
            <a:ext cx="969273" cy="8509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38DD91F5-75E1-8C33-439E-4253A939492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4461" y="928575"/>
            <a:ext cx="3129691" cy="1650483"/>
          </a:xfrm>
          <a:prstGeom prst="round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6595D47-95DA-0999-FDDC-DB2C7F01C791}"/>
              </a:ext>
            </a:extLst>
          </p:cNvPr>
          <p:cNvSpPr txBox="1"/>
          <p:nvPr/>
        </p:nvSpPr>
        <p:spPr>
          <a:xfrm>
            <a:off x="4029606" y="1118737"/>
            <a:ext cx="6874369" cy="1114216"/>
          </a:xfrm>
          <a:prstGeom prst="rect">
            <a:avLst/>
          </a:prstGeom>
          <a:solidFill>
            <a:srgbClr val="BDD7EE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/>
              <a:t>《</a:t>
            </a:r>
            <a:r>
              <a:rPr lang="zh-CN" altLang="en-US" sz="1400" dirty="0"/>
              <a:t>房间隔分流器治疗射血分数保留心力衰竭：</a:t>
            </a:r>
            <a:r>
              <a:rPr lang="zh-CN" altLang="en-US" sz="1600" b="1" dirty="0">
                <a:solidFill>
                  <a:srgbClr val="0070C0"/>
                </a:solidFill>
              </a:rPr>
              <a:t>中国专家认识和建议</a:t>
            </a:r>
            <a:r>
              <a:rPr lang="en-US" altLang="zh-CN" sz="1400" dirty="0"/>
              <a:t>》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     “这项技术未来或许能成为心力衰竭尤其是治疗的一</a:t>
            </a:r>
            <a:r>
              <a:rPr lang="zh-CN" altLang="en-US" sz="1600" b="1" dirty="0">
                <a:solidFill>
                  <a:srgbClr val="0070C0"/>
                </a:solidFill>
              </a:rPr>
              <a:t>项里程碑式技术</a:t>
            </a:r>
            <a:r>
              <a:rPr lang="zh-CN" altLang="en-US" sz="1400" dirty="0"/>
              <a:t>。”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4DA673-DDF2-D2AD-B795-A76734144B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2240" y="3657600"/>
            <a:ext cx="1632816" cy="79891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85E0672-5B35-1C0D-C340-1BE6FE97AC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3319" y="3688352"/>
            <a:ext cx="1608216" cy="80901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F1E98F2-F698-AC3A-6687-578E64D3D4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6362" y="3910297"/>
            <a:ext cx="1465596" cy="43556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07A0BB3-6F3A-7585-D034-DAA10553B2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79092" y="2345096"/>
            <a:ext cx="1827181" cy="60906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36D073A-8056-EFBF-21BC-9BD9D4AF969A}"/>
              </a:ext>
            </a:extLst>
          </p:cNvPr>
          <p:cNvSpPr txBox="1"/>
          <p:nvPr/>
        </p:nvSpPr>
        <p:spPr>
          <a:xfrm>
            <a:off x="4089349" y="2468382"/>
            <a:ext cx="25880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强生公司</a:t>
            </a:r>
            <a:r>
              <a:rPr lang="en-US" altLang="zh-CN" sz="1600" b="1" dirty="0">
                <a:solidFill>
                  <a:srgbClr val="FF0000"/>
                </a:solidFill>
              </a:rPr>
              <a:t>17</a:t>
            </a:r>
            <a:r>
              <a:rPr lang="zh-CN" altLang="en-US" sz="1600" b="1" dirty="0">
                <a:solidFill>
                  <a:srgbClr val="FF0000"/>
                </a:solidFill>
              </a:rPr>
              <a:t>亿美金</a:t>
            </a:r>
            <a:r>
              <a:rPr lang="zh-CN" altLang="en-US" sz="1200" dirty="0"/>
              <a:t>收购</a:t>
            </a:r>
            <a:r>
              <a:rPr lang="en-US" altLang="zh-CN" sz="1200" dirty="0"/>
              <a:t>V-WAVE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心房分流器械</a:t>
            </a:r>
            <a:r>
              <a:rPr lang="en-US" altLang="zh-CN" dirty="0"/>
              <a:t>-</a:t>
            </a:r>
            <a:r>
              <a:rPr lang="zh-CN" altLang="en-US" dirty="0"/>
              <a:t>动物试验</a:t>
            </a:r>
            <a:r>
              <a:rPr lang="en-US" altLang="zh-CN" dirty="0"/>
              <a:t>/</a:t>
            </a:r>
            <a:r>
              <a:rPr lang="zh-CN" altLang="en-US" dirty="0"/>
              <a:t>临床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fld id="{36944289-FC76-46EC-ACC8-9B73858F5725}" type="slidenum">
              <a:rPr lang="zh-CN" altLang="en-US" smtClean="0"/>
              <a:t>24</a:t>
            </a:fld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77BC20E-FEBE-356E-781A-FD76931CC7A6}"/>
              </a:ext>
            </a:extLst>
          </p:cNvPr>
          <p:cNvGrpSpPr/>
          <p:nvPr/>
        </p:nvGrpSpPr>
        <p:grpSpPr>
          <a:xfrm>
            <a:off x="265469" y="1275304"/>
            <a:ext cx="3421627" cy="3277032"/>
            <a:chOff x="7048251" y="1655697"/>
            <a:chExt cx="2743907" cy="2732887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016E2AC9-433E-A8C7-6C8D-6FB0A6852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8251" y="1655697"/>
              <a:ext cx="2743907" cy="1794452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1AD39E1-B64B-1F31-04B7-214B413A89BC}"/>
                </a:ext>
              </a:extLst>
            </p:cNvPr>
            <p:cNvSpPr/>
            <p:nvPr/>
          </p:nvSpPr>
          <p:spPr>
            <a:xfrm>
              <a:off x="7141122" y="3601830"/>
              <a:ext cx="2558163" cy="7867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spcBef>
                  <a:spcPts val="0"/>
                </a:spcBef>
                <a:buClr>
                  <a:srgbClr val="0070C0"/>
                </a:buClr>
              </a:pPr>
              <a:r>
                <a:rPr lang="zh-CN" altLang="en-US" sz="1400" dirty="0">
                  <a:sym typeface="+mn-ea"/>
                </a:rPr>
                <a:t>产品成功在猪心脏内造瘘，边缘光滑；超声影像证明出现左心房向右心房的分流</a:t>
              </a:r>
              <a:endParaRPr lang="en-US" altLang="zh-CN" sz="1400" dirty="0">
                <a:sym typeface="+mn-ea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E3C7ED7F-F67A-A4B4-05D8-E525B89239A3}"/>
              </a:ext>
            </a:extLst>
          </p:cNvPr>
          <p:cNvSpPr txBox="1"/>
          <p:nvPr/>
        </p:nvSpPr>
        <p:spPr>
          <a:xfrm>
            <a:off x="7153176" y="5020009"/>
            <a:ext cx="1641900" cy="31277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spcBef>
                <a:spcPts val="0"/>
              </a:spcBef>
              <a:buClr>
                <a:srgbClr val="0070C0"/>
              </a:buClr>
              <a:defRPr sz="1400"/>
            </a:lvl1pPr>
          </a:lstStyle>
          <a:p>
            <a:r>
              <a:rPr lang="zh-CN" altLang="en-US" dirty="0">
                <a:sym typeface="+mn-ea"/>
              </a:rPr>
              <a:t>北京安贞医院首例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26E4AE6-4ACA-5D9A-B73B-337DFFDAC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215" y="931174"/>
            <a:ext cx="7127823" cy="399985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3767B94-EF85-74E0-E3D2-1ABD77250B44}"/>
              </a:ext>
            </a:extLst>
          </p:cNvPr>
          <p:cNvSpPr txBox="1"/>
          <p:nvPr/>
        </p:nvSpPr>
        <p:spPr>
          <a:xfrm>
            <a:off x="3382295" y="5533838"/>
            <a:ext cx="84360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solidFill>
                  <a:srgbClr val="44444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行右心导管检查评估肺毛细血管楔压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10mmHg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、右房压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2mmHg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，压差为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8mmHg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BNP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863pg/ml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AB6123-5B74-D6A3-58ED-448694A3B4B0}"/>
              </a:ext>
            </a:extLst>
          </p:cNvPr>
          <p:cNvSpPr txBox="1"/>
          <p:nvPr/>
        </p:nvSpPr>
        <p:spPr>
          <a:xfrm>
            <a:off x="3382295" y="6094740"/>
            <a:ext cx="75020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rgbClr val="444444"/>
                </a:solidFill>
                <a:effectLst/>
              </a:defRPr>
            </a:lvl1pPr>
          </a:lstStyle>
          <a:p>
            <a:r>
              <a:rPr lang="zh-CN" altLang="en-US" dirty="0"/>
              <a:t>经测量，分流孔直径</a:t>
            </a:r>
            <a:r>
              <a:rPr lang="en-US" altLang="zh-CN" dirty="0"/>
              <a:t>5.3mm</a:t>
            </a:r>
            <a:r>
              <a:rPr lang="zh-CN" altLang="en-US" dirty="0"/>
              <a:t>，测量肺毛细血管楔压</a:t>
            </a:r>
            <a:r>
              <a:rPr lang="en-US" altLang="zh-CN" dirty="0"/>
              <a:t>4mmHg</a:t>
            </a:r>
            <a:r>
              <a:rPr lang="zh-CN" altLang="en-US" dirty="0"/>
              <a:t>、右房压</a:t>
            </a:r>
            <a:r>
              <a:rPr lang="en-US" altLang="zh-CN" dirty="0"/>
              <a:t>2mmHg, </a:t>
            </a:r>
            <a:r>
              <a:rPr lang="zh-CN" altLang="en-US" dirty="0"/>
              <a:t>压差</a:t>
            </a:r>
            <a:r>
              <a:rPr lang="en-US" altLang="zh-CN" dirty="0"/>
              <a:t>2mmHg</a:t>
            </a:r>
            <a:r>
              <a:rPr lang="zh-CN" altLang="en-US" dirty="0"/>
              <a:t>，患者出院前</a:t>
            </a:r>
            <a:r>
              <a:rPr lang="en-US" altLang="zh-CN" dirty="0"/>
              <a:t>BNP</a:t>
            </a:r>
            <a:r>
              <a:rPr lang="zh-CN" altLang="en-US" dirty="0"/>
              <a:t>已下降至</a:t>
            </a:r>
            <a:r>
              <a:rPr lang="en-US" altLang="zh-CN" dirty="0"/>
              <a:t>108pg/ml</a:t>
            </a:r>
            <a:r>
              <a:rPr lang="zh-CN" altLang="en-US" dirty="0"/>
              <a:t>，达到手术预期效果。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C3BC76-A69E-EFC7-6B5B-FE1811AE2600}"/>
              </a:ext>
            </a:extLst>
          </p:cNvPr>
          <p:cNvSpPr txBox="1"/>
          <p:nvPr/>
        </p:nvSpPr>
        <p:spPr>
          <a:xfrm>
            <a:off x="2670504" y="54722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术前：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0E21F8-45BE-93A4-2817-C1C7F069BC5A}"/>
              </a:ext>
            </a:extLst>
          </p:cNvPr>
          <p:cNvSpPr txBox="1"/>
          <p:nvPr/>
        </p:nvSpPr>
        <p:spPr>
          <a:xfrm>
            <a:off x="2670503" y="61222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术后：</a:t>
            </a:r>
          </a:p>
        </p:txBody>
      </p:sp>
    </p:spTree>
    <p:extLst>
      <p:ext uri="{BB962C8B-B14F-4D97-AF65-F5344CB8AC3E}">
        <p14:creationId xmlns:p14="http://schemas.microsoft.com/office/powerpoint/2010/main" val="3077312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E3EC9-0957-D32D-9961-8A876D63D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EBE4F8-EBFA-EA42-840E-45A691D18C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心房分流器械</a:t>
            </a:r>
            <a:r>
              <a:rPr lang="en-US" altLang="zh-CN" dirty="0"/>
              <a:t>-</a:t>
            </a:r>
            <a:r>
              <a:rPr lang="zh-CN" altLang="en-US" dirty="0"/>
              <a:t>动物试验</a:t>
            </a:r>
            <a:r>
              <a:rPr lang="en-US" altLang="zh-CN" dirty="0"/>
              <a:t>/</a:t>
            </a:r>
            <a:r>
              <a:rPr lang="zh-CN" altLang="en-US" dirty="0"/>
              <a:t>临床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F4712B-556F-0F77-A490-470298FB2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fld id="{36944289-FC76-46EC-ACC8-9B73858F5725}" type="slidenum">
              <a:rPr lang="zh-CN" altLang="en-US" smtClean="0"/>
              <a:t>25</a:t>
            </a:fld>
            <a:endParaRPr lang="zh-CN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7FCFA0B-521B-7043-B0D6-7E1D0DE4E921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3451210"/>
              </p:ext>
            </p:extLst>
          </p:nvPr>
        </p:nvGraphicFramePr>
        <p:xfrm>
          <a:off x="292100" y="1181735"/>
          <a:ext cx="11725728" cy="4989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1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5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29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5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00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22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212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次要评价指标</a:t>
                      </a:r>
                      <a:endParaRPr lang="en-US" altLang="zh-CN" b="1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  <a:lnT w="1905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  <a:lnT w="1905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基线</a:t>
                      </a:r>
                    </a:p>
                  </a:txBody>
                  <a:tcPr anchor="ctr">
                    <a:lnT w="1905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即刻</a:t>
                      </a:r>
                    </a:p>
                  </a:txBody>
                  <a:tcPr anchor="ctr">
                    <a:lnT w="1905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90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天</a:t>
                      </a:r>
                    </a:p>
                  </a:txBody>
                  <a:tcPr anchor="ctr">
                    <a:lnT w="1905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180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天</a:t>
                      </a:r>
                    </a:p>
                  </a:txBody>
                  <a:tcPr anchor="ctr">
                    <a:lnT w="1905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365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天</a:t>
                      </a:r>
                    </a:p>
                  </a:txBody>
                  <a:tcPr anchor="ctr"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改善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7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术后 90 天临床成功率</a:t>
                      </a:r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器械成功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5/5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000" dirty="0">
                        <a:solidFill>
                          <a:schemeClr val="tx1"/>
                        </a:solidFill>
                        <a:uFillTx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左向右分流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80%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4/5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000" dirty="0">
                        <a:solidFill>
                          <a:schemeClr val="tx1"/>
                        </a:solidFill>
                        <a:uFillTx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 dirty="0" err="1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mPCWP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降低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5/5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R w="1905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43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器械性能评价</a:t>
                      </a:r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uFillTx/>
                          <a:ea typeface="微软雅黑" panose="020B0503020204020204" pitchFamily="34" charset="-122"/>
                          <a:sym typeface="+mn-ea"/>
                        </a:rPr>
                        <a:t>100%</a:t>
                      </a:r>
                      <a:r>
                        <a:rPr lang="zh-CN" altLang="en-US" sz="1200">
                          <a:uFillTx/>
                          <a:ea typeface="微软雅黑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en-US" altLang="zh-CN" sz="1200">
                          <a:uFillTx/>
                          <a:ea typeface="微软雅黑" panose="020B0503020204020204" pitchFamily="34" charset="-122"/>
                          <a:sym typeface="+mn-ea"/>
                        </a:rPr>
                        <a:t>5/5</a:t>
                      </a:r>
                      <a:r>
                        <a:rPr lang="zh-CN" altLang="en-US" sz="1200">
                          <a:uFillTx/>
                          <a:ea typeface="微软雅黑" panose="020B0503020204020204" pitchFamily="34" charset="-122"/>
                          <a:sym typeface="+mn-ea"/>
                        </a:rPr>
                        <a:t>）</a:t>
                      </a:r>
                      <a:endParaRPr lang="zh-CN" altLang="en-US" sz="1200">
                        <a:solidFill>
                          <a:schemeClr val="tx1"/>
                        </a:solidFill>
                        <a:uFillTx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R w="1905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43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术后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90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天有效分流率</a:t>
                      </a:r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有效分流率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5/5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80%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4/5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200" baseline="30000">
                        <a:solidFill>
                          <a:schemeClr val="tx1"/>
                        </a:solidFill>
                        <a:uFillTx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R w="1905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4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分流孔径（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mm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）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7.26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5/5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6.03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4/4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uFillTx/>
                          <a:ea typeface="微软雅黑" panose="020B0503020204020204" pitchFamily="34" charset="-122"/>
                          <a:sym typeface="+mn-ea"/>
                        </a:rPr>
                        <a:t>5.00</a:t>
                      </a:r>
                      <a:r>
                        <a:rPr lang="zh-CN" altLang="en-US" sz="1200" dirty="0">
                          <a:uFillTx/>
                          <a:ea typeface="微软雅黑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en-US" altLang="zh-CN" sz="1200" dirty="0">
                          <a:uFillTx/>
                          <a:ea typeface="微软雅黑" panose="020B0503020204020204" pitchFamily="34" charset="-122"/>
                          <a:sym typeface="+mn-ea"/>
                        </a:rPr>
                        <a:t>3/3</a:t>
                      </a:r>
                      <a:r>
                        <a:rPr lang="zh-CN" altLang="en-US" sz="1200" dirty="0">
                          <a:uFillTx/>
                          <a:ea typeface="微软雅黑" panose="020B0503020204020204" pitchFamily="34" charset="-122"/>
                          <a:sym typeface="+mn-ea"/>
                        </a:rPr>
                        <a:t>）</a:t>
                      </a:r>
                      <a:r>
                        <a:rPr lang="en-US" altLang="zh-CN" sz="1200" baseline="30000" dirty="0">
                          <a:uFillTx/>
                          <a:ea typeface="微软雅黑" panose="020B0503020204020204" pitchFamily="34" charset="-122"/>
                          <a:sym typeface="+mn-ea"/>
                        </a:rPr>
                        <a:t>[1]</a:t>
                      </a:r>
                      <a:endParaRPr lang="en-US" altLang="zh-CN" sz="1200" dirty="0">
                        <a:solidFill>
                          <a:schemeClr val="tx1"/>
                        </a:solidFill>
                        <a:uFillTx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术后 90 天、180 天、365 天与基线比较超声心动图指标变化</a:t>
                      </a:r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左室射血分数（LVEF）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36.6%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43.6%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5/5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55.0%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1/1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en-US" altLang="zh-CN" sz="1200" baseline="300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[2]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44.5%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3/3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lnR w="1905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90</a:t>
                      </a:r>
                      <a:r>
                        <a:rPr lang="zh-CN" altLang="en-US" sz="1200" dirty="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天升高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6.0%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21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术后 90 天与基线比较肺毛细血管楔压(mPCWP)变化值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(mmHg)</a:t>
                      </a:r>
                      <a:endParaRPr lang="zh-CN" altLang="en-US" sz="120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11.75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8.8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5/5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>
                        <a:solidFill>
                          <a:schemeClr val="tx1"/>
                        </a:solidFill>
                        <a:uFillTx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下降</a:t>
                      </a:r>
                      <a:r>
                        <a:rPr lang="en-US" altLang="zh-CN" sz="120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3.2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90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术后 90 天、180 天、365 天与基线比较 6 分钟步行距离（6MWD）变化值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(m)</a:t>
                      </a:r>
                      <a:endParaRPr lang="zh-CN" altLang="en-US" sz="120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250.6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293.0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5/5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360.0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1/1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318m(3/3)</a:t>
                      </a:r>
                    </a:p>
                  </a:txBody>
                  <a:tcPr anchor="ctr">
                    <a:lnR w="1905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升高</a:t>
                      </a:r>
                      <a:r>
                        <a:rPr lang="en-US" altLang="zh-CN" sz="120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42.4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927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术后 90 天、180 天、365 天与基线比较 NYHA 心功能分级变化</a:t>
                      </a:r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III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级（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5/5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II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级（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1/5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III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级（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4/5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II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级（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1/1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II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级（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1/3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200" dirty="0">
                        <a:solidFill>
                          <a:schemeClr val="tx1"/>
                        </a:solidFill>
                        <a:uFillTx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III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级（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2/3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lnR w="1905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部分改善</a:t>
                      </a:r>
                      <a:endParaRPr lang="en-US" altLang="zh-CN" sz="1200" dirty="0">
                        <a:solidFill>
                          <a:srgbClr val="FF0000"/>
                        </a:solidFill>
                        <a:uFillTx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863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术后 90 天、180 天、365 天与基线比较堪萨斯心肌病调查问卷（KCCQ）评分变化值</a:t>
                      </a:r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88.4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5/5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90.6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5/5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92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1/1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78(3/3)</a:t>
                      </a:r>
                    </a:p>
                  </a:txBody>
                  <a:tcPr anchor="ctr"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90</a:t>
                      </a:r>
                      <a:r>
                        <a:rPr lang="zh-CN" altLang="en-US" sz="120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天升高</a:t>
                      </a:r>
                      <a:r>
                        <a:rPr lang="en-US" altLang="zh-CN" sz="120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2.2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927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术后 90 天、180 天、365 天时与基线比较血清脑钠肽(BNP)或 N 末端 B 型脑钠肽前体( NT-proBNP)变化</a:t>
                      </a:r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905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BNP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1760</a:t>
                      </a:r>
                    </a:p>
                  </a:txBody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uFillTx/>
                          <a:ea typeface="微软雅黑" panose="020B0503020204020204" pitchFamily="34" charset="-122"/>
                          <a:sym typeface="+mn-ea"/>
                        </a:rPr>
                        <a:t>BNP</a:t>
                      </a:r>
                      <a:r>
                        <a:rPr lang="zh-CN" altLang="en-US" sz="1200">
                          <a:uFillTx/>
                          <a:ea typeface="微软雅黑" panose="020B0503020204020204" pitchFamily="34" charset="-122"/>
                          <a:sym typeface="+mn-ea"/>
                        </a:rPr>
                        <a:t>：</a:t>
                      </a:r>
                      <a:r>
                        <a:rPr lang="en-US" altLang="zh-CN" sz="1200">
                          <a:uFillTx/>
                          <a:ea typeface="微软雅黑" panose="020B0503020204020204" pitchFamily="34" charset="-122"/>
                          <a:sym typeface="+mn-ea"/>
                        </a:rPr>
                        <a:t>73.8</a:t>
                      </a:r>
                      <a:endParaRPr lang="zh-CN" altLang="en-US" sz="1200">
                        <a:solidFill>
                          <a:schemeClr val="tx1"/>
                        </a:solidFill>
                        <a:uFillTx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BNP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uFillTx/>
                          <a:ea typeface="微软雅黑" panose="020B0503020204020204" pitchFamily="34" charset="-122"/>
                        </a:rPr>
                        <a:t>336</a:t>
                      </a:r>
                    </a:p>
                  </a:txBody>
                  <a:tcPr anchor="ctr"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90</a:t>
                      </a:r>
                      <a:r>
                        <a:rPr lang="zh-CN" altLang="en-US" sz="1200" dirty="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天降低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  <a:uFillTx/>
                          <a:ea typeface="微软雅黑" panose="020B0503020204020204" pitchFamily="34" charset="-122"/>
                        </a:rPr>
                        <a:t>1686.2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8704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8649335" y="2195195"/>
            <a:ext cx="2014855" cy="2157730"/>
            <a:chOff x="13621" y="3457"/>
            <a:chExt cx="3173" cy="3398"/>
          </a:xfrm>
        </p:grpSpPr>
        <p:grpSp>
          <p:nvGrpSpPr>
            <p:cNvPr id="13" name="组合 12"/>
            <p:cNvGrpSpPr/>
            <p:nvPr/>
          </p:nvGrpSpPr>
          <p:grpSpPr>
            <a:xfrm>
              <a:off x="13910" y="3457"/>
              <a:ext cx="2596" cy="2596"/>
              <a:chOff x="13909" y="3457"/>
              <a:chExt cx="2596" cy="2596"/>
            </a:xfrm>
          </p:grpSpPr>
          <p:sp>
            <p:nvSpPr>
              <p:cNvPr id="14" name="path"/>
              <p:cNvSpPr/>
              <p:nvPr/>
            </p:nvSpPr>
            <p:spPr>
              <a:xfrm>
                <a:off x="13909" y="3457"/>
                <a:ext cx="2597" cy="2597"/>
              </a:xfrm>
              <a:custGeom>
                <a:avLst/>
                <a:gdLst/>
                <a:ahLst/>
                <a:cxnLst/>
                <a:rect l="0" t="0" r="0" b="0"/>
                <a:pathLst>
                  <a:path w="2596" h="2596">
                    <a:moveTo>
                      <a:pt x="22" y="1298"/>
                    </a:moveTo>
                    <a:cubicBezTo>
                      <a:pt x="22" y="594"/>
                      <a:pt x="594" y="22"/>
                      <a:pt x="1298" y="22"/>
                    </a:cubicBezTo>
                    <a:cubicBezTo>
                      <a:pt x="2002" y="22"/>
                      <a:pt x="2574" y="594"/>
                      <a:pt x="2574" y="1298"/>
                    </a:cubicBezTo>
                    <a:cubicBezTo>
                      <a:pt x="2574" y="2002"/>
                      <a:pt x="2002" y="2574"/>
                      <a:pt x="1298" y="2574"/>
                    </a:cubicBezTo>
                    <a:cubicBezTo>
                      <a:pt x="594" y="2574"/>
                      <a:pt x="22" y="2002"/>
                      <a:pt x="22" y="1298"/>
                    </a:cubicBezTo>
                  </a:path>
                </a:pathLst>
              </a:custGeom>
              <a:noFill/>
              <a:ln w="28955" cap="flat">
                <a:solidFill>
                  <a:srgbClr val="595959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" name="path"/>
              <p:cNvSpPr/>
              <p:nvPr/>
            </p:nvSpPr>
            <p:spPr>
              <a:xfrm>
                <a:off x="14468" y="4046"/>
                <a:ext cx="1480" cy="1418"/>
              </a:xfrm>
              <a:custGeom>
                <a:avLst/>
                <a:gdLst/>
                <a:ahLst/>
                <a:cxnLst/>
                <a:rect l="0" t="0" r="0" b="0"/>
                <a:pathLst>
                  <a:path w="1479" h="1418">
                    <a:moveTo>
                      <a:pt x="7" y="0"/>
                    </a:moveTo>
                    <a:lnTo>
                      <a:pt x="656" y="0"/>
                    </a:lnTo>
                    <a:lnTo>
                      <a:pt x="656" y="603"/>
                    </a:lnTo>
                    <a:lnTo>
                      <a:pt x="7" y="603"/>
                    </a:lnTo>
                    <a:lnTo>
                      <a:pt x="7" y="0"/>
                    </a:lnTo>
                    <a:close/>
                    <a:moveTo>
                      <a:pt x="1479" y="299"/>
                    </a:moveTo>
                    <a:lnTo>
                      <a:pt x="1171" y="18"/>
                    </a:lnTo>
                    <a:lnTo>
                      <a:pt x="869" y="304"/>
                    </a:lnTo>
                    <a:lnTo>
                      <a:pt x="1177" y="585"/>
                    </a:lnTo>
                    <a:lnTo>
                      <a:pt x="1479" y="299"/>
                    </a:lnTo>
                    <a:close/>
                    <a:moveTo>
                      <a:pt x="0" y="815"/>
                    </a:moveTo>
                    <a:lnTo>
                      <a:pt x="649" y="815"/>
                    </a:lnTo>
                    <a:lnTo>
                      <a:pt x="649" y="1418"/>
                    </a:lnTo>
                    <a:lnTo>
                      <a:pt x="0" y="1418"/>
                    </a:lnTo>
                    <a:lnTo>
                      <a:pt x="0" y="815"/>
                    </a:lnTo>
                    <a:close/>
                    <a:moveTo>
                      <a:pt x="826" y="815"/>
                    </a:moveTo>
                    <a:lnTo>
                      <a:pt x="1475" y="815"/>
                    </a:lnTo>
                    <a:lnTo>
                      <a:pt x="1475" y="1418"/>
                    </a:lnTo>
                    <a:lnTo>
                      <a:pt x="826" y="1418"/>
                    </a:lnTo>
                    <a:lnTo>
                      <a:pt x="826" y="815"/>
                    </a:lnTo>
                    <a:close/>
                  </a:path>
                </a:pathLst>
              </a:custGeom>
              <a:solidFill>
                <a:srgbClr val="595959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13621" y="6288"/>
              <a:ext cx="3173" cy="5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12700" algn="ctr" rtl="0" eaLnBrk="0">
                <a:lnSpc>
                  <a:spcPct val="97000"/>
                </a:lnSpc>
              </a:pPr>
              <a:r>
                <a:rPr lang="zh-CN" altLang="en-US" sz="1800" b="1" spc="50" dirty="0">
                  <a:solidFill>
                    <a:schemeClr val="bg1">
                      <a:lumMod val="50000"/>
                      <a:alpha val="100000"/>
                    </a:schemeClr>
                  </a:solidFill>
                  <a:cs typeface="微软雅黑" panose="020B0503020204020204" pitchFamily="34" charset="-122"/>
                  <a:sym typeface="+mn-ea"/>
                </a:rPr>
                <a:t>市场与财务预测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566228" y="3992880"/>
            <a:ext cx="2014855" cy="36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12700" algn="ctr" rtl="0" eaLnBrk="0">
              <a:lnSpc>
                <a:spcPct val="97000"/>
              </a:lnSpc>
            </a:pPr>
            <a:r>
              <a:rPr lang="zh-CN" altLang="en-US" b="1" spc="50" dirty="0">
                <a:solidFill>
                  <a:schemeClr val="bg1">
                    <a:lumMod val="50000"/>
                    <a:alpha val="100000"/>
                  </a:schemeClr>
                </a:solidFill>
                <a:cs typeface="微软雅黑" panose="020B0503020204020204" pitchFamily="34" charset="-122"/>
                <a:sym typeface="+mn-ea"/>
              </a:rPr>
              <a:t>公司概况</a:t>
            </a:r>
            <a:endParaRPr lang="zh-CN" altLang="en-US" sz="1800" b="1" spc="50" dirty="0">
              <a:solidFill>
                <a:schemeClr val="bg1">
                  <a:lumMod val="50000"/>
                  <a:alpha val="100000"/>
                </a:schemeClr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path"/>
          <p:cNvSpPr/>
          <p:nvPr/>
        </p:nvSpPr>
        <p:spPr>
          <a:xfrm>
            <a:off x="1749108" y="2198370"/>
            <a:ext cx="1649095" cy="1649095"/>
          </a:xfrm>
          <a:custGeom>
            <a:avLst/>
            <a:gdLst/>
            <a:ahLst/>
            <a:cxnLst/>
            <a:rect l="0" t="0" r="0" b="0"/>
            <a:pathLst>
              <a:path w="2596" h="2596">
                <a:moveTo>
                  <a:pt x="22" y="1298"/>
                </a:moveTo>
                <a:cubicBezTo>
                  <a:pt x="22" y="594"/>
                  <a:pt x="593" y="22"/>
                  <a:pt x="1298" y="22"/>
                </a:cubicBezTo>
                <a:cubicBezTo>
                  <a:pt x="2002" y="22"/>
                  <a:pt x="2573" y="594"/>
                  <a:pt x="2573" y="1298"/>
                </a:cubicBezTo>
                <a:cubicBezTo>
                  <a:pt x="2573" y="2002"/>
                  <a:pt x="2002" y="2574"/>
                  <a:pt x="1298" y="2574"/>
                </a:cubicBezTo>
                <a:cubicBezTo>
                  <a:pt x="593" y="2574"/>
                  <a:pt x="22" y="2002"/>
                  <a:pt x="22" y="1298"/>
                </a:cubicBezTo>
              </a:path>
            </a:pathLst>
          </a:custGeom>
          <a:noFill/>
          <a:ln w="28955" cap="flat">
            <a:solidFill>
              <a:srgbClr val="59595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picture 25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660" y="2572385"/>
            <a:ext cx="935990" cy="900430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3927475" y="2195195"/>
            <a:ext cx="2014855" cy="2157730"/>
            <a:chOff x="6185" y="3457"/>
            <a:chExt cx="3173" cy="3398"/>
          </a:xfrm>
        </p:grpSpPr>
        <p:pic>
          <p:nvPicPr>
            <p:cNvPr id="27" name="picture 1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600000">
              <a:off x="6473" y="3457"/>
              <a:ext cx="2597" cy="2597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6185" y="6288"/>
              <a:ext cx="3173" cy="5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12700" algn="ctr" rtl="0" eaLnBrk="0">
                <a:lnSpc>
                  <a:spcPct val="97000"/>
                </a:lnSpc>
              </a:pPr>
              <a:r>
                <a:rPr lang="zh-CN" altLang="en-US" b="1" spc="50" dirty="0">
                  <a:solidFill>
                    <a:schemeClr val="bg1">
                      <a:lumMod val="50000"/>
                      <a:alpha val="100000"/>
                    </a:schemeClr>
                  </a:solidFill>
                  <a:cs typeface="微软雅黑" panose="020B0503020204020204" pitchFamily="34" charset="-122"/>
                  <a:sym typeface="+mn-ea"/>
                </a:rPr>
                <a:t>行业市场</a:t>
              </a:r>
              <a:r>
                <a:rPr lang="zh-CN" altLang="en-US" sz="1800" b="1" spc="50" dirty="0">
                  <a:solidFill>
                    <a:schemeClr val="bg1">
                      <a:lumMod val="50000"/>
                      <a:alpha val="100000"/>
                    </a:schemeClr>
                  </a:solidFill>
                  <a:cs typeface="微软雅黑" panose="020B0503020204020204" pitchFamily="34" charset="-122"/>
                  <a:sym typeface="+mn-ea"/>
                </a:rPr>
                <a:t>与产品</a:t>
              </a:r>
            </a:p>
          </p:txBody>
        </p:sp>
      </p:grpSp>
      <p:sp>
        <p:nvSpPr>
          <p:cNvPr id="4" name="path"/>
          <p:cNvSpPr/>
          <p:nvPr/>
        </p:nvSpPr>
        <p:spPr>
          <a:xfrm>
            <a:off x="6471920" y="2194560"/>
            <a:ext cx="1649095" cy="1649095"/>
          </a:xfrm>
          <a:custGeom>
            <a:avLst/>
            <a:gdLst/>
            <a:ahLst/>
            <a:cxnLst/>
            <a:rect l="0" t="0" r="0" b="0"/>
            <a:pathLst>
              <a:path w="2596" h="2596">
                <a:moveTo>
                  <a:pt x="22" y="1298"/>
                </a:moveTo>
                <a:cubicBezTo>
                  <a:pt x="22" y="594"/>
                  <a:pt x="593" y="22"/>
                  <a:pt x="1298" y="22"/>
                </a:cubicBezTo>
                <a:cubicBezTo>
                  <a:pt x="2002" y="22"/>
                  <a:pt x="2573" y="594"/>
                  <a:pt x="2573" y="1298"/>
                </a:cubicBezTo>
                <a:cubicBezTo>
                  <a:pt x="2573" y="2002"/>
                  <a:pt x="2002" y="2574"/>
                  <a:pt x="1298" y="2574"/>
                </a:cubicBezTo>
                <a:cubicBezTo>
                  <a:pt x="593" y="2574"/>
                  <a:pt x="22" y="2002"/>
                  <a:pt x="22" y="1298"/>
                </a:cubicBezTo>
              </a:path>
            </a:pathLst>
          </a:custGeom>
          <a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0" ty="0" sx="100000" sy="100000" flip="none" algn="tl"/>
          </a:blipFill>
          <a:ln w="28955" cap="flat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" name="picture 19"/>
          <p:cNvPicPr>
            <a:picLocks noChangeAspect="1"/>
          </p:cNvPicPr>
          <p:nvPr/>
        </p:nvPicPr>
        <p:blipFill>
          <a:blip r:embed="rId5">
            <a:lum bright="9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680" y="2425700"/>
            <a:ext cx="1188085" cy="11887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88405" y="3992880"/>
            <a:ext cx="2014855" cy="36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12700" algn="ctr" rtl="0" eaLnBrk="0">
              <a:lnSpc>
                <a:spcPct val="97000"/>
              </a:lnSpc>
            </a:pPr>
            <a:r>
              <a:rPr lang="zh-CN" altLang="en-US" sz="1800" b="1" spc="50" dirty="0">
                <a:solidFill>
                  <a:srgbClr val="0070C0">
                    <a:alpha val="100000"/>
                  </a:srgbClr>
                </a:solidFill>
                <a:cs typeface="微软雅黑" panose="020B0503020204020204" pitchFamily="34" charset="-122"/>
                <a:sym typeface="+mn-ea"/>
              </a:rPr>
              <a:t>公司及团队介绍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391AF-D0A0-88E6-AE46-505F1D72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B1A7F1-1C5B-8346-0F3B-D8448630BE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团队凝聚力和企业全成长周期的经验实现超强执行力</a:t>
            </a:r>
            <a:endParaRPr lang="zh-CN" altLang="en-US"/>
          </a:p>
        </p:txBody>
      </p:sp>
      <p:pic>
        <p:nvPicPr>
          <p:cNvPr id="737" name="picture 737">
            <a:extLst>
              <a:ext uri="{FF2B5EF4-FFF2-40B4-BE49-F238E27FC236}">
                <a16:creationId xmlns:a16="http://schemas.microsoft.com/office/drawing/2014/main" id="{FFB9FAB8-43D3-9D00-18C6-5BEC39B84FA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600000">
            <a:off x="1894106" y="1352041"/>
            <a:ext cx="1881534" cy="2173224"/>
          </a:xfrm>
          <a:prstGeom prst="rect">
            <a:avLst/>
          </a:prstGeom>
          <a:solidFill>
            <a:srgbClr val="0070C0"/>
          </a:solidFill>
        </p:spPr>
      </p:pic>
      <p:pic>
        <p:nvPicPr>
          <p:cNvPr id="740" name="picture 740">
            <a:extLst>
              <a:ext uri="{FF2B5EF4-FFF2-40B4-BE49-F238E27FC236}">
                <a16:creationId xmlns:a16="http://schemas.microsoft.com/office/drawing/2014/main" id="{EBAA2C4F-A2EF-045D-A02E-0DCB878D1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600000">
            <a:off x="1681733" y="1895855"/>
            <a:ext cx="198882" cy="198882"/>
          </a:xfrm>
          <a:prstGeom prst="rect">
            <a:avLst/>
          </a:prstGeom>
        </p:spPr>
      </p:pic>
      <p:sp>
        <p:nvSpPr>
          <p:cNvPr id="794" name="textbox 794">
            <a:extLst>
              <a:ext uri="{FF2B5EF4-FFF2-40B4-BE49-F238E27FC236}">
                <a16:creationId xmlns:a16="http://schemas.microsoft.com/office/drawing/2014/main" id="{B3A5BDBF-0A6C-BF2D-7307-D0634E044FE7}"/>
              </a:ext>
            </a:extLst>
          </p:cNvPr>
          <p:cNvSpPr/>
          <p:nvPr/>
        </p:nvSpPr>
        <p:spPr>
          <a:xfrm>
            <a:off x="437515" y="3665220"/>
            <a:ext cx="3006090" cy="8274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lang="en-US" altLang="en-US" sz="500" dirty="0"/>
          </a:p>
          <a:p>
            <a:pPr indent="1198880" algn="l" rtl="0" eaLnBrk="0">
              <a:lnSpc>
                <a:spcPct val="98000"/>
              </a:lnSpc>
              <a:spcBef>
                <a:spcPts val="0"/>
              </a:spcBef>
            </a:pPr>
            <a:r>
              <a:rPr sz="1200" spc="-5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</a:t>
            </a:r>
            <a:endParaRPr lang="en-US" altLang="en-US" sz="12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AD7F139-1B2E-67ED-0AE7-97E39EFBBF79}"/>
              </a:ext>
            </a:extLst>
          </p:cNvPr>
          <p:cNvGrpSpPr/>
          <p:nvPr/>
        </p:nvGrpSpPr>
        <p:grpSpPr>
          <a:xfrm>
            <a:off x="57150" y="722630"/>
            <a:ext cx="12005310" cy="247650"/>
            <a:chOff x="292" y="-352"/>
            <a:chExt cx="18584" cy="390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F58308B-EFF1-0355-E600-8B52DBDBF863}"/>
                </a:ext>
              </a:extLst>
            </p:cNvPr>
            <p:cNvCxnSpPr/>
            <p:nvPr/>
          </p:nvCxnSpPr>
          <p:spPr>
            <a:xfrm>
              <a:off x="292" y="-160"/>
              <a:ext cx="18584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11C99229-E159-E129-5278-13A20A7FA3A9}"/>
                </a:ext>
              </a:extLst>
            </p:cNvPr>
            <p:cNvGrpSpPr/>
            <p:nvPr/>
          </p:nvGrpSpPr>
          <p:grpSpPr>
            <a:xfrm>
              <a:off x="7150" y="-352"/>
              <a:ext cx="4868" cy="390"/>
              <a:chOff x="7133" y="5923"/>
              <a:chExt cx="4868" cy="455"/>
            </a:xfrm>
          </p:grpSpPr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4E899A5F-509E-0CA9-9AF5-8594484BE964}"/>
                  </a:ext>
                </a:extLst>
              </p:cNvPr>
              <p:cNvGrpSpPr/>
              <p:nvPr/>
            </p:nvGrpSpPr>
            <p:grpSpPr>
              <a:xfrm>
                <a:off x="7133" y="6072"/>
                <a:ext cx="4868" cy="251"/>
                <a:chOff x="4546981" y="5139130"/>
                <a:chExt cx="3091411" cy="159348"/>
              </a:xfrm>
            </p:grpSpPr>
            <p:sp>
              <p:nvSpPr>
                <p:cNvPr id="87" name="object 15">
                  <a:extLst>
                    <a:ext uri="{FF2B5EF4-FFF2-40B4-BE49-F238E27FC236}">
                      <a16:creationId xmlns:a16="http://schemas.microsoft.com/office/drawing/2014/main" id="{A0113D16-4704-6617-0B81-C49B8B34FFDA}"/>
                    </a:ext>
                  </a:extLst>
                </p:cNvPr>
                <p:cNvSpPr/>
                <p:nvPr/>
              </p:nvSpPr>
              <p:spPr>
                <a:xfrm>
                  <a:off x="4546981" y="5139130"/>
                  <a:ext cx="218902" cy="159348"/>
                </a:xfrm>
                <a:prstGeom prst="rect">
                  <a:avLst/>
                </a:prstGeom>
                <a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88" name="object 17">
                  <a:extLst>
                    <a:ext uri="{FF2B5EF4-FFF2-40B4-BE49-F238E27FC236}">
                      <a16:creationId xmlns:a16="http://schemas.microsoft.com/office/drawing/2014/main" id="{9006CE36-274D-B724-BC20-F93897A77380}"/>
                    </a:ext>
                  </a:extLst>
                </p:cNvPr>
                <p:cNvSpPr/>
                <p:nvPr/>
              </p:nvSpPr>
              <p:spPr>
                <a:xfrm>
                  <a:off x="7419490" y="5139130"/>
                  <a:ext cx="218902" cy="159348"/>
                </a:xfrm>
                <a:prstGeom prst="rect">
                  <a:avLst/>
                </a:prstGeom>
                <a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9pPr>
                </a:lstStyle>
                <a:p>
                  <a:endParaRPr/>
                </a:p>
              </p:txBody>
            </p:sp>
          </p:grpSp>
          <p:sp>
            <p:nvSpPr>
              <p:cNvPr id="83" name="object 37">
                <a:extLst>
                  <a:ext uri="{FF2B5EF4-FFF2-40B4-BE49-F238E27FC236}">
                    <a16:creationId xmlns:a16="http://schemas.microsoft.com/office/drawing/2014/main" id="{90124F57-F1C3-A969-174E-FDE73962B8DE}"/>
                  </a:ext>
                </a:extLst>
              </p:cNvPr>
              <p:cNvSpPr/>
              <p:nvPr/>
            </p:nvSpPr>
            <p:spPr>
              <a:xfrm>
                <a:off x="8022" y="5923"/>
                <a:ext cx="3412" cy="455"/>
              </a:xfrm>
              <a:custGeom>
                <a:avLst/>
                <a:gdLst/>
                <a:ahLst/>
                <a:cxnLst/>
                <a:rect l="l" t="t" r="r" b="b"/>
                <a:pathLst>
                  <a:path w="6949440" h="274320">
                    <a:moveTo>
                      <a:pt x="6903720" y="0"/>
                    </a:moveTo>
                    <a:lnTo>
                      <a:pt x="45719" y="0"/>
                    </a:lnTo>
                    <a:lnTo>
                      <a:pt x="27914" y="3593"/>
                    </a:lnTo>
                    <a:lnTo>
                      <a:pt x="13382" y="13392"/>
                    </a:lnTo>
                    <a:lnTo>
                      <a:pt x="3589" y="27924"/>
                    </a:lnTo>
                    <a:lnTo>
                      <a:pt x="0" y="45720"/>
                    </a:lnTo>
                    <a:lnTo>
                      <a:pt x="0" y="228600"/>
                    </a:lnTo>
                    <a:lnTo>
                      <a:pt x="3589" y="246395"/>
                    </a:lnTo>
                    <a:lnTo>
                      <a:pt x="13382" y="260927"/>
                    </a:lnTo>
                    <a:lnTo>
                      <a:pt x="27914" y="270726"/>
                    </a:lnTo>
                    <a:lnTo>
                      <a:pt x="45719" y="274320"/>
                    </a:lnTo>
                    <a:lnTo>
                      <a:pt x="6903720" y="274320"/>
                    </a:lnTo>
                    <a:lnTo>
                      <a:pt x="6921525" y="270726"/>
                    </a:lnTo>
                    <a:lnTo>
                      <a:pt x="6936057" y="260927"/>
                    </a:lnTo>
                    <a:lnTo>
                      <a:pt x="6945850" y="246395"/>
                    </a:lnTo>
                    <a:lnTo>
                      <a:pt x="6949440" y="228600"/>
                    </a:lnTo>
                    <a:lnTo>
                      <a:pt x="6949440" y="45720"/>
                    </a:lnTo>
                    <a:lnTo>
                      <a:pt x="6945850" y="27924"/>
                    </a:lnTo>
                    <a:lnTo>
                      <a:pt x="6936057" y="13392"/>
                    </a:lnTo>
                    <a:lnTo>
                      <a:pt x="6921525" y="3593"/>
                    </a:lnTo>
                    <a:lnTo>
                      <a:pt x="6903720" y="0"/>
                    </a:lnTo>
                    <a:close/>
                  </a:path>
                </a:pathLst>
              </a:custGeom>
              <a:solidFill>
                <a:srgbClr val="052C66"/>
              </a:solidFill>
            </p:spPr>
            <p:txBody>
              <a:bodyPr wrap="square" lIns="0" tIns="0" rIns="0" bIns="0" rtlCol="0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9pPr>
              </a:lstStyle>
              <a:p>
                <a:pPr algn="ctr"/>
                <a:r>
                  <a:rPr lang="zh-CN" altLang="en-US" sz="1600" b="1" dirty="0">
                    <a:solidFill>
                      <a:schemeClr val="bg1"/>
                    </a:solidFill>
                  </a:rPr>
                  <a:t>管理团队</a:t>
                </a:r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A14F60-FB8F-6775-BD78-6F375A0BE7D9}"/>
              </a:ext>
            </a:extLst>
          </p:cNvPr>
          <p:cNvGrpSpPr/>
          <p:nvPr/>
        </p:nvGrpSpPr>
        <p:grpSpPr>
          <a:xfrm>
            <a:off x="4540250" y="3742055"/>
            <a:ext cx="3091180" cy="136525"/>
            <a:chOff x="4546981" y="5139130"/>
            <a:chExt cx="3091411" cy="159348"/>
          </a:xfrm>
        </p:grpSpPr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C1A55BF6-7C67-E8C0-213C-F9ED9AB84DD8}"/>
                </a:ext>
              </a:extLst>
            </p:cNvPr>
            <p:cNvSpPr/>
            <p:nvPr/>
          </p:nvSpPr>
          <p:spPr>
            <a:xfrm>
              <a:off x="4546981" y="5139130"/>
              <a:ext cx="218902" cy="159348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wrap="square" lIns="0" tIns="0" rIns="0" bIns="0" rtlCol="0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2" name="object 17">
              <a:extLst>
                <a:ext uri="{FF2B5EF4-FFF2-40B4-BE49-F238E27FC236}">
                  <a16:creationId xmlns:a16="http://schemas.microsoft.com/office/drawing/2014/main" id="{DC05EE7B-C7A6-0BD1-8227-0EADA3BB02FA}"/>
                </a:ext>
              </a:extLst>
            </p:cNvPr>
            <p:cNvSpPr/>
            <p:nvPr/>
          </p:nvSpPr>
          <p:spPr>
            <a:xfrm>
              <a:off x="7419490" y="5139130"/>
              <a:ext cx="218902" cy="159348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 wrap="square" lIns="0" tIns="0" rIns="0" bIns="0" rtlCol="0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9pPr>
            </a:lstStyle>
            <a:p>
              <a:endParaRPr/>
            </a:p>
          </p:txBody>
        </p:sp>
      </p:grpSp>
      <p:pic>
        <p:nvPicPr>
          <p:cNvPr id="44" name="Picture 6" descr="http://xqimg.imedao.com/151227b908915d43fee78b75.jpg%21custom660.jpg">
            <a:extLst>
              <a:ext uri="{FF2B5EF4-FFF2-40B4-BE49-F238E27FC236}">
                <a16:creationId xmlns:a16="http://schemas.microsoft.com/office/drawing/2014/main" id="{790CBA20-2108-08A1-C0BE-6CF87151E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96" y="3071739"/>
            <a:ext cx="706755" cy="48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http://xqimg.imedao.com/151227b908915d43fee78b75.jpg%21custom660.jpg">
            <a:extLst>
              <a:ext uri="{FF2B5EF4-FFF2-40B4-BE49-F238E27FC236}">
                <a16:creationId xmlns:a16="http://schemas.microsoft.com/office/drawing/2014/main" id="{B112757E-22AC-5C1D-D82E-32F676F0B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536" y="3215842"/>
            <a:ext cx="706755" cy="48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737">
            <a:extLst>
              <a:ext uri="{FF2B5EF4-FFF2-40B4-BE49-F238E27FC236}">
                <a16:creationId xmlns:a16="http://schemas.microsoft.com/office/drawing/2014/main" id="{02E406E6-D657-8675-9299-FB16001B402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600000">
            <a:off x="5622582" y="4353630"/>
            <a:ext cx="1947951" cy="2172970"/>
          </a:xfrm>
          <a:prstGeom prst="rect">
            <a:avLst/>
          </a:prstGeom>
          <a:solidFill>
            <a:srgbClr val="0070C0"/>
          </a:solidFill>
        </p:spPr>
      </p:pic>
      <p:pic>
        <p:nvPicPr>
          <p:cNvPr id="22" name="picture 737">
            <a:extLst>
              <a:ext uri="{FF2B5EF4-FFF2-40B4-BE49-F238E27FC236}">
                <a16:creationId xmlns:a16="http://schemas.microsoft.com/office/drawing/2014/main" id="{ECFC3E1C-C3D2-B250-E181-F1A1A4A6314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600000">
            <a:off x="1842964" y="4395955"/>
            <a:ext cx="1913627" cy="2172970"/>
          </a:xfrm>
          <a:prstGeom prst="rect">
            <a:avLst/>
          </a:prstGeom>
          <a:solidFill>
            <a:srgbClr val="0070C0"/>
          </a:solidFill>
        </p:spPr>
      </p:pic>
      <p:pic>
        <p:nvPicPr>
          <p:cNvPr id="25" name="picture 737">
            <a:extLst>
              <a:ext uri="{FF2B5EF4-FFF2-40B4-BE49-F238E27FC236}">
                <a16:creationId xmlns:a16="http://schemas.microsoft.com/office/drawing/2014/main" id="{9FDEB03D-032B-FA1D-3894-C1ED46A9A39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600000">
            <a:off x="5600816" y="1352040"/>
            <a:ext cx="2062359" cy="2253631"/>
          </a:xfrm>
          <a:prstGeom prst="rect">
            <a:avLst/>
          </a:prstGeom>
          <a:solidFill>
            <a:srgbClr val="0070C0"/>
          </a:solidFill>
        </p:spPr>
      </p:pic>
      <p:pic>
        <p:nvPicPr>
          <p:cNvPr id="26" name="picture 737">
            <a:extLst>
              <a:ext uri="{FF2B5EF4-FFF2-40B4-BE49-F238E27FC236}">
                <a16:creationId xmlns:a16="http://schemas.microsoft.com/office/drawing/2014/main" id="{AFD2B312-D8FF-9DD6-E088-1A3EED1BDA3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600000">
            <a:off x="9409570" y="1324610"/>
            <a:ext cx="1651558" cy="2173224"/>
          </a:xfrm>
          <a:prstGeom prst="rect">
            <a:avLst/>
          </a:prstGeom>
          <a:solidFill>
            <a:srgbClr val="0070C0"/>
          </a:solidFill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2AB205DF-554F-CE7F-A9B1-4268E829B8B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9361" y="1321071"/>
            <a:ext cx="925934" cy="1284884"/>
          </a:xfrm>
          <a:prstGeom prst="ellipse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178A82C3-83B1-8359-AA92-C74BB271F5F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59642" y="1264973"/>
            <a:ext cx="1011213" cy="1398313"/>
          </a:xfrm>
          <a:prstGeom prst="ellipse">
            <a:avLst/>
          </a:prstGeom>
          <a:noFill/>
          <a:ln w="9525">
            <a:noFill/>
          </a:ln>
        </p:spPr>
      </p:pic>
      <p:pic>
        <p:nvPicPr>
          <p:cNvPr id="35" name="图片 34" descr="人像 拷贝">
            <a:extLst>
              <a:ext uri="{FF2B5EF4-FFF2-40B4-BE49-F238E27FC236}">
                <a16:creationId xmlns:a16="http://schemas.microsoft.com/office/drawing/2014/main" id="{4EBF6F00-7ED9-2E1A-331A-E43F8425146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111" y="1314855"/>
            <a:ext cx="982735" cy="1310636"/>
          </a:xfrm>
          <a:prstGeom prst="ellipse">
            <a:avLst/>
          </a:prstGeom>
        </p:spPr>
      </p:pic>
      <p:pic>
        <p:nvPicPr>
          <p:cNvPr id="105" name="图片 104">
            <a:extLst>
              <a:ext uri="{FF2B5EF4-FFF2-40B4-BE49-F238E27FC236}">
                <a16:creationId xmlns:a16="http://schemas.microsoft.com/office/drawing/2014/main" id="{884DD2B1-1FC6-CD96-8E1B-A7EBF5A5777E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344" y="3097202"/>
            <a:ext cx="600075" cy="600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134D10D0-24FC-1AF0-2638-AFCE297BBA9B}"/>
              </a:ext>
            </a:extLst>
          </p:cNvPr>
          <p:cNvSpPr txBox="1"/>
          <p:nvPr/>
        </p:nvSpPr>
        <p:spPr>
          <a:xfrm>
            <a:off x="565409" y="2567242"/>
            <a:ext cx="1433406" cy="5170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龙汉</a:t>
            </a:r>
          </a:p>
          <a:p>
            <a:pPr lvl="0"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联合创始人</a:t>
            </a:r>
            <a:r>
              <a:rPr lang="en-US" altLang="zh-CN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-CEO</a:t>
            </a:r>
            <a:endParaRPr lang="zh-CN" altLang="en-US" sz="1300" b="1" dirty="0">
              <a:solidFill>
                <a:prstClr val="black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1D16BA-ECE7-62B2-6C86-F32D5022CA9E}"/>
              </a:ext>
            </a:extLst>
          </p:cNvPr>
          <p:cNvSpPr txBox="1"/>
          <p:nvPr/>
        </p:nvSpPr>
        <p:spPr>
          <a:xfrm>
            <a:off x="4262834" y="2650713"/>
            <a:ext cx="1436163" cy="5170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陈文俊</a:t>
            </a:r>
          </a:p>
          <a:p>
            <a:pPr lvl="0"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联合创始人</a:t>
            </a:r>
            <a:r>
              <a:rPr lang="en-US" altLang="zh-CN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-CTO</a:t>
            </a:r>
            <a:endParaRPr lang="zh-CN" altLang="en-US" sz="1300" b="1" dirty="0">
              <a:solidFill>
                <a:prstClr val="black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F8217DA-0B2D-5ACF-304B-93B74BAE07B0}"/>
              </a:ext>
            </a:extLst>
          </p:cNvPr>
          <p:cNvSpPr txBox="1"/>
          <p:nvPr/>
        </p:nvSpPr>
        <p:spPr>
          <a:xfrm>
            <a:off x="8518789" y="2594282"/>
            <a:ext cx="843280" cy="5308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吴庆恒</a:t>
            </a:r>
          </a:p>
          <a:p>
            <a:pPr lvl="0"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运营总裁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D999047-83EF-BA80-C997-00412CD9136E}"/>
              </a:ext>
            </a:extLst>
          </p:cNvPr>
          <p:cNvSpPr txBox="1"/>
          <p:nvPr/>
        </p:nvSpPr>
        <p:spPr>
          <a:xfrm>
            <a:off x="1916707" y="1386205"/>
            <a:ext cx="1849245" cy="1869743"/>
          </a:xfrm>
          <a:prstGeom prst="rect">
            <a:avLst/>
          </a:prstGeom>
          <a:solidFill>
            <a:schemeClr val="bg1">
              <a:alpha val="68000"/>
            </a:schemeClr>
          </a:solidFill>
        </p:spPr>
        <p:txBody>
          <a:bodyPr wrap="square" rtlCol="0">
            <a:spAutoFit/>
          </a:bodyPr>
          <a:lstStyle/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医疗器械</a:t>
            </a:r>
            <a:r>
              <a:rPr lang="en-US" altLang="zh-CN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15</a:t>
            </a: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年</a:t>
            </a:r>
            <a:r>
              <a:rPr lang="en-US" altLang="zh-CN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产品开发及项目管理经验</a:t>
            </a:r>
            <a:endParaRPr lang="en-US" altLang="zh-CN" sz="1200" dirty="0">
              <a:solidFill>
                <a:prstClr val="black"/>
              </a:solidFill>
              <a:cs typeface="微软雅黑" panose="020B0503020204020204" pitchFamily="34" charset="-122"/>
              <a:sym typeface="+mn-ea"/>
            </a:endParaRP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原先健科技研发总监</a:t>
            </a:r>
            <a:r>
              <a:rPr lang="en-US" altLang="zh-CN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产品策略委员会委员</a:t>
            </a:r>
            <a:endParaRPr lang="en-US" altLang="zh-CN" sz="1200" dirty="0">
              <a:solidFill>
                <a:prstClr val="black"/>
              </a:solidFill>
              <a:cs typeface="微软雅黑" panose="020B0503020204020204" pitchFamily="34" charset="-122"/>
            </a:endParaRP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曾获得创新医疗器械通道</a:t>
            </a:r>
            <a:r>
              <a:rPr lang="en-US" altLang="zh-CN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项，发表专利超过</a:t>
            </a:r>
            <a:r>
              <a:rPr lang="en-US" altLang="zh-CN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40</a:t>
            </a: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篇</a:t>
            </a:r>
            <a:endParaRPr lang="en-US" altLang="zh-CN" sz="1200" dirty="0">
              <a:solidFill>
                <a:prstClr val="black"/>
              </a:solidFill>
              <a:cs typeface="微软雅黑" panose="020B0503020204020204" pitchFamily="34" charset="-122"/>
              <a:sym typeface="+mn-ea"/>
            </a:endParaRP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材料学硕士研究生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BD9FF41-E1B9-A023-7941-1104DA440ACB}"/>
              </a:ext>
            </a:extLst>
          </p:cNvPr>
          <p:cNvSpPr txBox="1"/>
          <p:nvPr/>
        </p:nvSpPr>
        <p:spPr>
          <a:xfrm>
            <a:off x="5661756" y="1396081"/>
            <a:ext cx="2043402" cy="2685351"/>
          </a:xfrm>
          <a:prstGeom prst="rect">
            <a:avLst/>
          </a:prstGeom>
          <a:solidFill>
            <a:schemeClr val="bg1">
              <a:alpha val="68000"/>
            </a:schemeClr>
          </a:solidFill>
        </p:spPr>
        <p:txBody>
          <a:bodyPr wrap="square" rtlCol="0">
            <a:spAutoFit/>
          </a:bodyPr>
          <a:lstStyle/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先健瓣膜事业部研发经理</a:t>
            </a:r>
            <a:r>
              <a:rPr lang="en-US" altLang="zh-CN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瓣膜子公司总经理</a:t>
            </a: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国内最早主动脉瓣、二尖瓣、免缝合瓣的开发者</a:t>
            </a: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开发的封堵器系列产品荣获2020年中华医学科技奖</a:t>
            </a: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获得创新医疗器械通道3项，发表专利近50余篇</a:t>
            </a:r>
            <a:endParaRPr lang="en-US" altLang="zh-CN" sz="1200" dirty="0">
              <a:solidFill>
                <a:prstClr val="black"/>
              </a:solidFill>
              <a:cs typeface="微软雅黑" panose="020B0503020204020204" pitchFamily="34" charset="-122"/>
              <a:sym typeface="+mn-ea"/>
            </a:endParaRPr>
          </a:p>
          <a:p>
            <a:pPr lv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defRPr/>
            </a:pPr>
            <a:endParaRPr lang="zh-CN" altLang="en-US" sz="1200" dirty="0">
              <a:solidFill>
                <a:prstClr val="black"/>
              </a:solidFill>
              <a:cs typeface="微软雅黑" panose="020B0503020204020204" pitchFamily="34" charset="-122"/>
              <a:sym typeface="+mn-ea"/>
            </a:endParaRP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endParaRPr lang="zh-CN" altLang="en-US" sz="1200" dirty="0">
              <a:solidFill>
                <a:prstClr val="black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6BE65A3-45D5-80B9-DBFA-07DC5AAE8D2C}"/>
              </a:ext>
            </a:extLst>
          </p:cNvPr>
          <p:cNvSpPr txBox="1"/>
          <p:nvPr/>
        </p:nvSpPr>
        <p:spPr>
          <a:xfrm>
            <a:off x="9468366" y="1374603"/>
            <a:ext cx="1583612" cy="2015936"/>
          </a:xfrm>
          <a:prstGeom prst="rect">
            <a:avLst/>
          </a:prstGeom>
          <a:solidFill>
            <a:schemeClr val="bg1">
              <a:alpha val="68000"/>
            </a:schemeClr>
          </a:solidFill>
        </p:spPr>
        <p:txBody>
          <a:bodyPr wrap="square" rtlCol="0">
            <a:spAutoFit/>
          </a:bodyPr>
          <a:lstStyle/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医疗器械</a:t>
            </a:r>
            <a:r>
              <a:rPr lang="en-US" altLang="zh-CN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20</a:t>
            </a: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年</a:t>
            </a:r>
            <a:r>
              <a:rPr lang="en-US" altLang="zh-CN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质量体系和生产管理经验；</a:t>
            </a: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熟悉ISO9001、ISO13485管理体系；</a:t>
            </a: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负责公司产品全面质量控制、分析控制、体系运行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9FBBDBB-5BC8-9B76-2438-79828C7DE984}"/>
              </a:ext>
            </a:extLst>
          </p:cNvPr>
          <p:cNvSpPr txBox="1"/>
          <p:nvPr/>
        </p:nvSpPr>
        <p:spPr>
          <a:xfrm>
            <a:off x="2682040" y="958134"/>
            <a:ext cx="70916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sz="1600" b="1" dirty="0">
                <a:solidFill>
                  <a:srgbClr val="0070C0"/>
                </a:solidFill>
                <a:sym typeface="+mn-ea"/>
              </a:rPr>
              <a:t>联合创始人</a:t>
            </a:r>
            <a:r>
              <a:rPr lang="zh-CN" sz="1600" b="1" dirty="0">
                <a:solidFill>
                  <a:srgbClr val="0070C0"/>
                </a:solidFill>
                <a:sym typeface="+mn-ea"/>
              </a:rPr>
              <a:t>同一上市公司</a:t>
            </a:r>
            <a:r>
              <a:rPr sz="1600" b="1" dirty="0">
                <a:solidFill>
                  <a:srgbClr val="0070C0"/>
                </a:solidFill>
                <a:sym typeface="+mn-ea"/>
              </a:rPr>
              <a:t>多年</a:t>
            </a:r>
            <a:r>
              <a:rPr lang="zh-CN" sz="1600" b="1" dirty="0">
                <a:solidFill>
                  <a:srgbClr val="0070C0"/>
                </a:solidFill>
                <a:sym typeface="+mn-ea"/>
              </a:rPr>
              <a:t>共事，</a:t>
            </a:r>
            <a:r>
              <a:rPr sz="1600" b="1" dirty="0">
                <a:solidFill>
                  <a:srgbClr val="0070C0"/>
                </a:solidFill>
                <a:sym typeface="+mn-ea"/>
              </a:rPr>
              <a:t>产品策略规划和工艺突破经历，专长互补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B64BA09-FBE1-1D5D-0208-755EAD071CAB}"/>
              </a:ext>
            </a:extLst>
          </p:cNvPr>
          <p:cNvSpPr txBox="1"/>
          <p:nvPr/>
        </p:nvSpPr>
        <p:spPr>
          <a:xfrm>
            <a:off x="3966070" y="5819596"/>
            <a:ext cx="1666552" cy="5170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刘鹏</a:t>
            </a:r>
          </a:p>
          <a:p>
            <a:pPr lvl="0"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有源研发负责人</a:t>
            </a:r>
            <a:endParaRPr lang="zh-CN" altLang="en-US" sz="1300" b="1" dirty="0">
              <a:solidFill>
                <a:prstClr val="black"/>
              </a:solidFill>
              <a:cs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741472A-C70D-7974-6922-F24E8A5B0928}"/>
              </a:ext>
            </a:extLst>
          </p:cNvPr>
          <p:cNvSpPr txBox="1"/>
          <p:nvPr/>
        </p:nvSpPr>
        <p:spPr>
          <a:xfrm>
            <a:off x="321153" y="5762579"/>
            <a:ext cx="1351653" cy="5170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吴星宇</a:t>
            </a:r>
          </a:p>
          <a:p>
            <a:pPr lvl="0"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外周研发负责人</a:t>
            </a:r>
            <a:endParaRPr lang="zh-CN" altLang="en-US" sz="1300" b="1" dirty="0">
              <a:solidFill>
                <a:prstClr val="black"/>
              </a:solidFill>
              <a:cs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3D04E5F-AEEC-CCD1-7A12-192F92296879}"/>
              </a:ext>
            </a:extLst>
          </p:cNvPr>
          <p:cNvSpPr txBox="1"/>
          <p:nvPr/>
        </p:nvSpPr>
        <p:spPr>
          <a:xfrm>
            <a:off x="5700978" y="4409817"/>
            <a:ext cx="1763178" cy="1685077"/>
          </a:xfrm>
          <a:prstGeom prst="rect">
            <a:avLst/>
          </a:prstGeom>
          <a:solidFill>
            <a:schemeClr val="bg1">
              <a:alpha val="68000"/>
            </a:schemeClr>
          </a:solidFill>
        </p:spPr>
        <p:txBody>
          <a:bodyPr wrap="square" rtlCol="0">
            <a:spAutoFit/>
          </a:bodyPr>
          <a:lstStyle/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心血管介入器械</a:t>
            </a:r>
            <a:r>
              <a:rPr lang="en-US" altLang="zh-CN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年经验</a:t>
            </a: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最早肾动脉消融开发者；最早卵圆孔介入封堵开发者；</a:t>
            </a: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先健/阜外人工心脏子公司总经理</a:t>
            </a: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发表专利40余篇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14449D9-AEEF-446B-53A5-9C0BA5682DAC}"/>
              </a:ext>
            </a:extLst>
          </p:cNvPr>
          <p:cNvSpPr txBox="1"/>
          <p:nvPr/>
        </p:nvSpPr>
        <p:spPr>
          <a:xfrm>
            <a:off x="1875268" y="4432785"/>
            <a:ext cx="1864400" cy="1685077"/>
          </a:xfrm>
          <a:prstGeom prst="rect">
            <a:avLst/>
          </a:prstGeom>
          <a:solidFill>
            <a:schemeClr val="bg1">
              <a:alpha val="68000"/>
            </a:schemeClr>
          </a:solidFill>
        </p:spPr>
        <p:txBody>
          <a:bodyPr wrap="square" rtlCol="0">
            <a:spAutoFit/>
          </a:bodyPr>
          <a:lstStyle/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心血管介入器械超过</a:t>
            </a:r>
            <a:r>
              <a:rPr lang="en-US" altLang="zh-CN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10</a:t>
            </a: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年经验、工业制造业3年经验</a:t>
            </a: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国内最早减容器械开发者</a:t>
            </a: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机械制造行业500强公司跨国技术转移</a:t>
            </a: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发表专利20余篇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A1552A63-88A9-AF65-B58D-BCD0ECF38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36" y="3527267"/>
            <a:ext cx="1398903" cy="296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E1A6B31-05F8-1AFD-60D3-C03F8085A800}"/>
              </a:ext>
            </a:extLst>
          </p:cNvPr>
          <p:cNvCxnSpPr>
            <a:cxnSpLocks/>
          </p:cNvCxnSpPr>
          <p:nvPr/>
        </p:nvCxnSpPr>
        <p:spPr>
          <a:xfrm>
            <a:off x="185420" y="3782695"/>
            <a:ext cx="11788138" cy="7165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BF7C094F-4120-13A5-F653-CC08DF4A0D3C}"/>
              </a:ext>
            </a:extLst>
          </p:cNvPr>
          <p:cNvSpPr txBox="1"/>
          <p:nvPr/>
        </p:nvSpPr>
        <p:spPr>
          <a:xfrm>
            <a:off x="3148062" y="3884870"/>
            <a:ext cx="631190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0070C0"/>
                </a:solidFill>
                <a:sym typeface="+mn-ea"/>
              </a:rPr>
              <a:t>多学科融合建制团队骨干团队</a:t>
            </a:r>
            <a:r>
              <a:rPr lang="en-US" altLang="zh-CN" sz="1600" b="1" dirty="0">
                <a:solidFill>
                  <a:srgbClr val="0070C0"/>
                </a:solidFill>
                <a:sym typeface="+mn-ea"/>
              </a:rPr>
              <a:t>——</a:t>
            </a:r>
            <a:r>
              <a:rPr lang="zh-CN" altLang="en-US" sz="1600" b="1" dirty="0">
                <a:solidFill>
                  <a:srgbClr val="0070C0"/>
                </a:solidFill>
                <a:sym typeface="+mn-ea"/>
              </a:rPr>
              <a:t>融合电子、精密加工、材料等学科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869BE4-1C7C-A765-330E-D1032C6E8E7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43" y="4249016"/>
            <a:ext cx="1307447" cy="1525082"/>
          </a:xfrm>
          <a:prstGeom prst="ellipse">
            <a:avLst/>
          </a:prstGeom>
        </p:spPr>
      </p:pic>
      <p:pic>
        <p:nvPicPr>
          <p:cNvPr id="9" name="Picture 6" descr="http://xqimg.imedao.com/151227b908915d43fee78b75.jpg%21custom660.jpg">
            <a:extLst>
              <a:ext uri="{FF2B5EF4-FFF2-40B4-BE49-F238E27FC236}">
                <a16:creationId xmlns:a16="http://schemas.microsoft.com/office/drawing/2014/main" id="{3075EA32-1EB6-1695-27C2-8DC04A429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66" y="6274038"/>
            <a:ext cx="706755" cy="48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http://xqimg.imedao.com/151227b908915d43fee78b75.jpg%21custom660.jpg">
            <a:extLst>
              <a:ext uri="{FF2B5EF4-FFF2-40B4-BE49-F238E27FC236}">
                <a16:creationId xmlns:a16="http://schemas.microsoft.com/office/drawing/2014/main" id="{82599EB3-61B8-90F4-A432-877E77AE7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151" y="6294766"/>
            <a:ext cx="706755" cy="48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99119DF1-5367-EE06-0C95-FA381E910E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173" y="4176549"/>
            <a:ext cx="1269058" cy="1690323"/>
          </a:xfrm>
          <a:prstGeom prst="ellipse">
            <a:avLst/>
          </a:prstGeom>
        </p:spPr>
      </p:pic>
      <p:pic>
        <p:nvPicPr>
          <p:cNvPr id="2" name="picture 737">
            <a:extLst>
              <a:ext uri="{FF2B5EF4-FFF2-40B4-BE49-F238E27FC236}">
                <a16:creationId xmlns:a16="http://schemas.microsoft.com/office/drawing/2014/main" id="{7F74F36C-9D67-A7FF-1E45-1E3E57E83E7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600000">
            <a:off x="9337535" y="4377020"/>
            <a:ext cx="1947951" cy="1636430"/>
          </a:xfrm>
          <a:prstGeom prst="rect">
            <a:avLst/>
          </a:prstGeom>
          <a:solidFill>
            <a:srgbClr val="0070C0"/>
          </a:solidFill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E9742F1-FA15-AFBC-F16A-E7DB48B62313}"/>
              </a:ext>
            </a:extLst>
          </p:cNvPr>
          <p:cNvSpPr txBox="1"/>
          <p:nvPr/>
        </p:nvSpPr>
        <p:spPr>
          <a:xfrm>
            <a:off x="9416028" y="4409817"/>
            <a:ext cx="1763178" cy="1500411"/>
          </a:xfrm>
          <a:prstGeom prst="rect">
            <a:avLst/>
          </a:prstGeom>
          <a:solidFill>
            <a:schemeClr val="bg1">
              <a:alpha val="68000"/>
            </a:schemeClr>
          </a:solidFill>
        </p:spPr>
        <p:txBody>
          <a:bodyPr wrap="square" rtlCol="0">
            <a:spAutoFit/>
          </a:bodyPr>
          <a:lstStyle/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原</a:t>
            </a:r>
            <a:r>
              <a:rPr lang="en-US" altLang="zh-CN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COOK</a:t>
            </a: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公司外周血管介入高级区域经理</a:t>
            </a:r>
            <a:endParaRPr lang="en-US" altLang="zh-CN" sz="1200" dirty="0">
              <a:solidFill>
                <a:prstClr val="black"/>
              </a:solidFill>
              <a:cs typeface="微软雅黑" panose="020B0503020204020204" pitchFamily="34" charset="-122"/>
              <a:sym typeface="+mn-ea"/>
            </a:endParaRP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医疗器械超过</a:t>
            </a:r>
            <a:r>
              <a:rPr lang="en-US" altLang="zh-CN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15</a:t>
            </a:r>
            <a:r>
              <a:rPr lang="zh-CN" altLang="en-US" sz="1200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年销售经验</a:t>
            </a:r>
          </a:p>
          <a:p>
            <a:pPr marL="285750" lvl="0" indent="-28575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buFont typeface="Wingdings" panose="05000000000000000000" pitchFamily="2" charset="2"/>
              <a:buChar char="ü"/>
              <a:defRPr/>
            </a:pPr>
            <a:r>
              <a:rPr lang="zh-CN" altLang="zh-CN" sz="1200" dirty="0">
                <a:solidFill>
                  <a:prstClr val="black"/>
                </a:solidFill>
              </a:rPr>
              <a:t>临床医学专业</a:t>
            </a:r>
            <a:r>
              <a:rPr lang="zh-CN" altLang="en-US" sz="1200" dirty="0">
                <a:solidFill>
                  <a:prstClr val="black"/>
                </a:solidFill>
                <a:sym typeface="+mn-ea"/>
              </a:rPr>
              <a:t>；</a:t>
            </a:r>
          </a:p>
          <a:p>
            <a:pPr lv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C0"/>
              </a:buClr>
              <a:defRPr/>
            </a:pPr>
            <a:endParaRPr lang="zh-CN" altLang="en-US" sz="1200" dirty="0">
              <a:solidFill>
                <a:prstClr val="black"/>
              </a:solidFill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736C6D9-3989-CC1F-D731-896802E4C0C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497" y="4290979"/>
            <a:ext cx="1216764" cy="1656845"/>
          </a:xfrm>
          <a:prstGeom prst="ellipse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425B6CE-2C8F-9AA5-80B7-47CD2737449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16238" y="6422257"/>
            <a:ext cx="847282" cy="426327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61BD966-F25B-FFF8-563A-CEF39DAE5A83}"/>
              </a:ext>
            </a:extLst>
          </p:cNvPr>
          <p:cNvSpPr txBox="1"/>
          <p:nvPr/>
        </p:nvSpPr>
        <p:spPr>
          <a:xfrm>
            <a:off x="7793410" y="5950981"/>
            <a:ext cx="1666552" cy="5170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刘晓宇</a:t>
            </a:r>
          </a:p>
          <a:p>
            <a:pPr lvl="0"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市场</a:t>
            </a:r>
            <a:r>
              <a:rPr lang="en-US" altLang="zh-CN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300" b="1" dirty="0">
                <a:solidFill>
                  <a:prstClr val="black"/>
                </a:solidFill>
                <a:cs typeface="微软雅黑" panose="020B0503020204020204" pitchFamily="34" charset="-122"/>
                <a:sym typeface="+mn-ea"/>
              </a:rPr>
              <a:t>商务负责人</a:t>
            </a:r>
            <a:endParaRPr lang="zh-CN" altLang="en-US" sz="1300" b="1" dirty="0">
              <a:solidFill>
                <a:prstClr val="black"/>
              </a:solidFill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6746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cs typeface="微软雅黑" panose="020B0503020204020204" pitchFamily="34" charset="-122"/>
                <a:sym typeface="+mn-ea"/>
              </a:rPr>
              <a:t>源头布局与跨界</a:t>
            </a:r>
            <a:r>
              <a:rPr lang="zh-CN" altLang="en-US" kern="0" dirty="0">
                <a:cs typeface="微软雅黑" panose="020B0503020204020204" pitchFamily="34" charset="-122"/>
                <a:sym typeface="+mn-ea"/>
              </a:rPr>
              <a:t>融合，</a:t>
            </a:r>
            <a:r>
              <a:rPr lang="zh-CN" altLang="en-US"/>
              <a:t>汇集各界领袖及新生代专家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7150" y="912495"/>
            <a:ext cx="12005310" cy="247650"/>
            <a:chOff x="292" y="-352"/>
            <a:chExt cx="18584" cy="390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292" y="-160"/>
              <a:ext cx="18584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1" name="组合 80"/>
            <p:cNvGrpSpPr/>
            <p:nvPr/>
          </p:nvGrpSpPr>
          <p:grpSpPr>
            <a:xfrm>
              <a:off x="7150" y="-352"/>
              <a:ext cx="4868" cy="390"/>
              <a:chOff x="7133" y="5923"/>
              <a:chExt cx="4868" cy="455"/>
            </a:xfrm>
          </p:grpSpPr>
          <p:grpSp>
            <p:nvGrpSpPr>
              <p:cNvPr id="82" name="组合 81"/>
              <p:cNvGrpSpPr/>
              <p:nvPr/>
            </p:nvGrpSpPr>
            <p:grpSpPr>
              <a:xfrm>
                <a:off x="7133" y="6072"/>
                <a:ext cx="4868" cy="251"/>
                <a:chOff x="4546981" y="5139130"/>
                <a:chExt cx="3091411" cy="159348"/>
              </a:xfrm>
            </p:grpSpPr>
            <p:sp>
              <p:nvSpPr>
                <p:cNvPr id="87" name="object 15"/>
                <p:cNvSpPr/>
                <p:nvPr/>
              </p:nvSpPr>
              <p:spPr>
                <a:xfrm>
                  <a:off x="4546981" y="5139130"/>
                  <a:ext cx="218902" cy="159348"/>
                </a:xfrm>
                <a:prstGeom prst="rect">
                  <a:avLst/>
                </a:prstGeom>
                <a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88" name="object 17"/>
                <p:cNvSpPr/>
                <p:nvPr/>
              </p:nvSpPr>
              <p:spPr>
                <a:xfrm>
                  <a:off x="7419490" y="5139130"/>
                  <a:ext cx="218902" cy="159348"/>
                </a:xfrm>
                <a:prstGeom prst="rect">
                  <a:avLst/>
                </a:prstGeom>
                <a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lvl9pPr>
                </a:lstStyle>
                <a:p>
                  <a:endParaRPr/>
                </a:p>
              </p:txBody>
            </p:sp>
          </p:grpSp>
          <p:sp>
            <p:nvSpPr>
              <p:cNvPr id="83" name="object 37"/>
              <p:cNvSpPr/>
              <p:nvPr/>
            </p:nvSpPr>
            <p:spPr>
              <a:xfrm>
                <a:off x="8022" y="5923"/>
                <a:ext cx="3412" cy="455"/>
              </a:xfrm>
              <a:custGeom>
                <a:avLst/>
                <a:gdLst/>
                <a:ahLst/>
                <a:cxnLst/>
                <a:rect l="l" t="t" r="r" b="b"/>
                <a:pathLst>
                  <a:path w="6949440" h="274320">
                    <a:moveTo>
                      <a:pt x="6903720" y="0"/>
                    </a:moveTo>
                    <a:lnTo>
                      <a:pt x="45719" y="0"/>
                    </a:lnTo>
                    <a:lnTo>
                      <a:pt x="27914" y="3593"/>
                    </a:lnTo>
                    <a:lnTo>
                      <a:pt x="13382" y="13392"/>
                    </a:lnTo>
                    <a:lnTo>
                      <a:pt x="3589" y="27924"/>
                    </a:lnTo>
                    <a:lnTo>
                      <a:pt x="0" y="45720"/>
                    </a:lnTo>
                    <a:lnTo>
                      <a:pt x="0" y="228600"/>
                    </a:lnTo>
                    <a:lnTo>
                      <a:pt x="3589" y="246395"/>
                    </a:lnTo>
                    <a:lnTo>
                      <a:pt x="13382" y="260927"/>
                    </a:lnTo>
                    <a:lnTo>
                      <a:pt x="27914" y="270726"/>
                    </a:lnTo>
                    <a:lnTo>
                      <a:pt x="45719" y="274320"/>
                    </a:lnTo>
                    <a:lnTo>
                      <a:pt x="6903720" y="274320"/>
                    </a:lnTo>
                    <a:lnTo>
                      <a:pt x="6921525" y="270726"/>
                    </a:lnTo>
                    <a:lnTo>
                      <a:pt x="6936057" y="260927"/>
                    </a:lnTo>
                    <a:lnTo>
                      <a:pt x="6945850" y="246395"/>
                    </a:lnTo>
                    <a:lnTo>
                      <a:pt x="6949440" y="228600"/>
                    </a:lnTo>
                    <a:lnTo>
                      <a:pt x="6949440" y="45720"/>
                    </a:lnTo>
                    <a:lnTo>
                      <a:pt x="6945850" y="27924"/>
                    </a:lnTo>
                    <a:lnTo>
                      <a:pt x="6936057" y="13392"/>
                    </a:lnTo>
                    <a:lnTo>
                      <a:pt x="6921525" y="3593"/>
                    </a:lnTo>
                    <a:lnTo>
                      <a:pt x="6903720" y="0"/>
                    </a:lnTo>
                    <a:close/>
                  </a:path>
                </a:pathLst>
              </a:custGeom>
              <a:solidFill>
                <a:srgbClr val="052C66"/>
              </a:solidFill>
            </p:spPr>
            <p:txBody>
              <a:bodyPr wrap="square" lIns="0" tIns="0" rIns="0" bIns="0" rtlCol="0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9pPr>
              </a:lstStyle>
              <a:p>
                <a:pPr algn="ctr"/>
                <a:r>
                  <a:rPr lang="zh-CN" altLang="en-US" sz="1600" b="1" dirty="0">
                    <a:solidFill>
                      <a:schemeClr val="bg1"/>
                    </a:solidFill>
                  </a:rPr>
                  <a:t>医学顾问</a:t>
                </a:r>
              </a:p>
            </p:txBody>
          </p:sp>
        </p:grpSp>
      </p:grpSp>
      <p:pic>
        <p:nvPicPr>
          <p:cNvPr id="19" name="图片 18" descr="穿着西装笔挺的男子&#10;&#10;描述已自动生成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569" y="2215661"/>
            <a:ext cx="1080000" cy="1620000"/>
          </a:xfrm>
          <a:prstGeom prst="ellipse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2" descr="院徽- 医院概况-首都医科大学附属北京安贞医院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070" y="3869519"/>
            <a:ext cx="951230" cy="862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051" y="4227824"/>
            <a:ext cx="1831975" cy="58674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541480" y="2183911"/>
            <a:ext cx="160655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p"/>
            </a:pPr>
            <a:r>
              <a:rPr lang="zh-CN" altLang="en-US" sz="1200">
                <a:sym typeface="+mn-ea"/>
              </a:rPr>
              <a:t>宋光远</a:t>
            </a:r>
            <a:r>
              <a:rPr lang="en-US" altLang="zh-CN" sz="1200">
                <a:sym typeface="+mn-ea"/>
              </a:rPr>
              <a:t> </a:t>
            </a:r>
            <a:r>
              <a:rPr lang="zh-CN" altLang="en-US" sz="1200">
                <a:sym typeface="+mn-ea"/>
              </a:rPr>
              <a:t>安贞医院</a:t>
            </a: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1200" dirty="0">
                <a:sym typeface="+mn-ea"/>
              </a:rPr>
              <a:t>心脏瓣膜病介入中心主任</a:t>
            </a: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1200" dirty="0">
                <a:sym typeface="+mn-ea"/>
              </a:rPr>
              <a:t>建立全国第一家瓣膜病介入诊疗中心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0414189" y="2221443"/>
            <a:ext cx="1606550" cy="2275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p"/>
            </a:pPr>
            <a:r>
              <a:rPr lang="zh-CN" altLang="en-US" sz="1200" dirty="0">
                <a:sym typeface="+mn-ea"/>
              </a:rPr>
              <a:t>胡佳</a:t>
            </a:r>
            <a:r>
              <a:rPr sz="1200" dirty="0">
                <a:sym typeface="+mn-ea"/>
              </a:rPr>
              <a:t> </a:t>
            </a:r>
            <a:r>
              <a:rPr lang="zh-CN" altLang="en-US" sz="1200" dirty="0">
                <a:sym typeface="+mn-ea"/>
              </a:rPr>
              <a:t>华西医院</a:t>
            </a:r>
            <a:endParaRPr sz="1200" dirty="0">
              <a:sym typeface="+mn-ea"/>
            </a:endParaRP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1200" dirty="0">
                <a:sym typeface="+mn-ea"/>
              </a:rPr>
              <a:t>心脏大血管血管外科，副主任医师</a:t>
            </a: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1200" dirty="0">
                <a:sym typeface="+mn-ea"/>
              </a:rPr>
              <a:t>以结构性心脏病和冠心病介入治疗作为主要专业方向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7613563" y="2183911"/>
            <a:ext cx="1606550" cy="31066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p"/>
            </a:pPr>
            <a:r>
              <a:rPr lang="zh-CN" altLang="en-US" sz="1200" dirty="0">
                <a:sym typeface="+mn-ea"/>
              </a:rPr>
              <a:t>吴永健 阜外医院</a:t>
            </a: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1200" dirty="0"/>
              <a:t>结构性心脏病中心</a:t>
            </a:r>
            <a:r>
              <a:rPr lang="zh-CN" altLang="en-US" sz="1200" dirty="0">
                <a:sym typeface="+mn-ea"/>
              </a:rPr>
              <a:t>主任</a:t>
            </a: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1200" dirty="0"/>
              <a:t>中华医学会心血管病分会冠脉介入学组成员，中国医师协会心血管病分会委员，中国医师协会心脏重症专家委员会副主任委员</a:t>
            </a:r>
            <a:endParaRPr lang="zh-CN" altLang="en-US" sz="1200" dirty="0"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614563" y="2235214"/>
            <a:ext cx="1606550" cy="31066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p"/>
            </a:pPr>
            <a:r>
              <a:rPr lang="zh-CN" altLang="en-US" sz="1200" dirty="0">
                <a:solidFill>
                  <a:schemeClr val="tx2"/>
                </a:solidFill>
                <a:sym typeface="+mn-ea"/>
              </a:rPr>
              <a:t>陆信武</a:t>
            </a:r>
            <a:r>
              <a:rPr lang="en-US" altLang="zh-CN" sz="1200" dirty="0">
                <a:solidFill>
                  <a:schemeClr val="tx2"/>
                </a:solidFill>
                <a:sym typeface="+mn-ea"/>
              </a:rPr>
              <a:t> </a:t>
            </a:r>
            <a:r>
              <a:rPr lang="zh-CN" altLang="en-US" sz="1200" dirty="0">
                <a:solidFill>
                  <a:schemeClr val="tx2"/>
                </a:solidFill>
                <a:sym typeface="+mn-ea"/>
              </a:rPr>
              <a:t>上海九院</a:t>
            </a: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1200" dirty="0">
                <a:solidFill>
                  <a:schemeClr val="tx2"/>
                </a:solidFill>
                <a:sym typeface="+mn-ea"/>
              </a:rPr>
              <a:t>血管外科，</a:t>
            </a:r>
            <a:r>
              <a:rPr lang="zh-CN" altLang="zh-CN" sz="1200" dirty="0">
                <a:solidFill>
                  <a:schemeClr val="tx2"/>
                </a:solidFill>
                <a:sym typeface="+mn-ea"/>
              </a:rPr>
              <a:t>主任</a:t>
            </a: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1200" b="0" i="0" dirty="0">
                <a:solidFill>
                  <a:schemeClr val="tx2"/>
                </a:solidFill>
                <a:effectLst/>
                <a:latin typeface="system-ui"/>
              </a:rPr>
              <a:t>中华医学会外科学分会血管外科学组委员，国际静脉联盟中国区常委，欧洲血管外科和腔内血管外科学会会员，美国血管外科协会会员</a:t>
            </a:r>
            <a:endParaRPr lang="zh-CN" altLang="en-US" sz="1200" dirty="0">
              <a:solidFill>
                <a:schemeClr val="tx2"/>
              </a:solidFill>
              <a:sym typeface="+mn-ea"/>
            </a:endParaRPr>
          </a:p>
        </p:txBody>
      </p:sp>
      <p:pic>
        <p:nvPicPr>
          <p:cNvPr id="37" name="图片 36" descr="穿着西装笔挺的男子与配字&#10;&#10;描述已自动生成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96"/>
          <a:stretch>
            <a:fillRect/>
          </a:stretch>
        </p:blipFill>
        <p:spPr>
          <a:xfrm>
            <a:off x="9281080" y="2215661"/>
            <a:ext cx="1124447" cy="1625645"/>
          </a:xfrm>
          <a:prstGeom prst="ellipse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8" name="图片 37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04" t="504" r="25785" b="-2353"/>
          <a:stretch>
            <a:fillRect/>
          </a:stretch>
        </p:blipFill>
        <p:spPr>
          <a:xfrm>
            <a:off x="9387411" y="3713636"/>
            <a:ext cx="946146" cy="128668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73" y="2271898"/>
            <a:ext cx="1165225" cy="171640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8FA5B88-7DCA-8BEC-771C-1E8D4D36A3A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15" y="4066019"/>
            <a:ext cx="687044" cy="6845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ED5C22F-790C-1A77-E45F-9FAFB53777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6208265" y="2319100"/>
            <a:ext cx="1237999" cy="170134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850657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09888-FF35-CC4F-604E-0504ACEEF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FB3F4DA7-7801-6C37-FB45-E2348216DCD9}"/>
              </a:ext>
            </a:extLst>
          </p:cNvPr>
          <p:cNvSpPr/>
          <p:nvPr/>
        </p:nvSpPr>
        <p:spPr>
          <a:xfrm>
            <a:off x="5280433" y="1635783"/>
            <a:ext cx="6670359" cy="1966514"/>
          </a:xfrm>
          <a:prstGeom prst="rect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D8E692-B730-5A41-7C18-3240705F832E}"/>
              </a:ext>
            </a:extLst>
          </p:cNvPr>
          <p:cNvSpPr/>
          <p:nvPr/>
        </p:nvSpPr>
        <p:spPr>
          <a:xfrm>
            <a:off x="150885" y="1908072"/>
            <a:ext cx="4798142" cy="1212927"/>
          </a:xfrm>
          <a:prstGeom prst="rect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BB2625-1B09-8836-1331-305D418305A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公司股权架构</a:t>
            </a:r>
            <a:endParaRPr lang="zh-CN" altLang="en-US" dirty="0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BA20147-B704-AACC-F21C-767AEB189505}"/>
              </a:ext>
            </a:extLst>
          </p:cNvPr>
          <p:cNvSpPr/>
          <p:nvPr/>
        </p:nvSpPr>
        <p:spPr>
          <a:xfrm>
            <a:off x="2962098" y="5323480"/>
            <a:ext cx="4636670" cy="819832"/>
          </a:xfrm>
          <a:prstGeom prst="rect">
            <a:avLst/>
          </a:prstGeom>
          <a:solidFill>
            <a:srgbClr val="9DC3E6"/>
          </a:solidFill>
          <a:ln>
            <a:solidFill>
              <a:srgbClr val="02A1D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深圳佰特微医疗科技有限公司</a:t>
            </a:r>
          </a:p>
        </p:txBody>
      </p:sp>
      <p:cxnSp>
        <p:nvCxnSpPr>
          <p:cNvPr id="104" name="肘形连接符 12">
            <a:extLst>
              <a:ext uri="{FF2B5EF4-FFF2-40B4-BE49-F238E27FC236}">
                <a16:creationId xmlns:a16="http://schemas.microsoft.com/office/drawing/2014/main" id="{5DAB43F5-8AFC-BE16-1019-F225B7C1AD6E}"/>
              </a:ext>
            </a:extLst>
          </p:cNvPr>
          <p:cNvCxnSpPr>
            <a:cxnSpLocks/>
            <a:stCxn id="22" idx="2"/>
            <a:endCxn id="92" idx="0"/>
          </p:cNvCxnSpPr>
          <p:nvPr/>
        </p:nvCxnSpPr>
        <p:spPr>
          <a:xfrm rot="16200000" flipH="1">
            <a:off x="2813954" y="2857000"/>
            <a:ext cx="2202481" cy="273047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6" name="矩形 705">
            <a:extLst>
              <a:ext uri="{FF2B5EF4-FFF2-40B4-BE49-F238E27FC236}">
                <a16:creationId xmlns:a16="http://schemas.microsoft.com/office/drawing/2014/main" id="{BFEED541-2EC6-C822-6DE1-FA7C65A6415B}"/>
              </a:ext>
            </a:extLst>
          </p:cNvPr>
          <p:cNvSpPr/>
          <p:nvPr/>
        </p:nvSpPr>
        <p:spPr>
          <a:xfrm>
            <a:off x="238000" y="2005779"/>
            <a:ext cx="1384320" cy="9747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800" kern="100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上海佰煜明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23.4620%)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250378-E7A0-35CB-24C4-1934AEE50C79}"/>
              </a:ext>
            </a:extLst>
          </p:cNvPr>
          <p:cNvSpPr/>
          <p:nvPr/>
        </p:nvSpPr>
        <p:spPr>
          <a:xfrm>
            <a:off x="1742582" y="1995949"/>
            <a:ext cx="1472562" cy="98828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800" kern="100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上海佰砺</a:t>
            </a:r>
            <a:endParaRPr lang="en-US" altLang="zh-CN" sz="1800" kern="100" dirty="0">
              <a:solidFill>
                <a:srgbClr val="000000"/>
              </a:solidFill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8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20.5293%)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2D6EC4-274E-4F84-DC37-89C14EFECA95}"/>
              </a:ext>
            </a:extLst>
          </p:cNvPr>
          <p:cNvSpPr/>
          <p:nvPr/>
        </p:nvSpPr>
        <p:spPr>
          <a:xfrm>
            <a:off x="3311605" y="1995948"/>
            <a:ext cx="1441282" cy="9882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800" kern="100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上海佰脉微</a:t>
            </a:r>
            <a:endParaRPr lang="en-US" altLang="zh-CN" sz="1800" kern="100" dirty="0">
              <a:solidFill>
                <a:srgbClr val="000000"/>
              </a:solidFill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8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4.8879%)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1B59D98-BDBB-D94D-4000-767C2ED9B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216" y="1796172"/>
            <a:ext cx="1463402" cy="3920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CF25B34-3F6B-D8B3-33D3-25DEBD0CB9D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944" y="2451030"/>
            <a:ext cx="1531171" cy="4026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AF4DA79-7D3B-02C7-8396-B32AB108F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236" y="1731010"/>
            <a:ext cx="1544311" cy="4572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962D0CC-EC8A-A1E3-4CE0-DB98A6503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7173" y="1770083"/>
            <a:ext cx="1596599" cy="3394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4599A85-A8A9-1D0F-FC44-9AB2E121C1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999" y="2451030"/>
            <a:ext cx="1322399" cy="435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18C88B8-61FF-D049-C281-A37BD32982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6613" y="3106894"/>
            <a:ext cx="1925186" cy="26354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8ED5E4D-25DB-F9CE-821D-61B978FFB5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24" y="2357443"/>
            <a:ext cx="784505" cy="57084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786D891-0647-AF1C-147D-E284FABE7056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17" r="-1061" b="26118"/>
          <a:stretch/>
        </p:blipFill>
        <p:spPr>
          <a:xfrm>
            <a:off x="7402977" y="2383106"/>
            <a:ext cx="1271705" cy="57084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B7B8182-7499-2B71-8AD6-84A441219FD8}"/>
              </a:ext>
            </a:extLst>
          </p:cNvPr>
          <p:cNvSpPr txBox="1"/>
          <p:nvPr/>
        </p:nvSpPr>
        <p:spPr>
          <a:xfrm>
            <a:off x="10746790" y="2004879"/>
            <a:ext cx="1217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chemeClr val="accent3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馨瑞投资</a:t>
            </a:r>
            <a:endParaRPr lang="zh-CN" altLang="en-US" sz="2000" b="1" dirty="0">
              <a:solidFill>
                <a:schemeClr val="accent3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D291D76-FF9D-313D-6366-744BA0F278F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872" y="3085433"/>
            <a:ext cx="1297073" cy="41143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55474C1-7A0F-3800-C2AE-C6CA96F654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31202" y="3046758"/>
            <a:ext cx="1713778" cy="488789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8DF641E-5537-4DE9-BF68-E7FE38571CA6}"/>
              </a:ext>
            </a:extLst>
          </p:cNvPr>
          <p:cNvSpPr txBox="1"/>
          <p:nvPr/>
        </p:nvSpPr>
        <p:spPr>
          <a:xfrm>
            <a:off x="890321" y="3502636"/>
            <a:ext cx="1335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(48.8792%)</a:t>
            </a:r>
            <a:endParaRPr lang="zh-CN" altLang="en-US" dirty="0"/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4725465C-94EB-7122-DCC7-5334A624CDD1}"/>
              </a:ext>
            </a:extLst>
          </p:cNvPr>
          <p:cNvCxnSpPr>
            <a:cxnSpLocks/>
            <a:stCxn id="26" idx="2"/>
            <a:endCxn id="92" idx="0"/>
          </p:cNvCxnSpPr>
          <p:nvPr/>
        </p:nvCxnSpPr>
        <p:spPr>
          <a:xfrm rot="5400000">
            <a:off x="6087432" y="2795298"/>
            <a:ext cx="1721183" cy="3335180"/>
          </a:xfrm>
          <a:prstGeom prst="bentConnector3">
            <a:avLst>
              <a:gd name="adj1" fmla="val 357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AD093464-D77B-A512-EC6E-25CDBD37BF87}"/>
              </a:ext>
            </a:extLst>
          </p:cNvPr>
          <p:cNvSpPr txBox="1"/>
          <p:nvPr/>
        </p:nvSpPr>
        <p:spPr>
          <a:xfrm>
            <a:off x="1041868" y="3166215"/>
            <a:ext cx="1070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公司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SPV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11E270E-670F-4D5E-F50F-EE0DF938F143}"/>
              </a:ext>
            </a:extLst>
          </p:cNvPr>
          <p:cNvSpPr txBox="1"/>
          <p:nvPr/>
        </p:nvSpPr>
        <p:spPr>
          <a:xfrm>
            <a:off x="8895491" y="3660361"/>
            <a:ext cx="1602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投资机构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51.1208%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5958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6288405" y="2198370"/>
            <a:ext cx="2014855" cy="2154555"/>
            <a:chOff x="9903" y="3462"/>
            <a:chExt cx="3173" cy="3393"/>
          </a:xfrm>
        </p:grpSpPr>
        <p:grpSp>
          <p:nvGrpSpPr>
            <p:cNvPr id="12" name="组合 11"/>
            <p:cNvGrpSpPr/>
            <p:nvPr/>
          </p:nvGrpSpPr>
          <p:grpSpPr>
            <a:xfrm>
              <a:off x="10192" y="3462"/>
              <a:ext cx="2596" cy="2596"/>
              <a:chOff x="10164" y="3462"/>
              <a:chExt cx="2596" cy="2596"/>
            </a:xfrm>
          </p:grpSpPr>
          <p:sp>
            <p:nvSpPr>
              <p:cNvPr id="16" name="path"/>
              <p:cNvSpPr/>
              <p:nvPr/>
            </p:nvSpPr>
            <p:spPr>
              <a:xfrm>
                <a:off x="10164" y="3462"/>
                <a:ext cx="2597" cy="2597"/>
              </a:xfrm>
              <a:custGeom>
                <a:avLst/>
                <a:gdLst/>
                <a:ahLst/>
                <a:cxnLst/>
                <a:rect l="0" t="0" r="0" b="0"/>
                <a:pathLst>
                  <a:path w="2596" h="2596">
                    <a:moveTo>
                      <a:pt x="22" y="1298"/>
                    </a:moveTo>
                    <a:cubicBezTo>
                      <a:pt x="22" y="594"/>
                      <a:pt x="594" y="22"/>
                      <a:pt x="1298" y="22"/>
                    </a:cubicBezTo>
                    <a:cubicBezTo>
                      <a:pt x="2002" y="22"/>
                      <a:pt x="2574" y="594"/>
                      <a:pt x="2574" y="1298"/>
                    </a:cubicBezTo>
                    <a:cubicBezTo>
                      <a:pt x="2574" y="2002"/>
                      <a:pt x="2002" y="2574"/>
                      <a:pt x="1298" y="2574"/>
                    </a:cubicBezTo>
                    <a:cubicBezTo>
                      <a:pt x="594" y="2574"/>
                      <a:pt x="22" y="2002"/>
                      <a:pt x="22" y="1298"/>
                    </a:cubicBezTo>
                  </a:path>
                </a:pathLst>
              </a:custGeom>
              <a:noFill/>
              <a:ln w="28955" cap="flat">
                <a:solidFill>
                  <a:srgbClr val="595959">
                    <a:alpha val="100000"/>
                  </a:srgbClr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pic>
            <p:nvPicPr>
              <p:cNvPr id="19" name="picture 19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600000">
                <a:off x="10540" y="3820"/>
                <a:ext cx="1871" cy="1872"/>
              </a:xfrm>
              <a:prstGeom prst="rect">
                <a:avLst/>
              </a:prstGeom>
            </p:spPr>
          </p:pic>
        </p:grpSp>
        <p:sp>
          <p:nvSpPr>
            <p:cNvPr id="9" name="文本框 8"/>
            <p:cNvSpPr txBox="1"/>
            <p:nvPr/>
          </p:nvSpPr>
          <p:spPr>
            <a:xfrm>
              <a:off x="9903" y="6288"/>
              <a:ext cx="3173" cy="5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12700" algn="ctr" rtl="0" eaLnBrk="0">
                <a:lnSpc>
                  <a:spcPct val="97000"/>
                </a:lnSpc>
              </a:pPr>
              <a:r>
                <a:rPr lang="zh-CN" altLang="en-US" sz="1800" b="1" spc="50" dirty="0">
                  <a:solidFill>
                    <a:schemeClr val="bg1">
                      <a:lumMod val="50000"/>
                      <a:alpha val="100000"/>
                    </a:schemeClr>
                  </a:solidFill>
                  <a:cs typeface="微软雅黑" panose="020B0503020204020204" pitchFamily="34" charset="-122"/>
                  <a:sym typeface="+mn-ea"/>
                </a:rPr>
                <a:t>公司及团队介绍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566228" y="3992880"/>
            <a:ext cx="2014855" cy="36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12700" algn="ctr" rtl="0" eaLnBrk="0">
              <a:lnSpc>
                <a:spcPct val="97000"/>
              </a:lnSpc>
            </a:pPr>
            <a:r>
              <a:rPr lang="zh-CN" altLang="en-US" b="1" spc="50" dirty="0">
                <a:solidFill>
                  <a:schemeClr val="bg1">
                    <a:lumMod val="50000"/>
                    <a:alpha val="100000"/>
                  </a:schemeClr>
                </a:solidFill>
                <a:cs typeface="微软雅黑" panose="020B0503020204020204" pitchFamily="34" charset="-122"/>
                <a:sym typeface="+mn-ea"/>
              </a:rPr>
              <a:t>公司概况</a:t>
            </a:r>
            <a:endParaRPr lang="zh-CN" altLang="en-US" sz="1800" b="1" spc="50" dirty="0">
              <a:solidFill>
                <a:schemeClr val="bg1">
                  <a:lumMod val="50000"/>
                  <a:alpha val="100000"/>
                </a:schemeClr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path"/>
          <p:cNvSpPr/>
          <p:nvPr/>
        </p:nvSpPr>
        <p:spPr>
          <a:xfrm>
            <a:off x="1749108" y="2198370"/>
            <a:ext cx="1649095" cy="1649095"/>
          </a:xfrm>
          <a:custGeom>
            <a:avLst/>
            <a:gdLst/>
            <a:ahLst/>
            <a:cxnLst/>
            <a:rect l="0" t="0" r="0" b="0"/>
            <a:pathLst>
              <a:path w="2596" h="2596">
                <a:moveTo>
                  <a:pt x="22" y="1298"/>
                </a:moveTo>
                <a:cubicBezTo>
                  <a:pt x="22" y="594"/>
                  <a:pt x="593" y="22"/>
                  <a:pt x="1298" y="22"/>
                </a:cubicBezTo>
                <a:cubicBezTo>
                  <a:pt x="2002" y="22"/>
                  <a:pt x="2573" y="594"/>
                  <a:pt x="2573" y="1298"/>
                </a:cubicBezTo>
                <a:cubicBezTo>
                  <a:pt x="2573" y="2002"/>
                  <a:pt x="2002" y="2574"/>
                  <a:pt x="1298" y="2574"/>
                </a:cubicBezTo>
                <a:cubicBezTo>
                  <a:pt x="593" y="2574"/>
                  <a:pt x="22" y="2002"/>
                  <a:pt x="22" y="1298"/>
                </a:cubicBezTo>
              </a:path>
            </a:pathLst>
          </a:custGeom>
          <a:noFill/>
          <a:ln w="28955" cap="flat">
            <a:solidFill>
              <a:srgbClr val="595959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picture 2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660" y="2572385"/>
            <a:ext cx="935990" cy="900430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3927475" y="2195195"/>
            <a:ext cx="2014855" cy="2157730"/>
            <a:chOff x="6185" y="3457"/>
            <a:chExt cx="3173" cy="3398"/>
          </a:xfrm>
        </p:grpSpPr>
        <p:pic>
          <p:nvPicPr>
            <p:cNvPr id="27" name="picture 1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600000">
              <a:off x="6473" y="3457"/>
              <a:ext cx="2597" cy="2597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6185" y="6288"/>
              <a:ext cx="3173" cy="5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12700" algn="ctr" rtl="0" eaLnBrk="0">
                <a:lnSpc>
                  <a:spcPct val="97000"/>
                </a:lnSpc>
              </a:pPr>
              <a:r>
                <a:rPr lang="zh-CN" altLang="en-US" sz="1800" b="1" spc="50" dirty="0">
                  <a:solidFill>
                    <a:schemeClr val="bg1">
                      <a:lumMod val="50000"/>
                      <a:alpha val="100000"/>
                    </a:schemeClr>
                  </a:solidFill>
                  <a:cs typeface="微软雅黑" panose="020B0503020204020204" pitchFamily="34" charset="-122"/>
                  <a:sym typeface="+mn-ea"/>
                </a:rPr>
                <a:t>行业市场与产品</a:t>
              </a:r>
            </a:p>
          </p:txBody>
        </p:sp>
      </p:grpSp>
      <p:sp>
        <p:nvSpPr>
          <p:cNvPr id="5" name="path"/>
          <p:cNvSpPr/>
          <p:nvPr/>
        </p:nvSpPr>
        <p:spPr>
          <a:xfrm>
            <a:off x="8849995" y="2179320"/>
            <a:ext cx="1649095" cy="1649095"/>
          </a:xfrm>
          <a:custGeom>
            <a:avLst/>
            <a:gdLst/>
            <a:ahLst/>
            <a:cxnLst/>
            <a:rect l="0" t="0" r="0" b="0"/>
            <a:pathLst>
              <a:path w="2596" h="2596">
                <a:moveTo>
                  <a:pt x="22" y="1298"/>
                </a:moveTo>
                <a:cubicBezTo>
                  <a:pt x="22" y="594"/>
                  <a:pt x="593" y="22"/>
                  <a:pt x="1298" y="22"/>
                </a:cubicBezTo>
                <a:cubicBezTo>
                  <a:pt x="2002" y="22"/>
                  <a:pt x="2573" y="594"/>
                  <a:pt x="2573" y="1298"/>
                </a:cubicBezTo>
                <a:cubicBezTo>
                  <a:pt x="2573" y="2002"/>
                  <a:pt x="2002" y="2574"/>
                  <a:pt x="1298" y="2574"/>
                </a:cubicBezTo>
                <a:cubicBezTo>
                  <a:pt x="593" y="2574"/>
                  <a:pt x="22" y="2002"/>
                  <a:pt x="22" y="1298"/>
                </a:cubicBezTo>
              </a:path>
            </a:pathLst>
          </a:custGeom>
          <a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0" ty="0" sx="100000" sy="100000" flip="none" algn="tl"/>
          </a:blipFill>
          <a:ln w="28955" cap="flat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path"/>
          <p:cNvSpPr/>
          <p:nvPr/>
        </p:nvSpPr>
        <p:spPr>
          <a:xfrm>
            <a:off x="9187815" y="2553970"/>
            <a:ext cx="939800" cy="900430"/>
          </a:xfrm>
          <a:custGeom>
            <a:avLst/>
            <a:gdLst/>
            <a:ahLst/>
            <a:cxnLst/>
            <a:rect l="0" t="0" r="0" b="0"/>
            <a:pathLst>
              <a:path w="1479" h="1418">
                <a:moveTo>
                  <a:pt x="7" y="0"/>
                </a:moveTo>
                <a:lnTo>
                  <a:pt x="656" y="0"/>
                </a:lnTo>
                <a:lnTo>
                  <a:pt x="656" y="603"/>
                </a:lnTo>
                <a:lnTo>
                  <a:pt x="7" y="603"/>
                </a:lnTo>
                <a:lnTo>
                  <a:pt x="7" y="0"/>
                </a:lnTo>
                <a:close/>
                <a:moveTo>
                  <a:pt x="1479" y="299"/>
                </a:moveTo>
                <a:lnTo>
                  <a:pt x="1171" y="18"/>
                </a:lnTo>
                <a:lnTo>
                  <a:pt x="869" y="304"/>
                </a:lnTo>
                <a:lnTo>
                  <a:pt x="1177" y="585"/>
                </a:lnTo>
                <a:lnTo>
                  <a:pt x="1479" y="299"/>
                </a:lnTo>
                <a:close/>
                <a:moveTo>
                  <a:pt x="0" y="815"/>
                </a:moveTo>
                <a:lnTo>
                  <a:pt x="649" y="815"/>
                </a:lnTo>
                <a:lnTo>
                  <a:pt x="649" y="1418"/>
                </a:lnTo>
                <a:lnTo>
                  <a:pt x="0" y="1418"/>
                </a:lnTo>
                <a:lnTo>
                  <a:pt x="0" y="815"/>
                </a:lnTo>
                <a:close/>
                <a:moveTo>
                  <a:pt x="826" y="815"/>
                </a:moveTo>
                <a:lnTo>
                  <a:pt x="1475" y="815"/>
                </a:lnTo>
                <a:lnTo>
                  <a:pt x="1475" y="1418"/>
                </a:lnTo>
                <a:lnTo>
                  <a:pt x="826" y="1418"/>
                </a:lnTo>
                <a:lnTo>
                  <a:pt x="826" y="815"/>
                </a:ln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49335" y="3977640"/>
            <a:ext cx="2014855" cy="36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12700" algn="ctr" rtl="0" eaLnBrk="0">
              <a:lnSpc>
                <a:spcPct val="97000"/>
              </a:lnSpc>
            </a:pPr>
            <a:r>
              <a:rPr lang="zh-CN" altLang="en-US" sz="1800" b="1" spc="50" dirty="0">
                <a:solidFill>
                  <a:srgbClr val="0070C0">
                    <a:alpha val="100000"/>
                  </a:srgbClr>
                </a:solidFill>
                <a:cs typeface="微软雅黑" panose="020B0503020204020204" pitchFamily="34" charset="-122"/>
                <a:sym typeface="+mn-ea"/>
              </a:rPr>
              <a:t>市场及财务预测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内容占位符 2867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财务及销售计划</a:t>
            </a: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C7E9F2F9-87BE-D471-06E8-46D1C6775A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9360805"/>
              </p:ext>
            </p:extLst>
          </p:nvPr>
        </p:nvGraphicFramePr>
        <p:xfrm>
          <a:off x="914400" y="1048240"/>
          <a:ext cx="9725333" cy="5490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132709" y="3546538"/>
            <a:ext cx="5973410" cy="475661"/>
          </a:xfrm>
          <a:prstGeom prst="rect">
            <a:avLst/>
          </a:prstGeom>
        </p:spPr>
        <p:txBody>
          <a:bodyPr vert="horz" wrap="square" lIns="0" tIns="54501" rIns="0" bIns="0" rtlCol="0">
            <a:spAutoFit/>
          </a:bodyPr>
          <a:lstStyle/>
          <a:p>
            <a:pPr marL="174625" indent="-142875">
              <a:spcBef>
                <a:spcPts val="430"/>
              </a:spcBef>
              <a:buClr>
                <a:srgbClr val="0070C0"/>
              </a:buClr>
              <a:buFont typeface="Wingdings" panose="05000000000000000000"/>
              <a:buChar char=""/>
              <a:tabLst>
                <a:tab pos="173990" algn="l"/>
              </a:tabLst>
            </a:pPr>
            <a:r>
              <a:rPr sz="1200" b="1" spc="62" dirty="0">
                <a:solidFill>
                  <a:srgbClr val="404040"/>
                </a:solidFill>
                <a:cs typeface="Microsoft JhengHei UI" panose="020B0604030504040204" charset="-120"/>
              </a:rPr>
              <a:t>总面积</a:t>
            </a:r>
            <a:r>
              <a:rPr lang="en-US" sz="1200" b="1" spc="-17" dirty="0">
                <a:solidFill>
                  <a:srgbClr val="0070C0"/>
                </a:solidFill>
                <a:cs typeface="Arial" panose="020B0604020202020204"/>
              </a:rPr>
              <a:t>3400</a:t>
            </a:r>
            <a:r>
              <a:rPr sz="1200" b="1" spc="-17" dirty="0">
                <a:solidFill>
                  <a:srgbClr val="404040"/>
                </a:solidFill>
                <a:cs typeface="Arial" panose="020B0604020202020204"/>
              </a:rPr>
              <a:t>m²</a:t>
            </a:r>
            <a:r>
              <a:rPr lang="zh-CN" altLang="en-US" sz="1200" b="1" spc="-17" dirty="0">
                <a:solidFill>
                  <a:srgbClr val="404040"/>
                </a:solidFill>
                <a:cs typeface="Arial" panose="020B0604020202020204"/>
              </a:rPr>
              <a:t>，其中</a:t>
            </a:r>
            <a:r>
              <a:rPr lang="en-US" altLang="zh-CN" sz="1200" b="1" spc="-17" dirty="0">
                <a:solidFill>
                  <a:srgbClr val="404040"/>
                </a:solidFill>
                <a:cs typeface="Arial" panose="020B0604020202020204"/>
              </a:rPr>
              <a:t>GMP</a:t>
            </a:r>
            <a:r>
              <a:rPr lang="zh-CN" altLang="en-US" sz="1200" b="1" spc="-17" dirty="0">
                <a:solidFill>
                  <a:srgbClr val="404040"/>
                </a:solidFill>
                <a:cs typeface="Arial" panose="020B0604020202020204"/>
              </a:rPr>
              <a:t>生产区面积约</a:t>
            </a:r>
            <a:r>
              <a:rPr lang="en-US" altLang="zh-CN" sz="1200" b="1" spc="-17" dirty="0">
                <a:solidFill>
                  <a:srgbClr val="0070C0"/>
                </a:solidFill>
                <a:cs typeface="Arial" panose="020B0604020202020204"/>
              </a:rPr>
              <a:t>1,200</a:t>
            </a:r>
            <a:r>
              <a:rPr lang="en-US" altLang="zh-CN" sz="1200" b="1" spc="-17" dirty="0">
                <a:solidFill>
                  <a:srgbClr val="404040"/>
                </a:solidFill>
                <a:cs typeface="Arial" panose="020B0604020202020204"/>
              </a:rPr>
              <a:t>m²</a:t>
            </a:r>
            <a:r>
              <a:rPr lang="zh-CN" altLang="en-US" sz="1200" b="1" spc="-17" dirty="0">
                <a:solidFill>
                  <a:srgbClr val="404040"/>
                </a:solidFill>
                <a:cs typeface="Arial" panose="020B0604020202020204"/>
              </a:rPr>
              <a:t>，非</a:t>
            </a:r>
            <a:r>
              <a:rPr lang="en-US" altLang="zh-CN" sz="1200" b="1" spc="-17" dirty="0">
                <a:solidFill>
                  <a:srgbClr val="404040"/>
                </a:solidFill>
                <a:cs typeface="Arial" panose="020B0604020202020204"/>
              </a:rPr>
              <a:t>GMP</a:t>
            </a:r>
            <a:r>
              <a:rPr lang="zh-CN" altLang="en-US" sz="1200" b="1" spc="-17" dirty="0">
                <a:solidFill>
                  <a:srgbClr val="404040"/>
                </a:solidFill>
                <a:cs typeface="Arial" panose="020B0604020202020204"/>
              </a:rPr>
              <a:t>生产区域约</a:t>
            </a:r>
            <a:r>
              <a:rPr lang="en-US" altLang="zh-CN" sz="1200" b="1" spc="-17" dirty="0">
                <a:solidFill>
                  <a:srgbClr val="0070C0"/>
                </a:solidFill>
                <a:cs typeface="Arial" panose="020B0604020202020204"/>
              </a:rPr>
              <a:t>1,500</a:t>
            </a:r>
            <a:r>
              <a:rPr lang="en-US" altLang="zh-CN" sz="1200" b="1" spc="-17" dirty="0">
                <a:solidFill>
                  <a:srgbClr val="404040"/>
                </a:solidFill>
                <a:cs typeface="Arial" panose="020B0604020202020204"/>
              </a:rPr>
              <a:t>m²</a:t>
            </a:r>
            <a:endParaRPr sz="1200" dirty="0">
              <a:cs typeface="Arial" panose="020B0604020202020204"/>
            </a:endParaRPr>
          </a:p>
          <a:p>
            <a:pPr marL="174625" indent="-142875">
              <a:spcBef>
                <a:spcPts val="350"/>
              </a:spcBef>
              <a:buClr>
                <a:srgbClr val="0070C0"/>
              </a:buClr>
              <a:buFont typeface="Wingdings" panose="05000000000000000000"/>
              <a:buChar char=""/>
              <a:tabLst>
                <a:tab pos="173990" algn="l"/>
              </a:tabLst>
            </a:pPr>
            <a:r>
              <a:rPr sz="1200" b="1" spc="62" dirty="0">
                <a:solidFill>
                  <a:srgbClr val="404040"/>
                </a:solidFill>
                <a:cs typeface="Microsoft JhengHei UI" panose="020B0604030504040204" charset="-120"/>
              </a:rPr>
              <a:t>年</a:t>
            </a:r>
            <a:r>
              <a:rPr lang="zh-CN" altLang="en-US" sz="1200" b="1" spc="62" dirty="0">
                <a:solidFill>
                  <a:srgbClr val="404040"/>
                </a:solidFill>
                <a:cs typeface="Microsoft JhengHei UI" panose="020B0604030504040204" charset="-120"/>
              </a:rPr>
              <a:t>产能</a:t>
            </a:r>
            <a:r>
              <a:rPr lang="en-US" altLang="zh-CN" sz="1200" b="1" spc="62" dirty="0">
                <a:solidFill>
                  <a:srgbClr val="404040"/>
                </a:solidFill>
                <a:cs typeface="Microsoft JhengHei UI" panose="020B0604030504040204" charset="-120"/>
              </a:rPr>
              <a:t>2W</a:t>
            </a:r>
            <a:r>
              <a:rPr lang="zh-CN" altLang="en-US" sz="1200" b="1" spc="62" dirty="0">
                <a:solidFill>
                  <a:srgbClr val="404040"/>
                </a:solidFill>
                <a:cs typeface="Microsoft JhengHei UI" panose="020B0604030504040204" charset="-120"/>
              </a:rPr>
              <a:t>件左右。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12925" y="3082660"/>
            <a:ext cx="1489604" cy="228802"/>
          </a:xfrm>
          <a:prstGeom prst="rect">
            <a:avLst/>
          </a:prstGeom>
        </p:spPr>
        <p:txBody>
          <a:bodyPr vert="horz" wrap="square" lIns="0" tIns="13229" rIns="0" bIns="0" rtlCol="0">
            <a:spAutoFit/>
          </a:bodyPr>
          <a:lstStyle/>
          <a:p>
            <a:pPr marL="10795" algn="ctr">
              <a:spcBef>
                <a:spcPts val="105"/>
              </a:spcBef>
            </a:pPr>
            <a:r>
              <a:rPr lang="zh-CN" altLang="en-US" sz="1400" b="1" spc="-42" dirty="0">
                <a:solidFill>
                  <a:srgbClr val="064A89"/>
                </a:solidFill>
                <a:cs typeface="Microsoft JhengHei UI" panose="020B0604030504040204" charset="-120"/>
              </a:rPr>
              <a:t>现有</a:t>
            </a:r>
            <a:r>
              <a:rPr lang="en-US" altLang="zh-CN" sz="1400" b="1" spc="-42" dirty="0">
                <a:solidFill>
                  <a:srgbClr val="064A89"/>
                </a:solidFill>
                <a:cs typeface="Microsoft JhengHei UI" panose="020B0604030504040204" charset="-120"/>
              </a:rPr>
              <a:t>GMP</a:t>
            </a:r>
            <a:r>
              <a:rPr lang="zh-CN" altLang="en-US" sz="1400" b="1" spc="-42" dirty="0">
                <a:solidFill>
                  <a:srgbClr val="064A89"/>
                </a:solidFill>
                <a:cs typeface="Microsoft JhengHei UI" panose="020B0604030504040204" charset="-120"/>
              </a:rPr>
              <a:t>车间</a:t>
            </a:r>
            <a:endParaRPr sz="1400" dirty="0">
              <a:cs typeface="Microsoft JhengHei UI" panose="020B0604030504040204" charset="-12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5156" y="4294985"/>
            <a:ext cx="10920412" cy="0"/>
          </a:xfrm>
          <a:custGeom>
            <a:avLst/>
            <a:gdLst/>
            <a:ahLst/>
            <a:cxnLst/>
            <a:rect l="l" t="t" r="r" b="b"/>
            <a:pathLst>
              <a:path w="13104494">
                <a:moveTo>
                  <a:pt x="0" y="0"/>
                </a:moveTo>
                <a:lnTo>
                  <a:pt x="13103999" y="0"/>
                </a:lnTo>
              </a:path>
            </a:pathLst>
          </a:custGeom>
          <a:ln w="9525">
            <a:solidFill>
              <a:srgbClr val="15499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1515" y="1266190"/>
            <a:ext cx="373380" cy="2929255"/>
          </a:xfrm>
          <a:custGeom>
            <a:avLst/>
            <a:gdLst/>
            <a:ahLst/>
            <a:cxnLst/>
            <a:rect l="l" t="t" r="r" b="b"/>
            <a:pathLst>
              <a:path w="447675" h="3105150">
                <a:moveTo>
                  <a:pt x="373062" y="0"/>
                </a:moveTo>
                <a:lnTo>
                  <a:pt x="74612" y="0"/>
                </a:lnTo>
                <a:lnTo>
                  <a:pt x="45568" y="5862"/>
                </a:lnTo>
                <a:lnTo>
                  <a:pt x="21851" y="21851"/>
                </a:lnTo>
                <a:lnTo>
                  <a:pt x="5862" y="45568"/>
                </a:lnTo>
                <a:lnTo>
                  <a:pt x="0" y="74612"/>
                </a:lnTo>
                <a:lnTo>
                  <a:pt x="0" y="3030537"/>
                </a:lnTo>
                <a:lnTo>
                  <a:pt x="5862" y="3059581"/>
                </a:lnTo>
                <a:lnTo>
                  <a:pt x="21851" y="3083298"/>
                </a:lnTo>
                <a:lnTo>
                  <a:pt x="45568" y="3099287"/>
                </a:lnTo>
                <a:lnTo>
                  <a:pt x="74612" y="3105150"/>
                </a:lnTo>
                <a:lnTo>
                  <a:pt x="373062" y="3105150"/>
                </a:lnTo>
                <a:lnTo>
                  <a:pt x="402106" y="3099287"/>
                </a:lnTo>
                <a:lnTo>
                  <a:pt x="425823" y="3083298"/>
                </a:lnTo>
                <a:lnTo>
                  <a:pt x="441812" y="3059581"/>
                </a:lnTo>
                <a:lnTo>
                  <a:pt x="447675" y="3030537"/>
                </a:lnTo>
                <a:lnTo>
                  <a:pt x="447675" y="74612"/>
                </a:lnTo>
                <a:lnTo>
                  <a:pt x="441812" y="45568"/>
                </a:lnTo>
                <a:lnTo>
                  <a:pt x="425823" y="21851"/>
                </a:lnTo>
                <a:lnTo>
                  <a:pt x="402106" y="5862"/>
                </a:lnTo>
                <a:lnTo>
                  <a:pt x="373062" y="0"/>
                </a:lnTo>
                <a:close/>
              </a:path>
            </a:pathLst>
          </a:custGeom>
          <a:solidFill>
            <a:srgbClr val="1549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4261" y="1822450"/>
            <a:ext cx="149860" cy="1926677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10795">
              <a:lnSpc>
                <a:spcPct val="65000"/>
              </a:lnSpc>
            </a:pPr>
            <a:r>
              <a:rPr sz="1500" b="1" dirty="0">
                <a:solidFill>
                  <a:srgbClr val="FFFFFF"/>
                </a:solidFill>
                <a:cs typeface="Microsoft JhengHei UI" panose="020B0604030504040204" charset="-120"/>
              </a:rPr>
              <a:t>生</a:t>
            </a:r>
            <a:r>
              <a:rPr sz="1500" b="1" spc="121" dirty="0">
                <a:solidFill>
                  <a:srgbClr val="FFFFFF"/>
                </a:solidFill>
                <a:cs typeface="Microsoft JhengHei UI" panose="020B0604030504040204" charset="-120"/>
              </a:rPr>
              <a:t> </a:t>
            </a:r>
            <a:r>
              <a:rPr sz="1500" b="1" dirty="0">
                <a:solidFill>
                  <a:srgbClr val="FFFFFF"/>
                </a:solidFill>
                <a:cs typeface="Microsoft JhengHei UI" panose="020B0604030504040204" charset="-120"/>
              </a:rPr>
              <a:t>产</a:t>
            </a:r>
            <a:r>
              <a:rPr sz="1500" b="1" spc="125" dirty="0">
                <a:solidFill>
                  <a:srgbClr val="FFFFFF"/>
                </a:solidFill>
                <a:cs typeface="Microsoft JhengHei UI" panose="020B0604030504040204" charset="-120"/>
              </a:rPr>
              <a:t> </a:t>
            </a:r>
            <a:r>
              <a:rPr sz="1500" b="1" dirty="0">
                <a:solidFill>
                  <a:srgbClr val="FFFFFF"/>
                </a:solidFill>
                <a:cs typeface="Microsoft JhengHei UI" panose="020B0604030504040204" charset="-120"/>
              </a:rPr>
              <a:t>基</a:t>
            </a:r>
            <a:r>
              <a:rPr sz="1500" b="1" spc="58" dirty="0">
                <a:solidFill>
                  <a:srgbClr val="FFFFFF"/>
                </a:solidFill>
                <a:cs typeface="Microsoft JhengHei UI" panose="020B0604030504040204" charset="-120"/>
              </a:rPr>
              <a:t> </a:t>
            </a:r>
            <a:r>
              <a:rPr sz="1500" b="1" dirty="0">
                <a:solidFill>
                  <a:srgbClr val="FFFFFF"/>
                </a:solidFill>
                <a:cs typeface="Microsoft JhengHei UI" panose="020B0604030504040204" charset="-120"/>
              </a:rPr>
              <a:t>地</a:t>
            </a:r>
            <a:r>
              <a:rPr sz="1500" b="1" spc="62" dirty="0">
                <a:solidFill>
                  <a:srgbClr val="FFFFFF"/>
                </a:solidFill>
                <a:cs typeface="Microsoft JhengHei UI" panose="020B0604030504040204" charset="-120"/>
              </a:rPr>
              <a:t> </a:t>
            </a:r>
            <a:r>
              <a:rPr sz="1500" b="1" dirty="0">
                <a:solidFill>
                  <a:srgbClr val="FFFFFF"/>
                </a:solidFill>
                <a:cs typeface="Microsoft JhengHei UI" panose="020B0604030504040204" charset="-120"/>
              </a:rPr>
              <a:t>及 产</a:t>
            </a:r>
            <a:r>
              <a:rPr sz="1500" b="1" spc="62" dirty="0">
                <a:solidFill>
                  <a:srgbClr val="FFFFFF"/>
                </a:solidFill>
                <a:cs typeface="Microsoft JhengHei UI" panose="020B0604030504040204" charset="-120"/>
              </a:rPr>
              <a:t> </a:t>
            </a:r>
            <a:r>
              <a:rPr sz="1500" b="1" dirty="0">
                <a:solidFill>
                  <a:srgbClr val="FFFFFF"/>
                </a:solidFill>
                <a:cs typeface="Microsoft JhengHei UI" panose="020B0604030504040204" charset="-120"/>
              </a:rPr>
              <a:t>能</a:t>
            </a:r>
            <a:endParaRPr sz="1500" dirty="0">
              <a:cs typeface="Microsoft JhengHei UI" panose="020B0604030504040204" charset="-120"/>
            </a:endParaRPr>
          </a:p>
        </p:txBody>
      </p:sp>
      <p:pic>
        <p:nvPicPr>
          <p:cNvPr id="63" name="Picture 3"/>
          <p:cNvPicPr>
            <a:picLocks noChangeAspect="1" noChangeArrowheads="1"/>
          </p:cNvPicPr>
          <p:nvPr/>
        </p:nvPicPr>
        <p:blipFill>
          <a:blip r:embed="rId3" cstate="print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087" y="1254584"/>
            <a:ext cx="2663825" cy="168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3" name="内容占位符 2867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生产运营</a:t>
            </a:r>
          </a:p>
        </p:txBody>
      </p:sp>
      <p:sp>
        <p:nvSpPr>
          <p:cNvPr id="18" name="object 15"/>
          <p:cNvSpPr/>
          <p:nvPr/>
        </p:nvSpPr>
        <p:spPr>
          <a:xfrm>
            <a:off x="573405" y="4573905"/>
            <a:ext cx="373380" cy="1730375"/>
          </a:xfrm>
          <a:custGeom>
            <a:avLst/>
            <a:gdLst/>
            <a:ahLst/>
            <a:cxnLst/>
            <a:rect l="l" t="t" r="r" b="b"/>
            <a:pathLst>
              <a:path w="447675" h="1790700">
                <a:moveTo>
                  <a:pt x="373062" y="0"/>
                </a:moveTo>
                <a:lnTo>
                  <a:pt x="74612" y="0"/>
                </a:lnTo>
                <a:lnTo>
                  <a:pt x="45568" y="5862"/>
                </a:lnTo>
                <a:lnTo>
                  <a:pt x="21851" y="21851"/>
                </a:lnTo>
                <a:lnTo>
                  <a:pt x="5862" y="45568"/>
                </a:lnTo>
                <a:lnTo>
                  <a:pt x="0" y="74612"/>
                </a:lnTo>
                <a:lnTo>
                  <a:pt x="0" y="1716087"/>
                </a:lnTo>
                <a:lnTo>
                  <a:pt x="5862" y="1745126"/>
                </a:lnTo>
                <a:lnTo>
                  <a:pt x="21851" y="1768843"/>
                </a:lnTo>
                <a:lnTo>
                  <a:pt x="45568" y="1784835"/>
                </a:lnTo>
                <a:lnTo>
                  <a:pt x="74612" y="1790700"/>
                </a:lnTo>
                <a:lnTo>
                  <a:pt x="373062" y="1790700"/>
                </a:lnTo>
                <a:lnTo>
                  <a:pt x="402106" y="1784835"/>
                </a:lnTo>
                <a:lnTo>
                  <a:pt x="425823" y="1768843"/>
                </a:lnTo>
                <a:lnTo>
                  <a:pt x="441812" y="1745126"/>
                </a:lnTo>
                <a:lnTo>
                  <a:pt x="447675" y="1716087"/>
                </a:lnTo>
                <a:lnTo>
                  <a:pt x="447675" y="74612"/>
                </a:lnTo>
                <a:lnTo>
                  <a:pt x="441812" y="45568"/>
                </a:lnTo>
                <a:lnTo>
                  <a:pt x="425823" y="21851"/>
                </a:lnTo>
                <a:lnTo>
                  <a:pt x="402106" y="5862"/>
                </a:lnTo>
                <a:lnTo>
                  <a:pt x="373062" y="0"/>
                </a:lnTo>
                <a:close/>
              </a:path>
            </a:pathLst>
          </a:custGeom>
          <a:solidFill>
            <a:srgbClr val="154994"/>
          </a:solidFill>
        </p:spPr>
        <p:txBody>
          <a:bodyPr wrap="square" lIns="0" tIns="0" rIns="0" bIns="0" rtlCol="0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endParaRPr/>
          </a:p>
        </p:txBody>
      </p:sp>
      <p:sp>
        <p:nvSpPr>
          <p:cNvPr id="19" name="object 16"/>
          <p:cNvSpPr txBox="1"/>
          <p:nvPr/>
        </p:nvSpPr>
        <p:spPr>
          <a:xfrm>
            <a:off x="685165" y="4708243"/>
            <a:ext cx="149860" cy="1410335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marL="10795">
              <a:lnSpc>
                <a:spcPct val="65000"/>
              </a:lnSpc>
            </a:pPr>
            <a:r>
              <a:rPr sz="1500" b="1" dirty="0">
                <a:solidFill>
                  <a:srgbClr val="FFFFFF"/>
                </a:solidFill>
                <a:cs typeface="Microsoft JhengHei UI" panose="020B0604030504040204" charset="-120"/>
              </a:rPr>
              <a:t>生</a:t>
            </a:r>
            <a:r>
              <a:rPr sz="1500" b="1" spc="121" dirty="0">
                <a:solidFill>
                  <a:srgbClr val="FFFFFF"/>
                </a:solidFill>
                <a:cs typeface="Microsoft JhengHei UI" panose="020B0604030504040204" charset="-120"/>
              </a:rPr>
              <a:t> </a:t>
            </a:r>
            <a:r>
              <a:rPr sz="1500" b="1" dirty="0">
                <a:solidFill>
                  <a:srgbClr val="FFFFFF"/>
                </a:solidFill>
                <a:cs typeface="Microsoft JhengHei UI" panose="020B0604030504040204" charset="-120"/>
              </a:rPr>
              <a:t>产</a:t>
            </a:r>
            <a:r>
              <a:rPr lang="zh-CN" sz="1500" b="1" spc="125" dirty="0">
                <a:solidFill>
                  <a:srgbClr val="FFFFFF"/>
                </a:solidFill>
                <a:cs typeface="Microsoft JhengHei UI" panose="020B0604030504040204" charset="-120"/>
              </a:rPr>
              <a:t>测试设备</a:t>
            </a:r>
            <a:endParaRPr sz="1500" dirty="0">
              <a:cs typeface="Microsoft JhengHei UI" panose="020B0604030504040204" charset="-12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525" y="4667602"/>
            <a:ext cx="968375" cy="1417949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10" y="4667602"/>
            <a:ext cx="780415" cy="1417949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84500" y="4667602"/>
            <a:ext cx="927100" cy="1417949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13200" y="4667602"/>
            <a:ext cx="708025" cy="1417949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42600" y="4667608"/>
            <a:ext cx="976533" cy="637541"/>
          </a:xfrm>
          <a:prstGeom prst="rect">
            <a:avLst/>
          </a:prstGeom>
          <a:ln>
            <a:noFill/>
          </a:ln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6274" y="5390209"/>
            <a:ext cx="952859" cy="695349"/>
          </a:xfrm>
          <a:prstGeom prst="rect">
            <a:avLst/>
          </a:prstGeom>
          <a:ln>
            <a:noFill/>
          </a:ln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2825" y="4667602"/>
            <a:ext cx="1372235" cy="1417949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96660" y="4667602"/>
            <a:ext cx="2186940" cy="1417949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85200" y="4667602"/>
            <a:ext cx="1955800" cy="1417949"/>
          </a:xfrm>
          <a:prstGeom prst="rect">
            <a:avLst/>
          </a:prstGeom>
          <a:ln>
            <a:noFill/>
          </a:ln>
          <a:effectLst/>
        </p:spPr>
      </p:pic>
      <p:sp>
        <p:nvSpPr>
          <p:cNvPr id="2" name="object 8"/>
          <p:cNvSpPr txBox="1"/>
          <p:nvPr/>
        </p:nvSpPr>
        <p:spPr>
          <a:xfrm>
            <a:off x="1012401" y="6201286"/>
            <a:ext cx="10586085" cy="238125"/>
          </a:xfrm>
          <a:prstGeom prst="rect">
            <a:avLst/>
          </a:prstGeom>
        </p:spPr>
        <p:txBody>
          <a:bodyPr vert="horz" wrap="square" lIns="0" tIns="54501" rIns="0" bIns="0" rtlCol="0">
            <a:spAutoFit/>
          </a:bodyPr>
          <a:lstStyle/>
          <a:p>
            <a:pPr marL="174625" indent="-142875">
              <a:spcBef>
                <a:spcPts val="430"/>
              </a:spcBef>
              <a:buFont typeface="Wingdings" panose="05000000000000000000"/>
              <a:buChar char=""/>
              <a:tabLst>
                <a:tab pos="173990" algn="l"/>
              </a:tabLst>
            </a:pPr>
            <a:r>
              <a:rPr lang="zh-CN" sz="1200" b="1" spc="62" dirty="0">
                <a:solidFill>
                  <a:srgbClr val="404040"/>
                </a:solidFill>
                <a:cs typeface="Microsoft JhengHei UI" panose="020B0604030504040204" charset="-120"/>
              </a:rPr>
              <a:t>现有设备：支架激光切割机、平面激光切割机、湿热试验箱、紫外光固化机、鞘管编织机、编织机、球囊成型机、热风覆膜机、拉力测试机等</a:t>
            </a:r>
          </a:p>
        </p:txBody>
      </p:sp>
      <p:sp>
        <p:nvSpPr>
          <p:cNvPr id="25" name="object 7"/>
          <p:cNvSpPr txBox="1"/>
          <p:nvPr/>
        </p:nvSpPr>
        <p:spPr>
          <a:xfrm>
            <a:off x="7679674" y="3457736"/>
            <a:ext cx="3618810" cy="546735"/>
          </a:xfrm>
          <a:prstGeom prst="rect">
            <a:avLst/>
          </a:prstGeom>
        </p:spPr>
        <p:txBody>
          <a:bodyPr vert="horz" wrap="square" lIns="0" tIns="101596" rIns="0" bIns="0" rtlCol="0">
            <a:spAutoFit/>
          </a:bodyPr>
          <a:lstStyle/>
          <a:p>
            <a:pPr marL="153670" lvl="0" indent="-142875">
              <a:spcBef>
                <a:spcPts val="600"/>
              </a:spcBef>
              <a:buFont typeface="Wingdings" panose="05000000000000000000"/>
              <a:buChar char=""/>
              <a:tabLst>
                <a:tab pos="153035" algn="l"/>
              </a:tabLst>
            </a:pPr>
            <a:r>
              <a:rPr lang="zh-CN" altLang="en-US" sz="1200" b="1" spc="4" dirty="0">
                <a:solidFill>
                  <a:srgbClr val="404040"/>
                </a:solidFill>
                <a:cs typeface="Arial" panose="020B0604020202020204"/>
              </a:rPr>
              <a:t>计划于</a:t>
            </a:r>
            <a:r>
              <a:rPr lang="en-US" altLang="zh-CN" sz="1200" b="1" spc="4" dirty="0">
                <a:solidFill>
                  <a:srgbClr val="404040"/>
                </a:solidFill>
                <a:cs typeface="Arial" panose="020B0604020202020204"/>
              </a:rPr>
              <a:t>2025</a:t>
            </a:r>
            <a:r>
              <a:rPr lang="zh-CN" altLang="en-US" sz="1200" b="1" spc="62" dirty="0">
                <a:solidFill>
                  <a:srgbClr val="404040"/>
                </a:solidFill>
                <a:cs typeface="Microsoft JhengHei UI" panose="020B0604030504040204" charset="-120"/>
              </a:rPr>
              <a:t>年</a:t>
            </a:r>
            <a:r>
              <a:rPr lang="en-US" altLang="zh-CN" sz="1200" b="1" spc="62" dirty="0">
                <a:solidFill>
                  <a:srgbClr val="404040"/>
                </a:solidFill>
                <a:cs typeface="Microsoft JhengHei UI" panose="020B0604030504040204" charset="-120"/>
              </a:rPr>
              <a:t>Q4</a:t>
            </a:r>
            <a:r>
              <a:rPr lang="zh-CN" altLang="en-US" sz="1200" b="1" spc="62" dirty="0">
                <a:solidFill>
                  <a:srgbClr val="404040"/>
                </a:solidFill>
                <a:cs typeface="Microsoft JhengHei UI" panose="020B0604030504040204" charset="-120"/>
              </a:rPr>
              <a:t>启动建设</a:t>
            </a:r>
            <a:r>
              <a:rPr lang="zh-CN" altLang="en-US" sz="1200" b="1" dirty="0">
                <a:solidFill>
                  <a:srgbClr val="404040"/>
                </a:solidFill>
                <a:cs typeface="Microsoft JhengHei UI" panose="020B0604030504040204" charset="-120"/>
              </a:rPr>
              <a:t>，</a:t>
            </a:r>
            <a:r>
              <a:rPr lang="zh-CN" altLang="en-US" sz="1200" b="1" spc="62" dirty="0">
                <a:solidFill>
                  <a:srgbClr val="404040"/>
                </a:solidFill>
                <a:cs typeface="Microsoft JhengHei UI" panose="020B0604030504040204" charset="-120"/>
              </a:rPr>
              <a:t>建设面积</a:t>
            </a:r>
            <a:r>
              <a:rPr lang="en-US" altLang="zh-CN" sz="1200" b="1" spc="-29" dirty="0">
                <a:solidFill>
                  <a:srgbClr val="0070C0"/>
                </a:solidFill>
                <a:cs typeface="Arial" panose="020B0604020202020204"/>
              </a:rPr>
              <a:t>3,000</a:t>
            </a:r>
            <a:r>
              <a:rPr lang="en-US" altLang="zh-CN" sz="1200" b="1" spc="-17" dirty="0">
                <a:solidFill>
                  <a:srgbClr val="404040"/>
                </a:solidFill>
                <a:cs typeface="Arial" panose="020B0604020202020204"/>
              </a:rPr>
              <a:t>m²</a:t>
            </a:r>
          </a:p>
          <a:p>
            <a:pPr marL="153670" lvl="0" indent="-142875">
              <a:spcBef>
                <a:spcPts val="600"/>
              </a:spcBef>
              <a:buFont typeface="Wingdings" panose="05000000000000000000"/>
              <a:buChar char=""/>
              <a:tabLst>
                <a:tab pos="153035" algn="l"/>
              </a:tabLst>
            </a:pPr>
            <a:r>
              <a:rPr lang="zh-CN" altLang="en-US" sz="1200" b="1" dirty="0">
                <a:solidFill>
                  <a:srgbClr val="404040"/>
                </a:solidFill>
                <a:cs typeface="Microsoft JhengHei UI" panose="020B0604030504040204" charset="-120"/>
              </a:rPr>
              <a:t>产能可达</a:t>
            </a:r>
            <a:r>
              <a:rPr lang="en-US" altLang="zh-CN" sz="1200" b="1" spc="-8" dirty="0">
                <a:solidFill>
                  <a:srgbClr val="0070C0"/>
                </a:solidFill>
                <a:cs typeface="Arial" panose="020B0604020202020204"/>
              </a:rPr>
              <a:t>300,000</a:t>
            </a:r>
            <a:r>
              <a:rPr lang="zh-CN" altLang="en-US" sz="1200" b="1" dirty="0">
                <a:solidFill>
                  <a:srgbClr val="404040"/>
                </a:solidFill>
                <a:cs typeface="Microsoft JhengHei UI" panose="020B0604030504040204" charset="-120"/>
              </a:rPr>
              <a:t>件</a:t>
            </a:r>
            <a:endParaRPr lang="en-US" altLang="zh-CN" sz="1200" b="1" dirty="0">
              <a:solidFill>
                <a:srgbClr val="404040"/>
              </a:solidFill>
              <a:cs typeface="Microsoft JhengHei UI" panose="020B0604030504040204" charset="-120"/>
            </a:endParaRPr>
          </a:p>
        </p:txBody>
      </p:sp>
      <p:sp>
        <p:nvSpPr>
          <p:cNvPr id="31" name="object 10"/>
          <p:cNvSpPr/>
          <p:nvPr/>
        </p:nvSpPr>
        <p:spPr>
          <a:xfrm>
            <a:off x="5416489" y="1433523"/>
            <a:ext cx="515937" cy="1555748"/>
          </a:xfrm>
          <a:prstGeom prst="rect">
            <a:avLst/>
          </a:pr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1"/>
          <p:cNvSpPr txBox="1"/>
          <p:nvPr/>
        </p:nvSpPr>
        <p:spPr>
          <a:xfrm>
            <a:off x="6184244" y="2112972"/>
            <a:ext cx="1010118" cy="259579"/>
          </a:xfrm>
          <a:prstGeom prst="rect">
            <a:avLst/>
          </a:prstGeom>
        </p:spPr>
        <p:txBody>
          <a:bodyPr vert="horz" wrap="square" lIns="0" tIns="13229" rIns="0" bIns="0" rtlCol="0">
            <a:spAutoFit/>
          </a:bodyPr>
          <a:lstStyle/>
          <a:p>
            <a:pPr marL="10795">
              <a:spcBef>
                <a:spcPts val="105"/>
              </a:spcBef>
            </a:pPr>
            <a:r>
              <a:rPr sz="1600" b="1" spc="83" dirty="0">
                <a:solidFill>
                  <a:srgbClr val="145FA3"/>
                </a:solidFill>
                <a:cs typeface="Microsoft JhengHei UI" panose="020B0604030504040204" charset="-120"/>
              </a:rPr>
              <a:t>产能</a:t>
            </a:r>
            <a:r>
              <a:rPr sz="1600" b="1" spc="21" dirty="0">
                <a:solidFill>
                  <a:srgbClr val="145FA3"/>
                </a:solidFill>
                <a:cs typeface="Microsoft JhengHei UI" panose="020B0604030504040204" charset="-120"/>
              </a:rPr>
              <a:t>扩张</a:t>
            </a:r>
            <a:endParaRPr sz="1600" dirty="0">
              <a:cs typeface="Microsoft JhengHei UI" panose="020B0604030504040204" charset="-120"/>
            </a:endParaRPr>
          </a:p>
        </p:txBody>
      </p:sp>
      <p:pic>
        <p:nvPicPr>
          <p:cNvPr id="33" name="Picture 2" descr="https://gimg2.baidu.com/image_search/src=http%3A%2F%2Fwww.xiaoguotu8.com%2Fdata%2Fimages%2Fproduct%2Fthumb_20190819104459_776.jpg&amp;refer=http%3A%2F%2Fwww.xiaoguotu8.com&amp;app=2002&amp;size=f9999,10000&amp;q=a80&amp;n=0&amp;g=0n&amp;fmt=jpeg?sec=1631155878&amp;t=af712daa0762b160deb23f8f222f9c42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533" y="1018890"/>
            <a:ext cx="3035342" cy="201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object 9"/>
          <p:cNvSpPr txBox="1"/>
          <p:nvPr/>
        </p:nvSpPr>
        <p:spPr>
          <a:xfrm>
            <a:off x="8724613" y="3154437"/>
            <a:ext cx="1489604" cy="227965"/>
          </a:xfrm>
          <a:prstGeom prst="rect">
            <a:avLst/>
          </a:prstGeom>
        </p:spPr>
        <p:txBody>
          <a:bodyPr vert="horz" wrap="square" lIns="0" tIns="13229" rIns="0" bIns="0" rtlCol="0">
            <a:spAutoFit/>
          </a:bodyPr>
          <a:lstStyle/>
          <a:p>
            <a:pPr marL="10795">
              <a:spcBef>
                <a:spcPts val="105"/>
              </a:spcBef>
            </a:pPr>
            <a:r>
              <a:rPr lang="zh-CN" altLang="en-US" sz="1400" b="1" spc="-42" dirty="0">
                <a:solidFill>
                  <a:srgbClr val="064A89"/>
                </a:solidFill>
                <a:cs typeface="Microsoft JhengHei UI" panose="020B0604030504040204" charset="-120"/>
              </a:rPr>
              <a:t>规划</a:t>
            </a:r>
            <a:r>
              <a:rPr lang="zh-CN" sz="1400" b="1" spc="-42" dirty="0">
                <a:solidFill>
                  <a:srgbClr val="064A89"/>
                </a:solidFill>
                <a:cs typeface="Microsoft JhengHei UI" panose="020B0604030504040204" charset="-120"/>
              </a:rPr>
              <a:t>生产基地</a:t>
            </a:r>
            <a:endParaRPr lang="zh-CN" sz="1400" dirty="0">
              <a:cs typeface="Microsoft JhengHei UI" panose="020B060403050404020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59823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E2E3EDEB-FFE1-DCA0-D6C5-962CB71A485D}"/>
              </a:ext>
            </a:extLst>
          </p:cNvPr>
          <p:cNvSpPr/>
          <p:nvPr/>
        </p:nvSpPr>
        <p:spPr>
          <a:xfrm>
            <a:off x="1693887" y="1607572"/>
            <a:ext cx="1967554" cy="1549400"/>
          </a:xfrm>
          <a:prstGeom prst="rect">
            <a:avLst/>
          </a:prstGeom>
          <a:solidFill>
            <a:srgbClr val="235FAE"/>
          </a:solidFill>
          <a:ln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5D133851-B346-A126-342C-85458643D25E}"/>
              </a:ext>
            </a:extLst>
          </p:cNvPr>
          <p:cNvSpPr/>
          <p:nvPr/>
        </p:nvSpPr>
        <p:spPr>
          <a:xfrm>
            <a:off x="4809158" y="3520465"/>
            <a:ext cx="2766616" cy="2089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AB9E4F22-B5B2-580F-C089-428BCE9D7D82}"/>
              </a:ext>
            </a:extLst>
          </p:cNvPr>
          <p:cNvSpPr/>
          <p:nvPr/>
        </p:nvSpPr>
        <p:spPr>
          <a:xfrm>
            <a:off x="6887368" y="4080404"/>
            <a:ext cx="2935731" cy="2553256"/>
          </a:xfrm>
          <a:prstGeom prst="rect">
            <a:avLst/>
          </a:prstGeom>
          <a:solidFill>
            <a:srgbClr val="235FAE"/>
          </a:solidFill>
          <a:ln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7CC248A-8239-A040-CB97-A0AF02887E14}"/>
              </a:ext>
            </a:extLst>
          </p:cNvPr>
          <p:cNvSpPr/>
          <p:nvPr/>
        </p:nvSpPr>
        <p:spPr>
          <a:xfrm>
            <a:off x="3905037" y="1413793"/>
            <a:ext cx="2224050" cy="1686771"/>
          </a:xfrm>
          <a:prstGeom prst="rect">
            <a:avLst/>
          </a:prstGeom>
          <a:solidFill>
            <a:srgbClr val="235FAE"/>
          </a:solidFill>
          <a:ln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E814119E-19D4-729A-E48B-7B9103934CE5}"/>
              </a:ext>
            </a:extLst>
          </p:cNvPr>
          <p:cNvSpPr/>
          <p:nvPr/>
        </p:nvSpPr>
        <p:spPr>
          <a:xfrm>
            <a:off x="5451883" y="2107160"/>
            <a:ext cx="2054013" cy="1572873"/>
          </a:xfrm>
          <a:prstGeom prst="rect">
            <a:avLst/>
          </a:prstGeom>
          <a:solidFill>
            <a:srgbClr val="235FAE"/>
          </a:solidFill>
          <a:ln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78AD9806-5B10-2769-0C0A-FDC7CBDDD27F}"/>
              </a:ext>
            </a:extLst>
          </p:cNvPr>
          <p:cNvSpPr/>
          <p:nvPr/>
        </p:nvSpPr>
        <p:spPr>
          <a:xfrm>
            <a:off x="3026915" y="2606372"/>
            <a:ext cx="1694579" cy="127093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7E747D34-771F-9ED3-708A-A082A3780092}"/>
              </a:ext>
            </a:extLst>
          </p:cNvPr>
          <p:cNvSpPr/>
          <p:nvPr/>
        </p:nvSpPr>
        <p:spPr>
          <a:xfrm>
            <a:off x="6484812" y="2606373"/>
            <a:ext cx="3008186" cy="2284146"/>
          </a:xfrm>
          <a:prstGeom prst="rect">
            <a:avLst/>
          </a:prstGeom>
          <a:solidFill>
            <a:srgbClr val="235FAE"/>
          </a:solidFill>
          <a:ln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2" name="Rectangle 25">
            <a:extLst>
              <a:ext uri="{FF2B5EF4-FFF2-40B4-BE49-F238E27FC236}">
                <a16:creationId xmlns:a16="http://schemas.microsoft.com/office/drawing/2014/main" id="{E8A7E7DC-E5C9-CAE0-3E3B-AD6A9F4195E7}"/>
              </a:ext>
            </a:extLst>
          </p:cNvPr>
          <p:cNvSpPr/>
          <p:nvPr/>
        </p:nvSpPr>
        <p:spPr>
          <a:xfrm>
            <a:off x="8481843" y="1867045"/>
            <a:ext cx="3282099" cy="242731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3" name="Rectangle 39">
            <a:extLst>
              <a:ext uri="{FF2B5EF4-FFF2-40B4-BE49-F238E27FC236}">
                <a16:creationId xmlns:a16="http://schemas.microsoft.com/office/drawing/2014/main" id="{091AFEAC-C78D-19EF-ABA8-8CD984D45017}"/>
              </a:ext>
            </a:extLst>
          </p:cNvPr>
          <p:cNvSpPr/>
          <p:nvPr/>
        </p:nvSpPr>
        <p:spPr>
          <a:xfrm>
            <a:off x="752818" y="1835680"/>
            <a:ext cx="1539102" cy="1156765"/>
          </a:xfrm>
          <a:prstGeom prst="rect">
            <a:avLst/>
          </a:prstGeom>
          <a:solidFill>
            <a:srgbClr val="AE1D1C"/>
          </a:solidFill>
          <a:ln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C6B7D3A-3331-041B-9478-E210A4B57F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815" y="4518416"/>
            <a:ext cx="2569233" cy="192961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007F18E5-7976-1D9F-A7D0-889A2241F2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238" y="2084013"/>
            <a:ext cx="2967875" cy="197858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540EEAC4-27A3-CC3E-0E0A-5084457864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433" y="3665927"/>
            <a:ext cx="2476566" cy="179825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7427C61-1404-4FAE-D2F0-DF364DA707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338" y="2767698"/>
            <a:ext cx="2493286" cy="186996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F3207F5A-2D58-F983-F2DA-8B8C158E3E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40004" y="2010739"/>
            <a:ext cx="1337074" cy="1782765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6BEB8600-83E1-92CF-A8F9-F7F7F2AEDB2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159" y="1578803"/>
            <a:ext cx="1956341" cy="1318986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690D44D8-2931-FF82-5E7E-AE85FB2BE92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576" y="2691050"/>
            <a:ext cx="1412074" cy="1045844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1EAFD36-265C-06F3-BC6A-CA5A7726A40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822" y="1721512"/>
            <a:ext cx="1694579" cy="127093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57329300-B53E-D481-0D87-2C18D732B4E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04" y="1952481"/>
            <a:ext cx="1223702" cy="917663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D1A64B2F-56DF-11E5-4E84-D8E752F61DED}"/>
              </a:ext>
            </a:extLst>
          </p:cNvPr>
          <p:cNvSpPr txBox="1"/>
          <p:nvPr/>
        </p:nvSpPr>
        <p:spPr>
          <a:xfrm>
            <a:off x="428058" y="4243155"/>
            <a:ext cx="29033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谢谢</a:t>
            </a:r>
            <a:r>
              <a:rPr lang="zh-CN" altLang="en-US" sz="8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JjMWQ2OTU1ZTAxN2I5ZmFlNWQ1YmI2YzRiMWEwZ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13*373"/>
  <p:tag name="TABLE_ENDDRAG_RECT" val="17*93*913*373"/>
</p:tagLst>
</file>

<file path=ppt/theme/theme1.xml><?xml version="1.0" encoding="utf-8"?>
<a:theme xmlns:a="http://schemas.openxmlformats.org/drawingml/2006/main" name="Office 主题">
  <a:themeElements>
    <a:clrScheme name="自定义 37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188186"/>
      </a:accent1>
      <a:accent2>
        <a:srgbClr val="188186"/>
      </a:accent2>
      <a:accent3>
        <a:srgbClr val="188186"/>
      </a:accent3>
      <a:accent4>
        <a:srgbClr val="188186"/>
      </a:accent4>
      <a:accent5>
        <a:srgbClr val="188186"/>
      </a:accent5>
      <a:accent6>
        <a:srgbClr val="188186"/>
      </a:accent6>
      <a:hlink>
        <a:srgbClr val="5F5F5F"/>
      </a:hlink>
      <a:folHlink>
        <a:srgbClr val="919191"/>
      </a:folHlink>
    </a:clrScheme>
    <a:fontScheme name="oz02vtuu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170C1"/>
        </a:solidFill>
        <a:ln>
          <a:noFill/>
        </a:ln>
        <a:effectLst>
          <a:outerShdw blurRad="215900" dist="63500" dir="5400000" algn="l" rotWithShape="0">
            <a:prstClr val="black">
              <a:alpha val="7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8872</TotalTime>
  <Words>3163</Words>
  <Application>Microsoft Office PowerPoint</Application>
  <PresentationFormat>宽屏</PresentationFormat>
  <Paragraphs>639</Paragraphs>
  <Slides>33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6" baseType="lpstr">
      <vt:lpstr>Helvetica Neue</vt:lpstr>
      <vt:lpstr>Microsoft JhengHei UI</vt:lpstr>
      <vt:lpstr>system-ui</vt:lpstr>
      <vt:lpstr>等线</vt:lpstr>
      <vt:lpstr>黑体</vt:lpstr>
      <vt:lpstr>华文楷体</vt:lpstr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工作总结</dc:title>
  <dc:creator>X1Carbon</dc:creator>
  <cp:lastModifiedBy>peter2-3-4@outlook.com</cp:lastModifiedBy>
  <cp:revision>2682</cp:revision>
  <dcterms:created xsi:type="dcterms:W3CDTF">2015-06-07T09:29:00Z</dcterms:created>
  <dcterms:modified xsi:type="dcterms:W3CDTF">2025-11-26T02:58:39Z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2052-11.1.0.11830</vt:lpwstr>
  </property>
  <property fmtid="{D5CDD505-2E9C-101B-9397-08002B2CF9AE}" pid="3" name="KSORubyTemplateID">
    <vt:lpwstr>2</vt:lpwstr>
  </property>
  <property fmtid="{D5CDD505-2E9C-101B-9397-08002B2CF9AE}" pid="4" name="ICV">
    <vt:lpwstr>784AAF3527D04734B4371AA0562C0B91</vt:lpwstr>
  </property>
</Properties>
</file>