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1.xml" ContentType="application/vnd.openxmlformats-officedocument.presentationml.notesSlide+xml"/>
  <Override PartName="/ppt/tags/tag38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2" r:id="rId2"/>
  </p:sldMasterIdLst>
  <p:notesMasterIdLst>
    <p:notesMasterId r:id="rId17"/>
  </p:notesMasterIdLst>
  <p:handoutMasterIdLst>
    <p:handoutMasterId r:id="rId18"/>
  </p:handoutMasterIdLst>
  <p:sldIdLst>
    <p:sldId id="2179" r:id="rId3"/>
    <p:sldId id="2119" r:id="rId4"/>
    <p:sldId id="2192" r:id="rId5"/>
    <p:sldId id="2182" r:id="rId6"/>
    <p:sldId id="2183" r:id="rId7"/>
    <p:sldId id="2184" r:id="rId8"/>
    <p:sldId id="2126" r:id="rId9"/>
    <p:sldId id="2193" r:id="rId10"/>
    <p:sldId id="2190" r:id="rId11"/>
    <p:sldId id="2185" r:id="rId12"/>
    <p:sldId id="2131" r:id="rId13"/>
    <p:sldId id="2132" r:id="rId14"/>
    <p:sldId id="2154" r:id="rId15"/>
    <p:sldId id="2146" r:id="rId16"/>
  </p:sldIdLst>
  <p:sldSz cx="12192000" cy="6858000"/>
  <p:notesSz cx="9296400" cy="70104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4" userDrawn="1">
          <p15:clr>
            <a:srgbClr val="A4A3A4"/>
          </p15:clr>
        </p15:guide>
        <p15:guide id="3" orient="horz" pos="4052" userDrawn="1">
          <p15:clr>
            <a:srgbClr val="A4A3A4"/>
          </p15:clr>
        </p15:guide>
        <p15:guide id="5" orient="horz" pos="3967" userDrawn="1">
          <p15:clr>
            <a:srgbClr val="A4A3A4"/>
          </p15:clr>
        </p15:guide>
        <p15:guide id="6" pos="7129" userDrawn="1">
          <p15:clr>
            <a:srgbClr val="A4A3A4"/>
          </p15:clr>
        </p15:guide>
        <p15:guide id="7" pos="6646" userDrawn="1">
          <p15:clr>
            <a:srgbClr val="A4A3A4"/>
          </p15:clr>
        </p15:guide>
        <p15:guide id="8" pos="3840" userDrawn="1">
          <p15:clr>
            <a:srgbClr val="A4A3A4"/>
          </p15:clr>
        </p15:guide>
        <p15:guide id="9" pos="1028" userDrawn="1">
          <p15:clr>
            <a:srgbClr val="A4A3A4"/>
          </p15:clr>
        </p15:guide>
        <p15:guide id="10" pos="5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e Yang(杨杰)" initials="JY" lastIdx="2" clrIdx="0"/>
  <p:cmAuthor id="2" name="杨杰" initials="杨杰" lastIdx="33" clrIdx="1"/>
  <p:cmAuthor id="3" name="Shirley.Ding" initials="S" lastIdx="1" clrIdx="2"/>
  <p:cmAuthor id="4" name="Serena.Zhu" initials="S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2F1"/>
    <a:srgbClr val="A6A6A6"/>
    <a:srgbClr val="F4FBFA"/>
    <a:srgbClr val="FED6D8"/>
    <a:srgbClr val="E30613"/>
    <a:srgbClr val="FFE7E8"/>
    <a:srgbClr val="FCFCFC"/>
    <a:srgbClr val="FFC9CD"/>
    <a:srgbClr val="FFE5E6"/>
    <a:srgbClr val="FF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5575" autoAdjust="0"/>
  </p:normalViewPr>
  <p:slideViewPr>
    <p:cSldViewPr snapToGrid="0" showGuides="1">
      <p:cViewPr varScale="1">
        <p:scale>
          <a:sx n="102" d="100"/>
          <a:sy n="102" d="100"/>
        </p:scale>
        <p:origin x="504" y="168"/>
      </p:cViewPr>
      <p:guideLst>
        <p:guide orient="horz" pos="704"/>
        <p:guide orient="horz" pos="4052"/>
        <p:guide orient="horz" pos="3967"/>
        <p:guide pos="7129"/>
        <p:guide pos="6646"/>
        <p:guide pos="3840"/>
        <p:guide pos="1028"/>
        <p:guide pos="5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2" d="100"/>
        <a:sy n="102" d="100"/>
      </p:scale>
      <p:origin x="0" y="0"/>
    </p:cViewPr>
  </p:sorterViewPr>
  <p:notesViewPr>
    <p:cSldViewPr snapToGrid="0">
      <p:cViewPr varScale="1">
        <p:scale>
          <a:sx n="108" d="100"/>
          <a:sy n="108" d="100"/>
        </p:scale>
        <p:origin x="256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265809" y="2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F3B37ED-FB9E-4979-AD71-A9756F4EAE02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B698382-B7F4-41CC-9495-99B8C3BACD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265809" y="2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CD598DF-BAE9-429F-A617-D7BD6C1A65AC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29640" y="3373756"/>
            <a:ext cx="7437120" cy="2760345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903FFAD-B540-4EA4-8C87-82BD6289EC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3FFAD-B540-4EA4-8C87-82BD6289EC4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3FFAD-B540-4EA4-8C87-82BD6289EC4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3FFAD-B540-4EA4-8C87-82BD6289EC4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3FFAD-B540-4EA4-8C87-82BD6289EC4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3FFAD-B540-4EA4-8C87-82BD6289EC4F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1D0D8-090A-6947-2D7E-27EF0DAB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C3049-9837-7DF2-2863-59DDDA2CF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29B42-1CA5-3CE1-563B-994085B8E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88110-6396-2C7A-4478-3263C7EC6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3FFAD-B540-4EA4-8C87-82BD6289EC4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243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3FFAD-B540-4EA4-8C87-82BD6289EC4F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3FFAD-B540-4EA4-8C87-82BD6289EC4F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3FFAD-B540-4EA4-8C87-82BD6289EC4F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3FFAD-B540-4EA4-8C87-82BD6289EC4F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3FFAD-B540-4EA4-8C87-82BD6289EC4F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3FFAD-B540-4EA4-8C87-82BD6289EC4F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BF94F661-1618-441A-9FD5-43AE4D112E43}" type="datetime1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18DB7695-A07D-4BCB-B41D-8E5B8A1707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796163" y="237448"/>
            <a:ext cx="10515600" cy="5396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61970AF-3D30-05D3-49F8-7230EE98AA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41" y="6466175"/>
            <a:ext cx="802284" cy="28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0" name="对象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>
                <a:solidFill>
                  <a:schemeClr val="dk1">
                    <a:lumMod val="10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B68FECAD-FE09-4204-8B92-D6FB2033C2B7}" type="datetime1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18DB7695-A07D-4BCB-B41D-8E5B8A17079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637846" y="157654"/>
            <a:ext cx="438150" cy="935459"/>
            <a:chOff x="-323057" y="160831"/>
            <a:chExt cx="438150" cy="935459"/>
          </a:xfrm>
        </p:grpSpPr>
        <p:sp>
          <p:nvSpPr>
            <p:cNvPr id="8" name="椭圆 7"/>
            <p:cNvSpPr/>
            <p:nvPr userDrawn="1"/>
          </p:nvSpPr>
          <p:spPr>
            <a:xfrm>
              <a:off x="-323057" y="160831"/>
              <a:ext cx="438150" cy="431800"/>
            </a:xfrm>
            <a:prstGeom prst="ellipse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-323057" y="664490"/>
              <a:ext cx="438150" cy="431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58699" y="0"/>
            <a:ext cx="10322350" cy="6858000"/>
          </a:xfrm>
          <a:prstGeom prst="rect">
            <a:avLst/>
          </a:prstGeom>
        </p:spPr>
      </p:pic>
      <p:grpSp>
        <p:nvGrpSpPr>
          <p:cNvPr id="32" name="组合 31"/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grpSp>
          <p:nvGrpSpPr>
            <p:cNvPr id="23" name="组合 22"/>
            <p:cNvGrpSpPr/>
            <p:nvPr userDrawn="1"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-1" y="0"/>
                <a:ext cx="5085347" cy="6858000"/>
              </a:xfrm>
              <a:prstGeom prst="rect">
                <a:avLst/>
              </a:prstGeom>
              <a:gradFill flip="none" rotWithShape="1">
                <a:gsLst>
                  <a:gs pos="98000">
                    <a:schemeClr val="accent2">
                      <a:alpha val="95000"/>
                    </a:schemeClr>
                  </a:gs>
                  <a:gs pos="31000">
                    <a:schemeClr val="accent1">
                      <a:alpha val="90000"/>
                    </a:scheme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4267200" y="6041668"/>
                <a:ext cx="10275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矩形 11"/>
              <p:cNvSpPr/>
              <p:nvPr/>
            </p:nvSpPr>
            <p:spPr>
              <a:xfrm>
                <a:off x="0" y="6581001"/>
                <a:ext cx="12192000" cy="27699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70000"/>
                    </a:schemeClr>
                  </a:gs>
                  <a:gs pos="99000">
                    <a:schemeClr val="accent1">
                      <a:lumMod val="20000"/>
                      <a:lumOff val="80000"/>
                      <a:alpha val="10000"/>
                    </a:schemeClr>
                  </a:gs>
                </a:gsLst>
                <a:lin ang="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0392936" y="0"/>
                <a:ext cx="1799063" cy="10287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10606360" y="696099"/>
                <a:ext cx="925242" cy="86840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4761494" y="0"/>
                <a:ext cx="647705" cy="306818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1" name="组合 30"/>
            <p:cNvGrpSpPr/>
            <p:nvPr userDrawn="1"/>
          </p:nvGrpSpPr>
          <p:grpSpPr>
            <a:xfrm>
              <a:off x="660400" y="916641"/>
              <a:ext cx="530828" cy="112059"/>
              <a:chOff x="660400" y="916641"/>
              <a:chExt cx="530828" cy="112059"/>
            </a:xfrm>
          </p:grpSpPr>
          <p:sp>
            <p:nvSpPr>
              <p:cNvPr id="24" name="椭圆 23"/>
              <p:cNvSpPr/>
              <p:nvPr userDrawn="1"/>
            </p:nvSpPr>
            <p:spPr>
              <a:xfrm>
                <a:off x="660400" y="916641"/>
                <a:ext cx="112059" cy="11205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 userDrawn="1"/>
            </p:nvSpPr>
            <p:spPr>
              <a:xfrm>
                <a:off x="869785" y="916641"/>
                <a:ext cx="112059" cy="11205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 userDrawn="1"/>
            </p:nvSpPr>
            <p:spPr>
              <a:xfrm>
                <a:off x="1079169" y="916641"/>
                <a:ext cx="112059" cy="11205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 userDrawn="1">
            <p:ph type="ctrTitle" hasCustomPrompt="1"/>
          </p:nvPr>
        </p:nvSpPr>
        <p:spPr>
          <a:xfrm>
            <a:off x="660398" y="1305699"/>
            <a:ext cx="4424948" cy="2457441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 userDrawn="1">
            <p:ph type="subTitle" sz="quarter" idx="1" hasCustomPrompt="1"/>
          </p:nvPr>
        </p:nvSpPr>
        <p:spPr>
          <a:xfrm>
            <a:off x="660398" y="3763140"/>
            <a:ext cx="4424947" cy="97014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8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60400" y="5857101"/>
            <a:ext cx="40513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60400" y="5580102"/>
            <a:ext cx="40513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708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BF94F661-1618-441A-9FD5-43AE4D112E43}" type="datetime1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18DB7695-A07D-4BCB-B41D-8E5B8A1707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796163" y="237448"/>
            <a:ext cx="10515600" cy="5396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0" name="对象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>
                <a:solidFill>
                  <a:schemeClr val="dk1">
                    <a:lumMod val="10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B68FECAD-FE09-4204-8B92-D6FB2033C2B7}" type="datetime1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18DB7695-A07D-4BCB-B41D-8E5B8A1707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游戏机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50015" y="0"/>
            <a:ext cx="10322350" cy="6858000"/>
          </a:xfrm>
          <a:prstGeom prst="rect">
            <a:avLst/>
          </a:prstGeom>
        </p:spPr>
      </p:pic>
      <p:grpSp>
        <p:nvGrpSpPr>
          <p:cNvPr id="14" name="组合 13"/>
          <p:cNvGrpSpPr/>
          <p:nvPr userDrawn="1"/>
        </p:nvGrpSpPr>
        <p:grpSpPr>
          <a:xfrm flipH="1">
            <a:off x="-1" y="0"/>
            <a:ext cx="12192001" cy="6858000"/>
            <a:chOff x="-1" y="0"/>
            <a:chExt cx="12192001" cy="6858000"/>
          </a:xfrm>
        </p:grpSpPr>
        <p:grpSp>
          <p:nvGrpSpPr>
            <p:cNvPr id="15" name="组合 14"/>
            <p:cNvGrpSpPr/>
            <p:nvPr userDrawn="1"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-1" y="0"/>
                <a:ext cx="5085347" cy="6858000"/>
              </a:xfrm>
              <a:prstGeom prst="rect">
                <a:avLst/>
              </a:prstGeom>
              <a:gradFill flip="none" rotWithShape="1">
                <a:gsLst>
                  <a:gs pos="98000">
                    <a:schemeClr val="accent2">
                      <a:alpha val="95000"/>
                    </a:schemeClr>
                  </a:gs>
                  <a:gs pos="31000">
                    <a:schemeClr val="accent1">
                      <a:alpha val="90000"/>
                    </a:scheme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4267200" y="6041668"/>
                <a:ext cx="10275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矩形 26"/>
              <p:cNvSpPr/>
              <p:nvPr/>
            </p:nvSpPr>
            <p:spPr>
              <a:xfrm>
                <a:off x="0" y="6581001"/>
                <a:ext cx="12192000" cy="27699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70000"/>
                    </a:schemeClr>
                  </a:gs>
                  <a:gs pos="99000">
                    <a:schemeClr val="accent1">
                      <a:lumMod val="20000"/>
                      <a:lumOff val="80000"/>
                      <a:alpha val="10000"/>
                    </a:schemeClr>
                  </a:gs>
                </a:gsLst>
                <a:lin ang="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10392936" y="0"/>
                <a:ext cx="1799063" cy="10287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0606360" y="696099"/>
                <a:ext cx="925242" cy="86840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4761494" y="0"/>
                <a:ext cx="647705" cy="306818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组合 15"/>
            <p:cNvGrpSpPr/>
            <p:nvPr userDrawn="1"/>
          </p:nvGrpSpPr>
          <p:grpSpPr>
            <a:xfrm>
              <a:off x="660400" y="916641"/>
              <a:ext cx="530828" cy="112059"/>
              <a:chOff x="660400" y="916641"/>
              <a:chExt cx="530828" cy="112059"/>
            </a:xfrm>
          </p:grpSpPr>
          <p:sp>
            <p:nvSpPr>
              <p:cNvPr id="17" name="椭圆 23"/>
              <p:cNvSpPr/>
              <p:nvPr userDrawn="1"/>
            </p:nvSpPr>
            <p:spPr>
              <a:xfrm>
                <a:off x="660400" y="916641"/>
                <a:ext cx="112059" cy="11205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27"/>
              <p:cNvSpPr/>
              <p:nvPr userDrawn="1"/>
            </p:nvSpPr>
            <p:spPr>
              <a:xfrm>
                <a:off x="869785" y="916641"/>
                <a:ext cx="112059" cy="11205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8"/>
              <p:cNvSpPr/>
              <p:nvPr userDrawn="1"/>
            </p:nvSpPr>
            <p:spPr>
              <a:xfrm>
                <a:off x="1079169" y="916641"/>
                <a:ext cx="112059" cy="11205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2b1f08db-0315-4b87-8e24-d59d2a520c21"/>
          <p:cNvSpPr>
            <a:spLocks noGrp="1"/>
          </p:cNvSpPr>
          <p:nvPr>
            <p:ph type="ctrTitle" hasCustomPrompt="1"/>
          </p:nvPr>
        </p:nvSpPr>
        <p:spPr>
          <a:xfrm>
            <a:off x="7093954" y="1130300"/>
            <a:ext cx="4424946" cy="266049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48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7093954" y="5580102"/>
            <a:ext cx="4424946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7093954" y="5857101"/>
            <a:ext cx="4424946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.bin"/><Relationship Id="rId5" Type="http://schemas.openxmlformats.org/officeDocument/2006/relationships/tags" Target="../tags/tag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6" imgW="5080" imgH="5080" progId="TCLayout.ActiveDocument.1">
                  <p:embed/>
                </p:oleObj>
              </mc:Choice>
              <mc:Fallback>
                <p:oleObj name="think-cell 幻灯片" r:id="rId6" imgW="5080" imgH="5080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754123" y="237448"/>
            <a:ext cx="10515600" cy="5396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7B28F8DC-DCF4-4F80-9B24-57340EBBA9D2}" type="datetime1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18DB7695-A07D-4BCB-B41D-8E5B8A170798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451946" y="237448"/>
            <a:ext cx="115614" cy="539666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0AF4EE4-424B-9BF9-8FC5-3553245A06D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41" y="6466175"/>
            <a:ext cx="802284" cy="288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0F5D6A6-2BD3-C90D-80E8-8D15B4122054}"/>
              </a:ext>
            </a:extLst>
          </p:cNvPr>
          <p:cNvSpPr txBox="1"/>
          <p:nvPr userDrawn="1"/>
        </p:nvSpPr>
        <p:spPr>
          <a:xfrm rot="16200000">
            <a:off x="9175019" y="3642988"/>
            <a:ext cx="59245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dirty="0">
                <a:solidFill>
                  <a:schemeClr val="bg1">
                    <a:lumMod val="65000"/>
                  </a:schemeClr>
                </a:solidFill>
                <a:latin typeface="Frutiger LT 45 Light" panose="020B0500000000000000" pitchFamily="34" charset="0"/>
                <a:ea typeface="+mj-ea"/>
              </a:rPr>
              <a:t>Copyright © 2026 by Mount</a:t>
            </a:r>
            <a:r>
              <a:rPr lang="zh-CN" altLang="en-US" sz="600" dirty="0">
                <a:solidFill>
                  <a:schemeClr val="bg1">
                    <a:lumMod val="65000"/>
                  </a:schemeClr>
                </a:solidFill>
                <a:latin typeface="Frutiger LT 45 Light" panose="020B0500000000000000" pitchFamily="34" charset="0"/>
                <a:ea typeface="+mj-ea"/>
              </a:rPr>
              <a:t> </a:t>
            </a:r>
            <a:r>
              <a:rPr lang="en-US" altLang="zh-CN" sz="600" dirty="0">
                <a:solidFill>
                  <a:schemeClr val="bg1">
                    <a:lumMod val="65000"/>
                  </a:schemeClr>
                </a:solidFill>
                <a:latin typeface="Frutiger LT 45 Light" panose="020B0500000000000000" pitchFamily="34" charset="0"/>
                <a:ea typeface="+mj-ea"/>
              </a:rPr>
              <a:t>Capital</a:t>
            </a:r>
            <a:r>
              <a:rPr lang="en-US" altLang="zh-CN" sz="600" baseline="0" dirty="0">
                <a:solidFill>
                  <a:schemeClr val="bg1">
                    <a:lumMod val="65000"/>
                  </a:schemeClr>
                </a:solidFill>
                <a:latin typeface="Frutiger LT 45 Light" panose="020B0500000000000000" pitchFamily="34" charset="0"/>
                <a:ea typeface="+mj-ea"/>
              </a:rPr>
              <a:t> </a:t>
            </a:r>
            <a:r>
              <a:rPr lang="en-US" altLang="zh-CN" sz="600" dirty="0">
                <a:solidFill>
                  <a:schemeClr val="bg1">
                    <a:lumMod val="65000"/>
                  </a:schemeClr>
                </a:solidFill>
                <a:latin typeface="Frutiger LT 45 Light" panose="020B0500000000000000" pitchFamily="34" charset="0"/>
                <a:ea typeface="+mj-ea"/>
              </a:rPr>
              <a:t> All rights reserved.  </a:t>
            </a:r>
            <a:r>
              <a:rPr lang="en-US" altLang="zh-CN" sz="600" b="1" dirty="0">
                <a:solidFill>
                  <a:srgbClr val="002D7D"/>
                </a:solidFill>
                <a:latin typeface="Frutiger LT 45 Light" panose="020B0500000000000000" pitchFamily="34" charset="0"/>
                <a:ea typeface="+mj-ea"/>
              </a:rPr>
              <a:t>STRICTLY CONFIDENTIAL</a:t>
            </a:r>
            <a:endParaRPr lang="zh-CN" altLang="en-US" sz="600" b="1" dirty="0">
              <a:solidFill>
                <a:srgbClr val="002D7D"/>
              </a:solidFill>
              <a:latin typeface="Frutiger LT 45 Light" panose="020B0500000000000000" pitchFamily="34" charset="0"/>
              <a:ea typeface="+mj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6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dk1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6" imgW="5080" imgH="5080" progId="TCLayout.ActiveDocument.1">
                  <p:embed/>
                </p:oleObj>
              </mc:Choice>
              <mc:Fallback>
                <p:oleObj name="think-cell 幻灯片" r:id="rId6" imgW="5080" imgH="5080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754123" y="237448"/>
            <a:ext cx="10515600" cy="5396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7B28F8DC-DCF4-4F80-9B24-57340EBBA9D2}" type="datetime1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18DB7695-A07D-4BCB-B41D-8E5B8A170798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451946" y="237448"/>
            <a:ext cx="115614" cy="539666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931CBD3-CEEA-A2C2-EEF3-1E38B40D108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41" y="6466175"/>
            <a:ext cx="802284" cy="288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AFF24C1-C6A7-1973-31FB-7BBF145D0CD1}"/>
              </a:ext>
            </a:extLst>
          </p:cNvPr>
          <p:cNvSpPr txBox="1"/>
          <p:nvPr userDrawn="1"/>
        </p:nvSpPr>
        <p:spPr>
          <a:xfrm rot="16200000">
            <a:off x="9175019" y="3642988"/>
            <a:ext cx="59245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dirty="0">
                <a:solidFill>
                  <a:schemeClr val="bg1">
                    <a:lumMod val="65000"/>
                  </a:schemeClr>
                </a:solidFill>
                <a:latin typeface="Frutiger LT 45 Light" panose="020B0500000000000000" pitchFamily="34" charset="0"/>
                <a:ea typeface="+mj-ea"/>
              </a:rPr>
              <a:t>Copyright © 2026 by Mount</a:t>
            </a:r>
            <a:r>
              <a:rPr lang="zh-CN" altLang="en-US" sz="600" dirty="0">
                <a:solidFill>
                  <a:schemeClr val="bg1">
                    <a:lumMod val="65000"/>
                  </a:schemeClr>
                </a:solidFill>
                <a:latin typeface="Frutiger LT 45 Light" panose="020B0500000000000000" pitchFamily="34" charset="0"/>
                <a:ea typeface="+mj-ea"/>
              </a:rPr>
              <a:t> </a:t>
            </a:r>
            <a:r>
              <a:rPr lang="en-US" altLang="zh-CN" sz="600" dirty="0">
                <a:solidFill>
                  <a:schemeClr val="bg1">
                    <a:lumMod val="65000"/>
                  </a:schemeClr>
                </a:solidFill>
                <a:latin typeface="Frutiger LT 45 Light" panose="020B0500000000000000" pitchFamily="34" charset="0"/>
                <a:ea typeface="+mj-ea"/>
              </a:rPr>
              <a:t>Capital</a:t>
            </a:r>
            <a:r>
              <a:rPr lang="en-US" altLang="zh-CN" sz="600" baseline="0" dirty="0">
                <a:solidFill>
                  <a:schemeClr val="bg1">
                    <a:lumMod val="65000"/>
                  </a:schemeClr>
                </a:solidFill>
                <a:latin typeface="Frutiger LT 45 Light" panose="020B0500000000000000" pitchFamily="34" charset="0"/>
                <a:ea typeface="+mj-ea"/>
              </a:rPr>
              <a:t> </a:t>
            </a:r>
            <a:r>
              <a:rPr lang="en-US" altLang="zh-CN" sz="600" dirty="0">
                <a:solidFill>
                  <a:schemeClr val="bg1">
                    <a:lumMod val="65000"/>
                  </a:schemeClr>
                </a:solidFill>
                <a:latin typeface="Frutiger LT 45 Light" panose="020B0500000000000000" pitchFamily="34" charset="0"/>
                <a:ea typeface="+mj-ea"/>
              </a:rPr>
              <a:t> All rights reserved.  </a:t>
            </a:r>
            <a:r>
              <a:rPr lang="en-US" altLang="zh-CN" sz="600" b="1" dirty="0">
                <a:solidFill>
                  <a:srgbClr val="002D7D"/>
                </a:solidFill>
                <a:latin typeface="Frutiger LT 45 Light" panose="020B0500000000000000" pitchFamily="34" charset="0"/>
                <a:ea typeface="+mj-ea"/>
              </a:rPr>
              <a:t>STRICTLY CONFIDENTIAL</a:t>
            </a:r>
            <a:endParaRPr lang="zh-CN" altLang="en-US" sz="600" b="1" dirty="0">
              <a:solidFill>
                <a:srgbClr val="002D7D"/>
              </a:solidFill>
              <a:latin typeface="Frutiger LT 45 Light" panose="020B0500000000000000" pitchFamily="34" charset="0"/>
              <a:ea typeface="+mj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dk1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1.jpeg"/><Relationship Id="rId12" Type="http://schemas.openxmlformats.org/officeDocument/2006/relationships/image" Target="../media/image10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.emf"/><Relationship Id="rId11" Type="http://schemas.openxmlformats.org/officeDocument/2006/relationships/image" Target="../media/image15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4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7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6" Type="http://schemas.openxmlformats.org/officeDocument/2006/relationships/image" Target="../media/image1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notesSlide" Target="../notesSlides/notesSlide9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tags" Target="../tags/tag36.xml"/><Relationship Id="rId26" Type="http://schemas.openxmlformats.org/officeDocument/2006/relationships/image" Target="../media/image33.png"/><Relationship Id="rId3" Type="http://schemas.openxmlformats.org/officeDocument/2006/relationships/tags" Target="../tags/tag21.xml"/><Relationship Id="rId21" Type="http://schemas.openxmlformats.org/officeDocument/2006/relationships/notesSlide" Target="../notesSlides/notesSlide1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5" Type="http://schemas.openxmlformats.org/officeDocument/2006/relationships/image" Target="../media/image32.png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slideLayout" Target="../slideLayouts/slideLayout5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24" Type="http://schemas.openxmlformats.org/officeDocument/2006/relationships/image" Target="../media/image31.png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23" Type="http://schemas.openxmlformats.org/officeDocument/2006/relationships/image" Target="../media/image1.emf"/><Relationship Id="rId10" Type="http://schemas.openxmlformats.org/officeDocument/2006/relationships/tags" Target="../tags/tag28.xml"/><Relationship Id="rId19" Type="http://schemas.openxmlformats.org/officeDocument/2006/relationships/tags" Target="../tags/tag37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Relationship Id="rId22" Type="http://schemas.openxmlformats.org/officeDocument/2006/relationships/oleObject" Target="../embeddings/oleObject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60398" y="1810516"/>
            <a:ext cx="4424948" cy="1123941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君柔科技</a:t>
            </a: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/>
          </p:nvPr>
        </p:nvSpPr>
        <p:spPr>
          <a:xfrm>
            <a:off x="660398" y="2934457"/>
            <a:ext cx="4155440" cy="423761"/>
          </a:xfrm>
        </p:spPr>
        <p:txBody>
          <a:bodyPr>
            <a:normAutofit/>
          </a:bodyPr>
          <a:lstStyle/>
          <a:p>
            <a:pPr fontAlgn="auto">
              <a:lnSpc>
                <a:spcPct val="100000"/>
              </a:lnSpc>
            </a:pPr>
            <a:r>
              <a:rPr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神经蠕虫</a:t>
            </a:r>
            <a:r>
              <a:rPr altLang="zh-CN" dirty="0">
                <a:sym typeface="+mn-ea"/>
              </a:rPr>
              <a:t>”——</a:t>
            </a:r>
            <a:r>
              <a:rPr lang="zh-CN" altLang="en-US" dirty="0"/>
              <a:t>仿生蠕行式动态电极：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7500"/>
          </a:bodyPr>
          <a:lstStyle/>
          <a:p>
            <a:r>
              <a:rPr lang="en-US" altLang="zh-CN" dirty="0"/>
              <a:t>- </a:t>
            </a:r>
            <a:r>
              <a:rPr lang="zh-CN" altLang="en-US" dirty="0"/>
              <a:t>中科院深圳先进院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7500"/>
          </a:bodyPr>
          <a:lstStyle/>
          <a:p>
            <a:pPr algn="l"/>
            <a:r>
              <a:rPr lang="en-US" altLang="zh-CN" dirty="0"/>
              <a:t>- Nature</a:t>
            </a:r>
            <a:r>
              <a:rPr lang="zh-CN" altLang="en-US" dirty="0"/>
              <a:t>发表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EE728-F87D-6F64-1269-7C7CE35C5F4B}"/>
              </a:ext>
            </a:extLst>
          </p:cNvPr>
          <p:cNvSpPr txBox="1"/>
          <p:nvPr/>
        </p:nvSpPr>
        <p:spPr>
          <a:xfrm>
            <a:off x="660398" y="3565043"/>
            <a:ext cx="3897315" cy="96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kern="1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中国团队原创的世界级领先技术</a:t>
            </a:r>
            <a:endParaRPr lang="en-US" altLang="zh-CN" sz="2000" b="1" kern="1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kern="1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重新定义脑机接口电极新范式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对象 1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5080" imgH="5080" progId="TCLayout.ActiveDocument.1">
                  <p:embed/>
                </p:oleObj>
              </mc:Choice>
              <mc:Fallback>
                <p:oleObj name="think-cell 幻灯片" r:id="rId4" imgW="5080" imgH="5080" progId="TCLayout.ActiveDocument.1">
                  <p:embed/>
                  <p:pic>
                    <p:nvPicPr>
                      <p:cNvPr id="0" name="对象 1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  <a:t>投资亮点</a:t>
            </a:r>
          </a:p>
        </p:txBody>
      </p:sp>
      <p:sp>
        <p:nvSpPr>
          <p:cNvPr id="2" name="矩形: 圆角 1"/>
          <p:cNvSpPr/>
          <p:nvPr/>
        </p:nvSpPr>
        <p:spPr>
          <a:xfrm>
            <a:off x="1691738" y="1237174"/>
            <a:ext cx="9148128" cy="612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>
                  <a:lumMod val="95000"/>
                  <a:alpha val="40000"/>
                </a:schemeClr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2385158" y="2124859"/>
            <a:ext cx="8462795" cy="675182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>
                  <a:lumMod val="95000"/>
                  <a:alpha val="40000"/>
                </a:schemeClr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887666" y="3022068"/>
            <a:ext cx="7966148" cy="66390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>
                  <a:lumMod val="95000"/>
                  <a:alpha val="40000"/>
                </a:schemeClr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2887668" y="3900228"/>
            <a:ext cx="7944942" cy="692227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>
                  <a:lumMod val="95000"/>
                  <a:alpha val="40000"/>
                </a:schemeClr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2385158" y="4797439"/>
            <a:ext cx="8462795" cy="66036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>
                  <a:lumMod val="95000"/>
                  <a:alpha val="40000"/>
                </a:schemeClr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691738" y="5694649"/>
            <a:ext cx="9148128" cy="74067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>
                  <a:lumMod val="95000"/>
                  <a:alpha val="40000"/>
                </a:schemeClr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4" name="文本框 16"/>
          <p:cNvSpPr txBox="1"/>
          <p:nvPr/>
        </p:nvSpPr>
        <p:spPr>
          <a:xfrm>
            <a:off x="2090398" y="1272193"/>
            <a:ext cx="8711529" cy="5497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 kern="100"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ym typeface="Arial" panose="020B0604020202020204" pitchFamily="34" charset="0"/>
              </a:rPr>
              <a:t>脑机接口是我国“十五五”六大未来产业之一，在医疗康复、人机交互、智能制造与国防安全等领域具有战略意义，更是下一代交互革命的突破技术</a:t>
            </a:r>
          </a:p>
        </p:txBody>
      </p:sp>
      <p:sp>
        <p:nvSpPr>
          <p:cNvPr id="31" name="文本框 20"/>
          <p:cNvSpPr txBox="1"/>
          <p:nvPr/>
        </p:nvSpPr>
        <p:spPr>
          <a:xfrm>
            <a:off x="2699272" y="2193755"/>
            <a:ext cx="8166208" cy="5497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 kern="100"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ym typeface="Arial" panose="020B0604020202020204" pitchFamily="34" charset="0"/>
              </a:rPr>
              <a:t>历经</a:t>
            </a:r>
            <a:r>
              <a:rPr lang="en-US" altLang="zh-CN" dirty="0">
                <a:sym typeface="Arial" panose="020B0604020202020204" pitchFamily="34" charset="0"/>
              </a:rPr>
              <a:t>5</a:t>
            </a:r>
            <a:r>
              <a:rPr lang="zh-CN" altLang="en-US" dirty="0">
                <a:sym typeface="Arial" panose="020B0604020202020204" pitchFamily="34" charset="0"/>
              </a:rPr>
              <a:t>年多协同攻关，研发出如头发丝般纤细、柔软可拉伸、可自由驱动的神经纤维电极</a:t>
            </a:r>
            <a:r>
              <a:rPr lang="en-US" altLang="zh-CN" dirty="0">
                <a:sym typeface="Arial" panose="020B0604020202020204" pitchFamily="34" charset="0"/>
              </a:rPr>
              <a:t>——</a:t>
            </a:r>
            <a:r>
              <a:rPr lang="en-US" altLang="zh-CN" dirty="0" err="1">
                <a:sym typeface="Arial" panose="020B0604020202020204" pitchFamily="34" charset="0"/>
              </a:rPr>
              <a:t>NeuroWorm</a:t>
            </a:r>
            <a:r>
              <a:rPr lang="zh-CN" altLang="en-US" dirty="0">
                <a:sym typeface="Arial" panose="020B0604020202020204" pitchFamily="34" charset="0"/>
              </a:rPr>
              <a:t>（神经蠕虫），研究成果在</a:t>
            </a:r>
            <a:r>
              <a:rPr lang="en-US" altLang="zh-CN" dirty="0">
                <a:sym typeface="Arial" panose="020B0604020202020204" pitchFamily="34" charset="0"/>
              </a:rPr>
              <a:t>《</a:t>
            </a:r>
            <a:r>
              <a:rPr lang="zh-CN" altLang="en-US" dirty="0">
                <a:sym typeface="Arial" panose="020B0604020202020204" pitchFamily="34" charset="0"/>
              </a:rPr>
              <a:t>自然</a:t>
            </a:r>
            <a:r>
              <a:rPr lang="en-US" altLang="zh-CN" dirty="0">
                <a:sym typeface="Arial" panose="020B0604020202020204" pitchFamily="34" charset="0"/>
              </a:rPr>
              <a:t>》</a:t>
            </a:r>
            <a:r>
              <a:rPr lang="zh-CN" altLang="en-US" dirty="0">
                <a:sym typeface="Arial" panose="020B0604020202020204" pitchFamily="34" charset="0"/>
              </a:rPr>
              <a:t>发表，打破了植入式电极的“静态”传统，为脑机接口电极的研究与应用开辟了新方向。</a:t>
            </a:r>
          </a:p>
        </p:txBody>
      </p:sp>
      <p:sp>
        <p:nvSpPr>
          <p:cNvPr id="33" name="文本框 24"/>
          <p:cNvSpPr txBox="1"/>
          <p:nvPr/>
        </p:nvSpPr>
        <p:spPr>
          <a:xfrm>
            <a:off x="3195942" y="3075206"/>
            <a:ext cx="7652011" cy="547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kern="100" dirty="0"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技术方案延展性极强，新一代电极方案有望突破信号采集、数据量瓶颈，全面实现人脑海量数据的获取和监测，同步突破现有调控和干预方式，进一步全面重新定义大脑读、写新范式。</a:t>
            </a:r>
          </a:p>
        </p:txBody>
      </p:sp>
      <p:sp>
        <p:nvSpPr>
          <p:cNvPr id="35" name="文本框 36"/>
          <p:cNvSpPr txBox="1"/>
          <p:nvPr/>
        </p:nvSpPr>
        <p:spPr>
          <a:xfrm>
            <a:off x="3183433" y="3955030"/>
            <a:ext cx="7618494" cy="5497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kern="100" dirty="0"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“神经蠕虫”系唯一中国团队原创、世界级领先方案，历经</a:t>
            </a:r>
            <a:r>
              <a:rPr lang="en-US" altLang="zh-CN" sz="1200" kern="100" dirty="0"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  <a:sym typeface="Arial" panose="020B0604020202020204" pitchFamily="34" charset="0"/>
              </a:rPr>
              <a:t>14</a:t>
            </a:r>
            <a:r>
              <a:rPr lang="zh-CN" altLang="en-US" sz="1200" kern="100" dirty="0"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年沉淀，融合材料、电极、算法、运动控制交叉学科成果，攻克系列工程学难题，技术方案具有极高壁垒。</a:t>
            </a:r>
          </a:p>
        </p:txBody>
      </p:sp>
      <p:sp>
        <p:nvSpPr>
          <p:cNvPr id="36" name="文本框 40"/>
          <p:cNvSpPr txBox="1"/>
          <p:nvPr/>
        </p:nvSpPr>
        <p:spPr>
          <a:xfrm>
            <a:off x="2682482" y="4869028"/>
            <a:ext cx="8119445" cy="5497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院士支持，由中科院深先院博导、三篇</a:t>
            </a:r>
            <a:r>
              <a:rPr kumimoji="1" lang="en-US" altLang="zh-CN" sz="12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《</a:t>
            </a:r>
            <a:r>
              <a:rPr kumimoji="1"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自然</a:t>
            </a:r>
            <a:r>
              <a:rPr kumimoji="1" lang="en-US" altLang="zh-CN" sz="12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》</a:t>
            </a:r>
            <a:r>
              <a:rPr kumimoji="1"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作者、可驱动的蠕虫状纤维电极首创者带队，集成工科技术、临床医学与产业化经验的跨学科团队，与积水潭医院等顶级医院级科研资源深度合作，积累众多专利与知识产权成果。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 Light" panose="020B0502040204020203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7" name="文本框 44"/>
          <p:cNvSpPr txBox="1"/>
          <p:nvPr/>
        </p:nvSpPr>
        <p:spPr>
          <a:xfrm>
            <a:off x="2039094" y="5799058"/>
            <a:ext cx="8793515" cy="547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肌电等柔软可拉伸电极、粘弹类渗透毛发电极等产品已与国外顶级企业合作，全面实现落地应用，</a:t>
            </a:r>
            <a:r>
              <a:rPr kumimoji="1" lang="en-US" altLang="zh-CN" sz="12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2027</a:t>
            </a:r>
            <a:r>
              <a:rPr kumimoji="1"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年收入有望突破千万元，衍生产品落地应用空间巨大。</a:t>
            </a:r>
          </a:p>
        </p:txBody>
      </p:sp>
      <p:grpSp>
        <p:nvGrpSpPr>
          <p:cNvPr id="38" name="Group 11"/>
          <p:cNvGrpSpPr>
            <a:grpSpLocks noChangeAspect="1"/>
          </p:cNvGrpSpPr>
          <p:nvPr/>
        </p:nvGrpSpPr>
        <p:grpSpPr>
          <a:xfrm>
            <a:off x="1338186" y="1248700"/>
            <a:ext cx="612000" cy="612001"/>
            <a:chOff x="2751316" y="1388740"/>
            <a:chExt cx="885600" cy="885600"/>
          </a:xfrm>
        </p:grpSpPr>
        <p:sp>
          <p:nvSpPr>
            <p:cNvPr id="70" name="Oval 6"/>
            <p:cNvSpPr>
              <a:spLocks noChangeAspect="1"/>
            </p:cNvSpPr>
            <p:nvPr/>
          </p:nvSpPr>
          <p:spPr>
            <a:xfrm>
              <a:off x="2754774" y="1401759"/>
              <a:ext cx="865655" cy="865148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Oval 2"/>
            <p:cNvSpPr>
              <a:spLocks noChangeAspect="1"/>
            </p:cNvSpPr>
            <p:nvPr/>
          </p:nvSpPr>
          <p:spPr>
            <a:xfrm>
              <a:off x="2848065" y="1485056"/>
              <a:ext cx="692104" cy="69297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+mj-cs"/>
                  <a:sym typeface="Arial" panose="020B0604020202020204" pitchFamily="34" charset="0"/>
                </a:rPr>
                <a:t>1</a:t>
              </a:r>
              <a:endParaRPr lang="en-US" sz="2400" b="1" i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+mj-cs"/>
                <a:sym typeface="Arial" panose="020B0604020202020204" pitchFamily="34" charset="0"/>
              </a:endParaRPr>
            </a:p>
          </p:txBody>
        </p:sp>
        <p:sp>
          <p:nvSpPr>
            <p:cNvPr id="72" name="Block Arc 9"/>
            <p:cNvSpPr/>
            <p:nvPr/>
          </p:nvSpPr>
          <p:spPr>
            <a:xfrm rot="16626942">
              <a:off x="2751316" y="1388740"/>
              <a:ext cx="885600" cy="885600"/>
            </a:xfrm>
            <a:prstGeom prst="blockArc">
              <a:avLst>
                <a:gd name="adj1" fmla="val 10862546"/>
                <a:gd name="adj2" fmla="val 62911"/>
                <a:gd name="adj3" fmla="val 41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3" name="Block Arc 10"/>
            <p:cNvSpPr/>
            <p:nvPr/>
          </p:nvSpPr>
          <p:spPr>
            <a:xfrm rot="11498756">
              <a:off x="2751316" y="1388740"/>
              <a:ext cx="885600" cy="885600"/>
            </a:xfrm>
            <a:prstGeom prst="blockArc">
              <a:avLst>
                <a:gd name="adj1" fmla="val 10862546"/>
                <a:gd name="adj2" fmla="val 62911"/>
                <a:gd name="adj3" fmla="val 41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9" name="Group 11"/>
          <p:cNvGrpSpPr>
            <a:grpSpLocks noChangeAspect="1"/>
          </p:cNvGrpSpPr>
          <p:nvPr/>
        </p:nvGrpSpPr>
        <p:grpSpPr>
          <a:xfrm>
            <a:off x="2023538" y="2135586"/>
            <a:ext cx="612001" cy="612002"/>
            <a:chOff x="2751315" y="1388739"/>
            <a:chExt cx="885601" cy="885601"/>
          </a:xfrm>
        </p:grpSpPr>
        <p:sp>
          <p:nvSpPr>
            <p:cNvPr id="66" name="Oval 6"/>
            <p:cNvSpPr>
              <a:spLocks noChangeAspect="1"/>
            </p:cNvSpPr>
            <p:nvPr/>
          </p:nvSpPr>
          <p:spPr>
            <a:xfrm>
              <a:off x="2754774" y="1401759"/>
              <a:ext cx="865655" cy="865148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Oval 2"/>
            <p:cNvSpPr>
              <a:spLocks noChangeAspect="1"/>
            </p:cNvSpPr>
            <p:nvPr/>
          </p:nvSpPr>
          <p:spPr>
            <a:xfrm>
              <a:off x="2848065" y="1485056"/>
              <a:ext cx="692104" cy="69297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+mj-cs"/>
                  <a:sym typeface="Arial" panose="020B0604020202020204" pitchFamily="34" charset="0"/>
                </a:rPr>
                <a:t>2</a:t>
              </a:r>
              <a:endParaRPr lang="en-US" sz="2400" b="1" i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+mj-cs"/>
                <a:sym typeface="Arial" panose="020B0604020202020204" pitchFamily="34" charset="0"/>
              </a:endParaRPr>
            </a:p>
          </p:txBody>
        </p:sp>
        <p:sp>
          <p:nvSpPr>
            <p:cNvPr id="68" name="Block Arc 9"/>
            <p:cNvSpPr/>
            <p:nvPr/>
          </p:nvSpPr>
          <p:spPr>
            <a:xfrm rot="16626942">
              <a:off x="2751316" y="1388740"/>
              <a:ext cx="885600" cy="885600"/>
            </a:xfrm>
            <a:prstGeom prst="blockArc">
              <a:avLst>
                <a:gd name="adj1" fmla="val 10862546"/>
                <a:gd name="adj2" fmla="val 62911"/>
                <a:gd name="adj3" fmla="val 41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9" name="Block Arc 10"/>
            <p:cNvSpPr/>
            <p:nvPr/>
          </p:nvSpPr>
          <p:spPr>
            <a:xfrm rot="11498756">
              <a:off x="2751315" y="1388739"/>
              <a:ext cx="885600" cy="885600"/>
            </a:xfrm>
            <a:prstGeom prst="blockArc">
              <a:avLst>
                <a:gd name="adj1" fmla="val 10862546"/>
                <a:gd name="adj2" fmla="val 62911"/>
                <a:gd name="adj3" fmla="val 41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0" name="Group 11"/>
          <p:cNvGrpSpPr>
            <a:grpSpLocks noChangeAspect="1"/>
          </p:cNvGrpSpPr>
          <p:nvPr/>
        </p:nvGrpSpPr>
        <p:grpSpPr>
          <a:xfrm>
            <a:off x="2518357" y="3022472"/>
            <a:ext cx="612000" cy="612001"/>
            <a:chOff x="2751316" y="1388740"/>
            <a:chExt cx="885600" cy="885600"/>
          </a:xfrm>
        </p:grpSpPr>
        <p:sp>
          <p:nvSpPr>
            <p:cNvPr id="62" name="Oval 6"/>
            <p:cNvSpPr>
              <a:spLocks noChangeAspect="1"/>
            </p:cNvSpPr>
            <p:nvPr/>
          </p:nvSpPr>
          <p:spPr>
            <a:xfrm>
              <a:off x="2754774" y="1401759"/>
              <a:ext cx="865655" cy="865148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3" name="Oval 2"/>
            <p:cNvSpPr>
              <a:spLocks noChangeAspect="1"/>
            </p:cNvSpPr>
            <p:nvPr/>
          </p:nvSpPr>
          <p:spPr>
            <a:xfrm>
              <a:off x="2848065" y="1485056"/>
              <a:ext cx="692104" cy="69297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+mj-cs"/>
                  <a:sym typeface="Arial" panose="020B0604020202020204" pitchFamily="34" charset="0"/>
                </a:rPr>
                <a:t>3</a:t>
              </a:r>
              <a:endParaRPr lang="en-US" sz="2400" b="1" i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+mj-cs"/>
                <a:sym typeface="Arial" panose="020B0604020202020204" pitchFamily="34" charset="0"/>
              </a:endParaRPr>
            </a:p>
          </p:txBody>
        </p:sp>
        <p:sp>
          <p:nvSpPr>
            <p:cNvPr id="64" name="Block Arc 9"/>
            <p:cNvSpPr/>
            <p:nvPr/>
          </p:nvSpPr>
          <p:spPr>
            <a:xfrm rot="16626942">
              <a:off x="2751316" y="1388740"/>
              <a:ext cx="885600" cy="885600"/>
            </a:xfrm>
            <a:prstGeom prst="blockArc">
              <a:avLst>
                <a:gd name="adj1" fmla="val 10862546"/>
                <a:gd name="adj2" fmla="val 62911"/>
                <a:gd name="adj3" fmla="val 41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5" name="Block Arc 10"/>
            <p:cNvSpPr/>
            <p:nvPr/>
          </p:nvSpPr>
          <p:spPr>
            <a:xfrm rot="11498756">
              <a:off x="2751316" y="1388740"/>
              <a:ext cx="885600" cy="885600"/>
            </a:xfrm>
            <a:prstGeom prst="blockArc">
              <a:avLst>
                <a:gd name="adj1" fmla="val 10862546"/>
                <a:gd name="adj2" fmla="val 62911"/>
                <a:gd name="adj3" fmla="val 41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1" name="Group 11"/>
          <p:cNvGrpSpPr>
            <a:grpSpLocks noChangeAspect="1"/>
          </p:cNvGrpSpPr>
          <p:nvPr/>
        </p:nvGrpSpPr>
        <p:grpSpPr>
          <a:xfrm>
            <a:off x="2518357" y="3909358"/>
            <a:ext cx="612000" cy="612001"/>
            <a:chOff x="2751316" y="1388740"/>
            <a:chExt cx="885600" cy="885600"/>
          </a:xfrm>
        </p:grpSpPr>
        <p:sp>
          <p:nvSpPr>
            <p:cNvPr id="58" name="Oval 6"/>
            <p:cNvSpPr>
              <a:spLocks noChangeAspect="1"/>
            </p:cNvSpPr>
            <p:nvPr/>
          </p:nvSpPr>
          <p:spPr>
            <a:xfrm>
              <a:off x="2754774" y="1401759"/>
              <a:ext cx="865655" cy="865148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Oval 2"/>
            <p:cNvSpPr>
              <a:spLocks noChangeAspect="1"/>
            </p:cNvSpPr>
            <p:nvPr/>
          </p:nvSpPr>
          <p:spPr>
            <a:xfrm>
              <a:off x="2848065" y="1485056"/>
              <a:ext cx="692104" cy="69297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+mj-cs"/>
                  <a:sym typeface="Arial" panose="020B0604020202020204" pitchFamily="34" charset="0"/>
                </a:rPr>
                <a:t>4</a:t>
              </a:r>
              <a:endParaRPr lang="en-US" sz="2400" b="1" i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+mj-cs"/>
                <a:sym typeface="Arial" panose="020B0604020202020204" pitchFamily="34" charset="0"/>
              </a:endParaRPr>
            </a:p>
          </p:txBody>
        </p:sp>
        <p:sp>
          <p:nvSpPr>
            <p:cNvPr id="60" name="Block Arc 9"/>
            <p:cNvSpPr/>
            <p:nvPr/>
          </p:nvSpPr>
          <p:spPr>
            <a:xfrm rot="16626942">
              <a:off x="2751316" y="1388740"/>
              <a:ext cx="885600" cy="885600"/>
            </a:xfrm>
            <a:prstGeom prst="blockArc">
              <a:avLst>
                <a:gd name="adj1" fmla="val 10862546"/>
                <a:gd name="adj2" fmla="val 62911"/>
                <a:gd name="adj3" fmla="val 41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Block Arc 10"/>
            <p:cNvSpPr/>
            <p:nvPr/>
          </p:nvSpPr>
          <p:spPr>
            <a:xfrm rot="11498756">
              <a:off x="2751316" y="1388740"/>
              <a:ext cx="885600" cy="885600"/>
            </a:xfrm>
            <a:prstGeom prst="blockArc">
              <a:avLst>
                <a:gd name="adj1" fmla="val 10862546"/>
                <a:gd name="adj2" fmla="val 62911"/>
                <a:gd name="adj3" fmla="val 41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2" name="Group 11"/>
          <p:cNvGrpSpPr>
            <a:grpSpLocks noChangeAspect="1"/>
          </p:cNvGrpSpPr>
          <p:nvPr/>
        </p:nvGrpSpPr>
        <p:grpSpPr>
          <a:xfrm>
            <a:off x="2025928" y="4795750"/>
            <a:ext cx="612000" cy="612001"/>
            <a:chOff x="2751316" y="1388740"/>
            <a:chExt cx="885600" cy="885600"/>
          </a:xfrm>
        </p:grpSpPr>
        <p:sp>
          <p:nvSpPr>
            <p:cNvPr id="54" name="Oval 6"/>
            <p:cNvSpPr>
              <a:spLocks noChangeAspect="1"/>
            </p:cNvSpPr>
            <p:nvPr/>
          </p:nvSpPr>
          <p:spPr>
            <a:xfrm>
              <a:off x="2754774" y="1401759"/>
              <a:ext cx="865655" cy="865148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5" name="Oval 2"/>
            <p:cNvSpPr>
              <a:spLocks noChangeAspect="1"/>
            </p:cNvSpPr>
            <p:nvPr/>
          </p:nvSpPr>
          <p:spPr>
            <a:xfrm>
              <a:off x="2848065" y="1485056"/>
              <a:ext cx="692104" cy="692969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+mj-cs"/>
                  <a:sym typeface="Arial" panose="020B0604020202020204" pitchFamily="34" charset="0"/>
                </a:rPr>
                <a:t>5</a:t>
              </a:r>
              <a:endParaRPr lang="en-US" sz="2400" b="1" i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+mj-cs"/>
                <a:sym typeface="Arial" panose="020B0604020202020204" pitchFamily="34" charset="0"/>
              </a:endParaRPr>
            </a:p>
          </p:txBody>
        </p:sp>
        <p:sp>
          <p:nvSpPr>
            <p:cNvPr id="56" name="Block Arc 9"/>
            <p:cNvSpPr/>
            <p:nvPr/>
          </p:nvSpPr>
          <p:spPr>
            <a:xfrm rot="16626942">
              <a:off x="2751316" y="1388740"/>
              <a:ext cx="885600" cy="885600"/>
            </a:xfrm>
            <a:prstGeom prst="blockArc">
              <a:avLst>
                <a:gd name="adj1" fmla="val 10862546"/>
                <a:gd name="adj2" fmla="val 62911"/>
                <a:gd name="adj3" fmla="val 41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7" name="Block Arc 10"/>
            <p:cNvSpPr/>
            <p:nvPr/>
          </p:nvSpPr>
          <p:spPr>
            <a:xfrm rot="11498756">
              <a:off x="2751316" y="1388740"/>
              <a:ext cx="885600" cy="885600"/>
            </a:xfrm>
            <a:prstGeom prst="blockArc">
              <a:avLst>
                <a:gd name="adj1" fmla="val 10862546"/>
                <a:gd name="adj2" fmla="val 62911"/>
                <a:gd name="adj3" fmla="val 41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3" name="Group 11"/>
          <p:cNvGrpSpPr>
            <a:grpSpLocks noChangeAspect="1"/>
          </p:cNvGrpSpPr>
          <p:nvPr/>
        </p:nvGrpSpPr>
        <p:grpSpPr>
          <a:xfrm>
            <a:off x="1333684" y="5694650"/>
            <a:ext cx="612000" cy="612001"/>
            <a:chOff x="2751316" y="1388740"/>
            <a:chExt cx="885600" cy="885600"/>
          </a:xfrm>
        </p:grpSpPr>
        <p:sp>
          <p:nvSpPr>
            <p:cNvPr id="44" name="Oval 6"/>
            <p:cNvSpPr>
              <a:spLocks noChangeAspect="1"/>
            </p:cNvSpPr>
            <p:nvPr/>
          </p:nvSpPr>
          <p:spPr>
            <a:xfrm>
              <a:off x="2754774" y="1401759"/>
              <a:ext cx="865655" cy="865148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" name="Oval 2"/>
            <p:cNvSpPr>
              <a:spLocks noChangeAspect="1"/>
            </p:cNvSpPr>
            <p:nvPr/>
          </p:nvSpPr>
          <p:spPr>
            <a:xfrm>
              <a:off x="2848065" y="1485056"/>
              <a:ext cx="692104" cy="69297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+mj-cs"/>
                  <a:sym typeface="Arial" panose="020B0604020202020204" pitchFamily="34" charset="0"/>
                </a:rPr>
                <a:t>6</a:t>
              </a:r>
              <a:endParaRPr lang="en-US" sz="2400" b="1" i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+mj-cs"/>
                <a:sym typeface="Arial" panose="020B0604020202020204" pitchFamily="34" charset="0"/>
              </a:endParaRPr>
            </a:p>
          </p:txBody>
        </p:sp>
        <p:sp>
          <p:nvSpPr>
            <p:cNvPr id="52" name="Block Arc 9"/>
            <p:cNvSpPr/>
            <p:nvPr/>
          </p:nvSpPr>
          <p:spPr>
            <a:xfrm rot="16626942">
              <a:off x="2751316" y="1388740"/>
              <a:ext cx="885600" cy="885600"/>
            </a:xfrm>
            <a:prstGeom prst="blockArc">
              <a:avLst>
                <a:gd name="adj1" fmla="val 10862546"/>
                <a:gd name="adj2" fmla="val 62911"/>
                <a:gd name="adj3" fmla="val 41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3" name="Block Arc 10"/>
            <p:cNvSpPr/>
            <p:nvPr/>
          </p:nvSpPr>
          <p:spPr>
            <a:xfrm rot="11498756">
              <a:off x="2751316" y="1388740"/>
              <a:ext cx="885600" cy="885600"/>
            </a:xfrm>
            <a:prstGeom prst="blockArc">
              <a:avLst>
                <a:gd name="adj1" fmla="val 10862546"/>
                <a:gd name="adj2" fmla="val 62911"/>
                <a:gd name="adj3" fmla="val 417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2090397" y="1010826"/>
            <a:ext cx="86965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国家战略级未来产业赛道，脑机接口驱动医疗与人机交互变革</a:t>
            </a:r>
            <a:endParaRPr lang="zh-CN" altLang="en-US" sz="1600" dirty="0"/>
          </a:p>
        </p:txBody>
      </p:sp>
      <p:sp>
        <p:nvSpPr>
          <p:cNvPr id="76" name="文本框 75"/>
          <p:cNvSpPr txBox="1"/>
          <p:nvPr/>
        </p:nvSpPr>
        <p:spPr>
          <a:xfrm>
            <a:off x="2688614" y="1897425"/>
            <a:ext cx="7515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突破传统植入式路径的柔性可驱动神经纤维电极新范式</a:t>
            </a:r>
            <a:endParaRPr lang="zh-CN" altLang="en-US" sz="1600" dirty="0"/>
          </a:p>
        </p:txBody>
      </p:sp>
      <p:sp>
        <p:nvSpPr>
          <p:cNvPr id="77" name="文本框 76"/>
          <p:cNvSpPr txBox="1"/>
          <p:nvPr/>
        </p:nvSpPr>
        <p:spPr>
          <a:xfrm>
            <a:off x="3165907" y="2814253"/>
            <a:ext cx="76667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面向全脑数据的终极技术方案，重构脑信息采集与读写方式</a:t>
            </a:r>
            <a:endParaRPr lang="zh-CN" altLang="en-US" sz="1600" dirty="0"/>
          </a:p>
        </p:txBody>
      </p:sp>
      <p:sp>
        <p:nvSpPr>
          <p:cNvPr id="78" name="文本框 77"/>
          <p:cNvSpPr txBox="1"/>
          <p:nvPr/>
        </p:nvSpPr>
        <p:spPr>
          <a:xfrm>
            <a:off x="3195941" y="3697038"/>
            <a:ext cx="74832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长期沉淀形成的多学科交叉创新体系，构建高技术壁垒</a:t>
            </a:r>
            <a:endParaRPr lang="zh-CN" altLang="en-US" sz="1600" dirty="0"/>
          </a:p>
        </p:txBody>
      </p:sp>
      <p:sp>
        <p:nvSpPr>
          <p:cNvPr id="79" name="文本框 78"/>
          <p:cNvSpPr txBox="1"/>
          <p:nvPr/>
        </p:nvSpPr>
        <p:spPr>
          <a:xfrm>
            <a:off x="2635538" y="4577311"/>
            <a:ext cx="63239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重磅科研团队与临床合作伙伴，持续产出领先成果与专利</a:t>
            </a:r>
            <a:endParaRPr lang="zh-CN" altLang="en-US" sz="1600" dirty="0"/>
          </a:p>
        </p:txBody>
      </p:sp>
      <p:sp>
        <p:nvSpPr>
          <p:cNvPr id="80" name="文本框 79"/>
          <p:cNvSpPr txBox="1"/>
          <p:nvPr/>
        </p:nvSpPr>
        <p:spPr>
          <a:xfrm>
            <a:off x="2044452" y="5493731"/>
            <a:ext cx="78126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经济价值显著，已形成成熟可落地方案，预计</a:t>
            </a:r>
            <a:r>
              <a:rPr lang="en-US" altLang="zh-CN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2027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年实现千万收入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7695-A07D-4BCB-B41D-8E5B8A17079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96163" y="308765"/>
            <a:ext cx="10948630" cy="397032"/>
          </a:xfr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+mn-cs"/>
              </a:rPr>
              <a:t>事关重大疾病突破乃至人机交互的终极未来，脑机接口是最具想象力的超级未来产业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1367895" y="874768"/>
            <a:ext cx="2580897" cy="2316861"/>
            <a:chOff x="620198" y="1362594"/>
            <a:chExt cx="2580897" cy="2316861"/>
          </a:xfrm>
        </p:grpSpPr>
        <p:sp>
          <p:nvSpPr>
            <p:cNvPr id="34" name="圆角矩形 208"/>
            <p:cNvSpPr/>
            <p:nvPr/>
          </p:nvSpPr>
          <p:spPr>
            <a:xfrm>
              <a:off x="620198" y="1362594"/>
              <a:ext cx="2580897" cy="2316861"/>
            </a:xfrm>
            <a:prstGeom prst="roundRect">
              <a:avLst>
                <a:gd name="adj" fmla="val 7400"/>
              </a:avLst>
            </a:prstGeom>
            <a:solidFill>
              <a:srgbClr val="FFFFFF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文本框 209"/>
            <p:cNvSpPr txBox="1"/>
            <p:nvPr/>
          </p:nvSpPr>
          <p:spPr>
            <a:xfrm>
              <a:off x="976707" y="1521540"/>
              <a:ext cx="1867877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重大疾病治疗与康复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2873" y="1905410"/>
              <a:ext cx="1980387" cy="1587748"/>
            </a:xfrm>
            <a:prstGeom prst="rect">
              <a:avLst/>
            </a:prstGeom>
          </p:spPr>
        </p:pic>
      </p:grpSp>
      <p:grpSp>
        <p:nvGrpSpPr>
          <p:cNvPr id="41" name="组合 40"/>
          <p:cNvGrpSpPr/>
          <p:nvPr/>
        </p:nvGrpSpPr>
        <p:grpSpPr>
          <a:xfrm>
            <a:off x="7960544" y="874768"/>
            <a:ext cx="2580897" cy="2316861"/>
            <a:chOff x="1145620" y="3366974"/>
            <a:chExt cx="2580897" cy="2316861"/>
          </a:xfrm>
        </p:grpSpPr>
        <p:grpSp>
          <p:nvGrpSpPr>
            <p:cNvPr id="37" name="组合 36"/>
            <p:cNvGrpSpPr/>
            <p:nvPr/>
          </p:nvGrpSpPr>
          <p:grpSpPr>
            <a:xfrm>
              <a:off x="1145620" y="3366974"/>
              <a:ext cx="2580897" cy="2316861"/>
              <a:chOff x="620198" y="1362594"/>
              <a:chExt cx="2580897" cy="2316861"/>
            </a:xfrm>
          </p:grpSpPr>
          <p:sp>
            <p:nvSpPr>
              <p:cNvPr id="38" name="圆角矩形 208"/>
              <p:cNvSpPr/>
              <p:nvPr/>
            </p:nvSpPr>
            <p:spPr>
              <a:xfrm>
                <a:off x="620198" y="1362594"/>
                <a:ext cx="2580897" cy="2316861"/>
              </a:xfrm>
              <a:prstGeom prst="roundRect">
                <a:avLst>
                  <a:gd name="adj" fmla="val 7400"/>
                </a:avLst>
              </a:pr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dirty="0"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9" name="文本框 209"/>
              <p:cNvSpPr txBox="1"/>
              <p:nvPr/>
            </p:nvSpPr>
            <p:spPr>
              <a:xfrm>
                <a:off x="976707" y="1521540"/>
                <a:ext cx="18678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 Light" panose="020B0502040204020203" pitchFamily="34" charset="-122"/>
                    <a:sym typeface="Arial" panose="020B0604020202020204" pitchFamily="34" charset="0"/>
                  </a:rPr>
                  <a:t>协同操控</a:t>
                </a:r>
              </a:p>
            </p:txBody>
          </p:sp>
        </p:grp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4"/>
            <a:srcRect l="18503"/>
            <a:stretch>
              <a:fillRect/>
            </a:stretch>
          </p:blipFill>
          <p:spPr>
            <a:xfrm>
              <a:off x="1452499" y="3898104"/>
              <a:ext cx="1980386" cy="1609806"/>
            </a:xfrm>
            <a:prstGeom prst="rect">
              <a:avLst/>
            </a:prstGeom>
          </p:spPr>
        </p:pic>
      </p:grpSp>
      <p:sp>
        <p:nvSpPr>
          <p:cNvPr id="46" name="ïṡľîḓe"/>
          <p:cNvSpPr/>
          <p:nvPr/>
        </p:nvSpPr>
        <p:spPr bwMode="auto">
          <a:xfrm>
            <a:off x="5385008" y="5455275"/>
            <a:ext cx="1805562" cy="379264"/>
          </a:xfrm>
          <a:prstGeom prst="round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脑机接口</a:t>
            </a:r>
          </a:p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应用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4729901" y="3480948"/>
            <a:ext cx="2580897" cy="2316861"/>
            <a:chOff x="620198" y="1362594"/>
            <a:chExt cx="2580897" cy="2316861"/>
          </a:xfrm>
        </p:grpSpPr>
        <p:sp>
          <p:nvSpPr>
            <p:cNvPr id="48" name="圆角矩形 208"/>
            <p:cNvSpPr/>
            <p:nvPr/>
          </p:nvSpPr>
          <p:spPr>
            <a:xfrm>
              <a:off x="620198" y="1362594"/>
              <a:ext cx="2580897" cy="2316861"/>
            </a:xfrm>
            <a:prstGeom prst="roundRect">
              <a:avLst>
                <a:gd name="adj" fmla="val 7400"/>
              </a:avLst>
            </a:prstGeom>
            <a:solidFill>
              <a:srgbClr val="FFFFFF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文本框 209"/>
            <p:cNvSpPr txBox="1"/>
            <p:nvPr/>
          </p:nvSpPr>
          <p:spPr>
            <a:xfrm>
              <a:off x="1007441" y="1517453"/>
              <a:ext cx="1867877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改善情绪</a:t>
              </a:r>
            </a:p>
          </p:txBody>
        </p:sp>
      </p:grpSp>
      <p:grpSp>
        <p:nvGrpSpPr>
          <p:cNvPr id="21508" name="组合 21507"/>
          <p:cNvGrpSpPr/>
          <p:nvPr/>
        </p:nvGrpSpPr>
        <p:grpSpPr>
          <a:xfrm>
            <a:off x="4664219" y="843224"/>
            <a:ext cx="2580897" cy="2353591"/>
            <a:chOff x="8955886" y="1301351"/>
            <a:chExt cx="2580897" cy="2353591"/>
          </a:xfrm>
        </p:grpSpPr>
        <p:sp>
          <p:nvSpPr>
            <p:cNvPr id="51" name="ïṡľîḓe"/>
            <p:cNvSpPr/>
            <p:nvPr/>
          </p:nvSpPr>
          <p:spPr bwMode="auto">
            <a:xfrm>
              <a:off x="9610993" y="3275678"/>
              <a:ext cx="1805562" cy="379264"/>
            </a:xfrm>
            <a:prstGeom prst="roundRect">
              <a:avLst/>
            </a:prstGeom>
            <a:noFill/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脑机接口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应用</a:t>
              </a: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8955886" y="1301351"/>
              <a:ext cx="2580897" cy="2316861"/>
              <a:chOff x="620198" y="1362594"/>
              <a:chExt cx="2580897" cy="2316861"/>
            </a:xfrm>
          </p:grpSpPr>
          <p:sp>
            <p:nvSpPr>
              <p:cNvPr id="54" name="圆角矩形 208"/>
              <p:cNvSpPr/>
              <p:nvPr/>
            </p:nvSpPr>
            <p:spPr>
              <a:xfrm>
                <a:off x="620198" y="1362594"/>
                <a:ext cx="2580897" cy="2316861"/>
              </a:xfrm>
              <a:prstGeom prst="roundRect">
                <a:avLst>
                  <a:gd name="adj" fmla="val 7400"/>
                </a:avLst>
              </a:pr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dirty="0"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5" name="文本框 209"/>
              <p:cNvSpPr txBox="1"/>
              <p:nvPr/>
            </p:nvSpPr>
            <p:spPr>
              <a:xfrm>
                <a:off x="1007441" y="1565765"/>
                <a:ext cx="1867877" cy="307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 Light" panose="020B0502040204020203" pitchFamily="34" charset="-122"/>
                    <a:sym typeface="Arial" panose="020B0604020202020204" pitchFamily="34" charset="0"/>
                  </a:rPr>
                  <a:t>军事与国防安全</a:t>
                </a:r>
              </a:p>
            </p:txBody>
          </p:sp>
        </p:grpSp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5"/>
            <a:srcRect r="11740" b="1150"/>
            <a:stretch>
              <a:fillRect/>
            </a:stretch>
          </p:blipFill>
          <p:spPr>
            <a:xfrm>
              <a:off x="9256286" y="1904950"/>
              <a:ext cx="2041565" cy="1437458"/>
            </a:xfrm>
            <a:prstGeom prst="rect">
              <a:avLst/>
            </a:prstGeom>
          </p:spPr>
        </p:pic>
      </p:grpSp>
      <p:sp>
        <p:nvSpPr>
          <p:cNvPr id="57" name="ïṡľîḓe"/>
          <p:cNvSpPr/>
          <p:nvPr/>
        </p:nvSpPr>
        <p:spPr bwMode="auto">
          <a:xfrm>
            <a:off x="2075184" y="5455275"/>
            <a:ext cx="1805562" cy="379264"/>
          </a:xfrm>
          <a:prstGeom prst="round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脑机接口</a:t>
            </a:r>
          </a:p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应用</a:t>
            </a:r>
          </a:p>
        </p:txBody>
      </p:sp>
      <p:sp>
        <p:nvSpPr>
          <p:cNvPr id="58" name="文本框 8"/>
          <p:cNvSpPr txBox="1"/>
          <p:nvPr/>
        </p:nvSpPr>
        <p:spPr>
          <a:xfrm>
            <a:off x="2250296" y="5155406"/>
            <a:ext cx="1306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脑机接口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应用领域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1420077" y="3480948"/>
            <a:ext cx="2580897" cy="2316861"/>
            <a:chOff x="620198" y="1362594"/>
            <a:chExt cx="2580897" cy="2316861"/>
          </a:xfrm>
        </p:grpSpPr>
        <p:sp>
          <p:nvSpPr>
            <p:cNvPr id="60" name="圆角矩形 208"/>
            <p:cNvSpPr/>
            <p:nvPr/>
          </p:nvSpPr>
          <p:spPr>
            <a:xfrm>
              <a:off x="620198" y="1362594"/>
              <a:ext cx="2580897" cy="2316861"/>
            </a:xfrm>
            <a:prstGeom prst="roundRect">
              <a:avLst>
                <a:gd name="adj" fmla="val 7400"/>
              </a:avLst>
            </a:prstGeom>
            <a:solidFill>
              <a:srgbClr val="FFFFFF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文本框 209"/>
            <p:cNvSpPr txBox="1"/>
            <p:nvPr/>
          </p:nvSpPr>
          <p:spPr>
            <a:xfrm>
              <a:off x="1007441" y="1517453"/>
              <a:ext cx="1867877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认知增强</a:t>
              </a:r>
            </a:p>
          </p:txBody>
        </p:sp>
      </p:grpSp>
      <p:sp>
        <p:nvSpPr>
          <p:cNvPr id="63" name="ïṡľîḓe"/>
          <p:cNvSpPr/>
          <p:nvPr/>
        </p:nvSpPr>
        <p:spPr bwMode="auto">
          <a:xfrm>
            <a:off x="8650159" y="5446864"/>
            <a:ext cx="1805562" cy="379264"/>
          </a:xfrm>
          <a:prstGeom prst="round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脑机接口</a:t>
            </a:r>
          </a:p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应用</a:t>
            </a:r>
          </a:p>
        </p:txBody>
      </p:sp>
      <p:grpSp>
        <p:nvGrpSpPr>
          <p:cNvPr id="21504" name="组合 21503"/>
          <p:cNvGrpSpPr/>
          <p:nvPr/>
        </p:nvGrpSpPr>
        <p:grpSpPr>
          <a:xfrm>
            <a:off x="7972605" y="3472537"/>
            <a:ext cx="2603344" cy="2316861"/>
            <a:chOff x="597751" y="1362594"/>
            <a:chExt cx="2603344" cy="2316861"/>
          </a:xfrm>
        </p:grpSpPr>
        <p:sp>
          <p:nvSpPr>
            <p:cNvPr id="21505" name="圆角矩形 208"/>
            <p:cNvSpPr/>
            <p:nvPr/>
          </p:nvSpPr>
          <p:spPr>
            <a:xfrm>
              <a:off x="620198" y="1362594"/>
              <a:ext cx="2580897" cy="2316861"/>
            </a:xfrm>
            <a:prstGeom prst="roundRect">
              <a:avLst>
                <a:gd name="adj" fmla="val 7400"/>
              </a:avLst>
            </a:prstGeom>
            <a:solidFill>
              <a:srgbClr val="FFFFFF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506" name="文本框 209"/>
            <p:cNvSpPr txBox="1"/>
            <p:nvPr/>
          </p:nvSpPr>
          <p:spPr>
            <a:xfrm>
              <a:off x="597751" y="1517453"/>
              <a:ext cx="25808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人机交互与混合智能</a:t>
              </a: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rcRect l="13484" t="-2878" r="8511"/>
          <a:stretch>
            <a:fillRect/>
          </a:stretch>
        </p:blipFill>
        <p:spPr>
          <a:xfrm>
            <a:off x="8261871" y="3960268"/>
            <a:ext cx="2002359" cy="1588704"/>
          </a:xfrm>
          <a:prstGeom prst="rect">
            <a:avLst/>
          </a:prstGeom>
        </p:spPr>
      </p:pic>
      <p:pic>
        <p:nvPicPr>
          <p:cNvPr id="21511" name="图片 21510" descr="图片包含 动物, 玻璃, 游戏机, 桌子&#10;&#10;AI 生成的内容可能不正确。"/>
          <p:cNvPicPr/>
          <p:nvPr/>
        </p:nvPicPr>
        <p:blipFill>
          <a:blip r:embed="rId7"/>
          <a:srcRect l="11481"/>
          <a:stretch>
            <a:fillRect/>
          </a:stretch>
        </p:blipFill>
        <p:spPr>
          <a:xfrm>
            <a:off x="1702516" y="4058001"/>
            <a:ext cx="1960501" cy="1490971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051" y="4092158"/>
            <a:ext cx="1991048" cy="149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12" name="文本框 21511"/>
          <p:cNvSpPr txBox="1"/>
          <p:nvPr/>
        </p:nvSpPr>
        <p:spPr>
          <a:xfrm>
            <a:off x="1856314" y="5973044"/>
            <a:ext cx="8514360" cy="3820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+mn-ea"/>
              </a:rPr>
              <a:t>最终实现硅基智能与碳基生命深度融合，脑机接口正开启人类能力进化与人机共生的终极未来</a:t>
            </a:r>
            <a:endParaRPr lang="en-US" altLang="zh-CN" sz="1600" b="1" dirty="0">
              <a:solidFill>
                <a:schemeClr val="accent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+mn-ea"/>
            </a:endParaRPr>
          </a:p>
        </p:txBody>
      </p:sp>
      <p:cxnSp>
        <p:nvCxnSpPr>
          <p:cNvPr id="21513" name="Straight Connector 5"/>
          <p:cNvCxnSpPr/>
          <p:nvPr/>
        </p:nvCxnSpPr>
        <p:spPr>
          <a:xfrm>
            <a:off x="1184930" y="5921849"/>
            <a:ext cx="9000000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chemeClr val="accent1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68315" dist="31867" dir="3960000" sx="92623" sy="92623" algn="ctr" rotWithShape="0">
              <a:schemeClr val="tx1">
                <a:lumMod val="50000"/>
                <a:lumOff val="50000"/>
                <a:alpha val="34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4122" y="237448"/>
            <a:ext cx="10701277" cy="53966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脑机接口行业，历经多年发展，出现非侵入、侵入等方案，但均面临难以突破的问题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7695-A07D-4BCB-B41D-8E5B8A17079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2397344" y="5648410"/>
            <a:ext cx="8066210" cy="7021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+mn-ea"/>
              </a:rPr>
              <a:t>现有脑机接口方案存在的问题短期内均难以突破</a:t>
            </a:r>
            <a:endParaRPr lang="en-US" altLang="zh-CN" sz="1600" b="1" dirty="0">
              <a:solidFill>
                <a:schemeClr val="accent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+mn-ea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+mn-ea"/>
              </a:rPr>
              <a:t>关键问题：电生理电极与动态生物界面的协同适应机制</a:t>
            </a:r>
          </a:p>
        </p:txBody>
      </p:sp>
      <p:cxnSp>
        <p:nvCxnSpPr>
          <p:cNvPr id="84" name="Straight Connector 5"/>
          <p:cNvCxnSpPr/>
          <p:nvPr/>
        </p:nvCxnSpPr>
        <p:spPr>
          <a:xfrm>
            <a:off x="1845376" y="5594834"/>
            <a:ext cx="9000000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chemeClr val="accent1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68315" dist="31867" dir="3960000" sx="92623" sy="92623" algn="ctr" rotWithShape="0">
              <a:schemeClr val="tx1">
                <a:lumMod val="50000"/>
                <a:lumOff val="50000"/>
                <a:alpha val="34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459993" y="3696519"/>
            <a:ext cx="10923606" cy="1645894"/>
            <a:chOff x="674041" y="2676614"/>
            <a:chExt cx="10923606" cy="2081191"/>
          </a:xfrm>
        </p:grpSpPr>
        <p:sp>
          <p:nvSpPr>
            <p:cNvPr id="57" name="TextBox 144"/>
            <p:cNvSpPr txBox="1"/>
            <p:nvPr/>
          </p:nvSpPr>
          <p:spPr>
            <a:xfrm>
              <a:off x="674041" y="3732292"/>
              <a:ext cx="10841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b="1" dirty="0">
                  <a:solidFill>
                    <a:srgbClr val="3A3A3A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问题</a:t>
              </a:r>
            </a:p>
          </p:txBody>
        </p:sp>
        <p:sp>
          <p:nvSpPr>
            <p:cNvPr id="60" name="等腰三角形 59"/>
            <p:cNvSpPr/>
            <p:nvPr/>
          </p:nvSpPr>
          <p:spPr>
            <a:xfrm flipV="1">
              <a:off x="3065369" y="3141532"/>
              <a:ext cx="280219" cy="24671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TextBox 151"/>
            <p:cNvSpPr txBox="1"/>
            <p:nvPr/>
          </p:nvSpPr>
          <p:spPr>
            <a:xfrm>
              <a:off x="674041" y="2718067"/>
              <a:ext cx="10841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b="1" dirty="0">
                  <a:solidFill>
                    <a:srgbClr val="3A3A3A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技术方案</a:t>
              </a:r>
            </a:p>
          </p:txBody>
        </p:sp>
        <p:grpSp>
          <p:nvGrpSpPr>
            <p:cNvPr id="95" name="组合 94"/>
            <p:cNvGrpSpPr/>
            <p:nvPr/>
          </p:nvGrpSpPr>
          <p:grpSpPr>
            <a:xfrm>
              <a:off x="1716747" y="2676614"/>
              <a:ext cx="9728076" cy="388423"/>
              <a:chOff x="1758149" y="1167108"/>
              <a:chExt cx="7225876" cy="388423"/>
            </a:xfrm>
          </p:grpSpPr>
          <p:sp>
            <p:nvSpPr>
              <p:cNvPr id="62" name="矩形: 圆角 61"/>
              <p:cNvSpPr/>
              <p:nvPr/>
            </p:nvSpPr>
            <p:spPr>
              <a:xfrm>
                <a:off x="1758149" y="1167108"/>
                <a:ext cx="2253199" cy="388423"/>
              </a:xfrm>
              <a:prstGeom prst="roundRect">
                <a:avLst>
                  <a:gd name="adj" fmla="val 225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" sx="101000" sy="101000" algn="ctr" rotWithShape="0">
                  <a:schemeClr val="bg2">
                    <a:lumMod val="9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200" dirty="0">
                    <a:solidFill>
                      <a:srgbClr val="3A3A3A"/>
                    </a:solidFill>
                    <a:latin typeface="Arial" panose="020B0604020202020204" pitchFamily="34" charset="0"/>
                    <a:ea typeface="微软雅黑 Light" panose="020B0502040204020203" pitchFamily="34" charset="-122"/>
                    <a:sym typeface="Arial" panose="020B0604020202020204" pitchFamily="34" charset="0"/>
                  </a:rPr>
                  <a:t>非侵入</a:t>
                </a:r>
              </a:p>
            </p:txBody>
          </p:sp>
          <p:sp>
            <p:nvSpPr>
              <p:cNvPr id="64" name="矩形: 圆角 63"/>
              <p:cNvSpPr/>
              <p:nvPr/>
            </p:nvSpPr>
            <p:spPr>
              <a:xfrm>
                <a:off x="4228622" y="1167108"/>
                <a:ext cx="2253199" cy="388423"/>
              </a:xfrm>
              <a:prstGeom prst="roundRect">
                <a:avLst>
                  <a:gd name="adj" fmla="val 225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" sx="101000" sy="101000" algn="ctr" rotWithShape="0">
                  <a:schemeClr val="bg2">
                    <a:lumMod val="9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200" dirty="0">
                    <a:solidFill>
                      <a:srgbClr val="3A3A3A"/>
                    </a:solidFill>
                    <a:latin typeface="Arial" panose="020B0604020202020204" pitchFamily="34" charset="0"/>
                    <a:ea typeface="微软雅黑 Light" panose="020B0502040204020203" pitchFamily="34" charset="-122"/>
                    <a:sym typeface="Arial" panose="020B0604020202020204" pitchFamily="34" charset="0"/>
                  </a:rPr>
                  <a:t>侵入式柔性电极 </a:t>
                </a:r>
              </a:p>
            </p:txBody>
          </p:sp>
          <p:sp>
            <p:nvSpPr>
              <p:cNvPr id="65" name="矩形: 圆角 64"/>
              <p:cNvSpPr/>
              <p:nvPr/>
            </p:nvSpPr>
            <p:spPr>
              <a:xfrm>
                <a:off x="6730826" y="1167108"/>
                <a:ext cx="2253199" cy="388423"/>
              </a:xfrm>
              <a:prstGeom prst="roundRect">
                <a:avLst>
                  <a:gd name="adj" fmla="val 225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" sx="101000" sy="101000" algn="ctr" rotWithShape="0">
                  <a:schemeClr val="bg2">
                    <a:lumMod val="9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200" dirty="0">
                    <a:solidFill>
                      <a:srgbClr val="3A3A3A"/>
                    </a:solidFill>
                    <a:latin typeface="Arial" panose="020B0604020202020204" pitchFamily="34" charset="0"/>
                    <a:ea typeface="微软雅黑 Light" panose="020B0502040204020203" pitchFamily="34" charset="-122"/>
                    <a:sym typeface="Arial" panose="020B0604020202020204" pitchFamily="34" charset="0"/>
                  </a:rPr>
                  <a:t>侵入式阵列式电极</a:t>
                </a:r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1758150" y="3404440"/>
              <a:ext cx="9728075" cy="1353365"/>
              <a:chOff x="1758150" y="3404440"/>
              <a:chExt cx="7257603" cy="1353365"/>
            </a:xfrm>
          </p:grpSpPr>
          <p:sp>
            <p:nvSpPr>
              <p:cNvPr id="54" name="Rectangle 140"/>
              <p:cNvSpPr/>
              <p:nvPr/>
            </p:nvSpPr>
            <p:spPr>
              <a:xfrm>
                <a:off x="1758150" y="3420639"/>
                <a:ext cx="2253199" cy="13371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8" name="TextBox 147"/>
              <p:cNvSpPr txBox="1"/>
              <p:nvPr/>
            </p:nvSpPr>
            <p:spPr>
              <a:xfrm>
                <a:off x="1845349" y="3448384"/>
                <a:ext cx="1764499" cy="1029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171450" indent="-17145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  <a:defRPr sz="1200">
                    <a:solidFill>
                      <a:srgbClr val="3A3A3A"/>
                    </a:solidFill>
                    <a:latin typeface="Arial" panose="020B060402020202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ym typeface="Arial" panose="020B0604020202020204" pitchFamily="34" charset="0"/>
                  </a:rPr>
                  <a:t>数据信号弱</a:t>
                </a:r>
                <a:endParaRPr lang="en-US" altLang="zh-CN" dirty="0">
                  <a:sym typeface="Arial" panose="020B0604020202020204" pitchFamily="34" charset="0"/>
                </a:endParaRPr>
              </a:p>
              <a:p>
                <a:r>
                  <a:rPr lang="zh-CN" altLang="en-US" dirty="0">
                    <a:sym typeface="Arial" panose="020B0604020202020204" pitchFamily="34" charset="0"/>
                  </a:rPr>
                  <a:t>信噪比低</a:t>
                </a:r>
                <a:endParaRPr lang="en-US" altLang="zh-CN" dirty="0">
                  <a:sym typeface="Arial" panose="020B0604020202020204" pitchFamily="34" charset="0"/>
                </a:endParaRPr>
              </a:p>
              <a:p>
                <a:r>
                  <a:rPr lang="zh-CN" altLang="en-US" dirty="0">
                    <a:sym typeface="Arial" panose="020B0604020202020204" pitchFamily="34" charset="0"/>
                  </a:rPr>
                  <a:t>空间分辨率有限</a:t>
                </a:r>
                <a:endParaRPr lang="en-US" altLang="zh-CN" dirty="0">
                  <a:sym typeface="Arial" panose="020B0604020202020204" pitchFamily="34" charset="0"/>
                </a:endParaRPr>
              </a:p>
              <a:p>
                <a:r>
                  <a:rPr lang="zh-CN" altLang="en-US" dirty="0">
                    <a:sym typeface="Arial" panose="020B0604020202020204" pitchFamily="34" charset="0"/>
                  </a:rPr>
                  <a:t>稳定性与一致性差</a:t>
                </a:r>
              </a:p>
            </p:txBody>
          </p:sp>
          <p:sp>
            <p:nvSpPr>
              <p:cNvPr id="86" name="Rectangle 140"/>
              <p:cNvSpPr/>
              <p:nvPr/>
            </p:nvSpPr>
            <p:spPr>
              <a:xfrm>
                <a:off x="4260352" y="3404440"/>
                <a:ext cx="2253199" cy="13371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8" name="Rectangle 140"/>
              <p:cNvSpPr/>
              <p:nvPr/>
            </p:nvSpPr>
            <p:spPr>
              <a:xfrm>
                <a:off x="6762554" y="3404440"/>
                <a:ext cx="2253199" cy="13371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9" name="TextBox 147"/>
              <p:cNvSpPr txBox="1"/>
              <p:nvPr/>
            </p:nvSpPr>
            <p:spPr>
              <a:xfrm>
                <a:off x="4317656" y="3428595"/>
                <a:ext cx="2106725" cy="1029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rgbClr val="3A3A3A"/>
                    </a:solidFill>
                    <a:latin typeface="Arial" panose="020B060402020202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  <a:sym typeface="Arial" panose="020B0604020202020204" pitchFamily="34" charset="0"/>
                  </a:rPr>
                  <a:t>植入创伤大，风险高，定位难度高</a:t>
                </a:r>
                <a:endParaRPr lang="en-US" altLang="zh-CN" sz="1200" dirty="0">
                  <a:solidFill>
                    <a:srgbClr val="3A3A3A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endParaRPr>
              </a:p>
              <a:p>
                <a:pPr marL="171450" indent="-17145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rgbClr val="3A3A3A"/>
                    </a:solidFill>
                    <a:latin typeface="Arial" panose="020B060402020202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  <a:sym typeface="Arial" panose="020B0604020202020204" pitchFamily="34" charset="0"/>
                  </a:rPr>
                  <a:t>生物兼容性差、</a:t>
                </a:r>
                <a:r>
                  <a:rPr kumimoji="1"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 Light" panose="020B0502040204020203" pitchFamily="34" charset="-122"/>
                    <a:sym typeface="Arial" panose="020B0604020202020204" pitchFamily="34" charset="0"/>
                  </a:rPr>
                  <a:t>可及脑区有限</a:t>
                </a:r>
                <a:endParaRPr lang="en-US" altLang="zh-CN" sz="1200" dirty="0">
                  <a:solidFill>
                    <a:srgbClr val="3A3A3A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endParaRPr>
              </a:p>
              <a:p>
                <a:pPr marL="171450" indent="-17145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rgbClr val="3A3A3A"/>
                    </a:solidFill>
                    <a:latin typeface="Arial" panose="020B060402020202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  <a:sym typeface="Arial" panose="020B0604020202020204" pitchFamily="34" charset="0"/>
                  </a:rPr>
                  <a:t>长期植入的信号衰减问题</a:t>
                </a:r>
                <a:endParaRPr lang="en-US" altLang="zh-CN" sz="1200" dirty="0">
                  <a:solidFill>
                    <a:srgbClr val="3A3A3A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endParaRPr>
              </a:p>
              <a:p>
                <a:pPr marL="171450" indent="-17145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rgbClr val="3A3A3A"/>
                    </a:solidFill>
                    <a:latin typeface="Arial" panose="020B060402020202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  <a:sym typeface="Arial" panose="020B0604020202020204" pitchFamily="34" charset="0"/>
                  </a:rPr>
                  <a:t>电极移位、器件位置难以调整问题</a:t>
                </a:r>
                <a:endParaRPr lang="en-US" altLang="zh-CN" sz="1200" dirty="0">
                  <a:solidFill>
                    <a:srgbClr val="3A3A3A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7" name="TextBox 147"/>
            <p:cNvSpPr txBox="1"/>
            <p:nvPr/>
          </p:nvSpPr>
          <p:spPr>
            <a:xfrm>
              <a:off x="8577464" y="3428038"/>
              <a:ext cx="3020183" cy="10298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3A3A3A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组织损伤与免疫反应风险高</a:t>
              </a:r>
              <a:endParaRPr lang="en-US" altLang="zh-CN" sz="1200" dirty="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  <a:p>
              <a:pPr marL="171450" indent="-1714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3A3A3A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信号衰减问题</a:t>
              </a:r>
              <a:endParaRPr lang="en-US" altLang="zh-CN" sz="1200" dirty="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  <a:p>
              <a:pPr marL="171450" indent="-1714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3A3A3A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长期植入风险</a:t>
              </a:r>
              <a:endParaRPr lang="en-US" altLang="zh-CN" sz="1200" dirty="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  <a:p>
              <a:pPr marL="171450" indent="-1714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3A3A3A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维护与升级困难</a:t>
              </a:r>
              <a:endParaRPr lang="en-US" altLang="zh-CN" sz="1200" dirty="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5" name="等腰三角形 4"/>
            <p:cNvSpPr/>
            <p:nvPr/>
          </p:nvSpPr>
          <p:spPr>
            <a:xfrm flipV="1">
              <a:off x="9807337" y="3150612"/>
              <a:ext cx="280219" cy="24671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等腰三角形 5"/>
            <p:cNvSpPr/>
            <p:nvPr/>
          </p:nvSpPr>
          <p:spPr>
            <a:xfrm flipV="1">
              <a:off x="6482077" y="3141532"/>
              <a:ext cx="280219" cy="24671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12" name="直接箭头连接符 11"/>
          <p:cNvCxnSpPr/>
          <p:nvPr/>
        </p:nvCxnSpPr>
        <p:spPr>
          <a:xfrm>
            <a:off x="656499" y="3510736"/>
            <a:ext cx="1009970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箭头: 五边形 14"/>
          <p:cNvSpPr/>
          <p:nvPr/>
        </p:nvSpPr>
        <p:spPr>
          <a:xfrm>
            <a:off x="656499" y="1098451"/>
            <a:ext cx="3099549" cy="437384"/>
          </a:xfrm>
          <a:prstGeom prst="homePlate">
            <a:avLst/>
          </a:prstGeom>
          <a:solidFill>
            <a:srgbClr val="E1F2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</a:rPr>
              <a:t>学术探索期（</a:t>
            </a:r>
            <a:r>
              <a:rPr lang="en-US" altLang="zh-CN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</a:rPr>
              <a:t>1924-1973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</a:rPr>
              <a:t>）</a:t>
            </a:r>
          </a:p>
        </p:txBody>
      </p:sp>
      <p:sp>
        <p:nvSpPr>
          <p:cNvPr id="16" name="箭头: V 形 15"/>
          <p:cNvSpPr/>
          <p:nvPr/>
        </p:nvSpPr>
        <p:spPr>
          <a:xfrm>
            <a:off x="3932781" y="1093693"/>
            <a:ext cx="3296450" cy="419784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F8F8C"/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+mn-cs"/>
              </a:rPr>
              <a:t>科学论证期（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F8F8C"/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+mn-cs"/>
              </a:rPr>
              <a:t>1973-2004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F8F8C"/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+mn-cs"/>
              </a:rPr>
              <a:t>）</a:t>
            </a:r>
          </a:p>
        </p:txBody>
      </p:sp>
      <p:sp>
        <p:nvSpPr>
          <p:cNvPr id="17" name="箭头: V 形 16"/>
          <p:cNvSpPr/>
          <p:nvPr/>
        </p:nvSpPr>
        <p:spPr>
          <a:xfrm>
            <a:off x="7548926" y="1099442"/>
            <a:ext cx="3296450" cy="41978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+mn-cs"/>
              </a:rPr>
              <a:t>应用试验期（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+mn-cs"/>
              </a:rPr>
              <a:t>2000-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+mn-cs"/>
              </a:rPr>
              <a:t>至今）</a:t>
            </a:r>
          </a:p>
        </p:txBody>
      </p:sp>
      <p:cxnSp>
        <p:nvCxnSpPr>
          <p:cNvPr id="19" name="iśḷîḍê"/>
          <p:cNvCxnSpPr/>
          <p:nvPr/>
        </p:nvCxnSpPr>
        <p:spPr>
          <a:xfrm flipV="1">
            <a:off x="846644" y="2981652"/>
            <a:ext cx="0" cy="506032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47"/>
          <p:cNvSpPr txBox="1"/>
          <p:nvPr/>
        </p:nvSpPr>
        <p:spPr>
          <a:xfrm>
            <a:off x="459993" y="2168897"/>
            <a:ext cx="1228686" cy="7897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  <a:defRPr sz="120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Arial" panose="020B0604020202020204" pitchFamily="34" charset="0"/>
              </a:rPr>
              <a:t>1924</a:t>
            </a:r>
            <a:r>
              <a:rPr lang="zh-CN" altLang="en-US" dirty="0">
                <a:sym typeface="Arial" panose="020B0604020202020204" pitchFamily="34" charset="0"/>
              </a:rPr>
              <a:t>年首次记录</a:t>
            </a:r>
            <a:r>
              <a:rPr lang="zh-CN" altLang="en-US" b="1" dirty="0">
                <a:solidFill>
                  <a:schemeClr val="accent1"/>
                </a:solidFill>
                <a:sym typeface="Arial" panose="020B0604020202020204" pitchFamily="34" charset="0"/>
              </a:rPr>
              <a:t>脑电</a:t>
            </a:r>
            <a:r>
              <a:rPr lang="en-US" altLang="zh-CN" b="1" dirty="0">
                <a:solidFill>
                  <a:schemeClr val="accent1"/>
                </a:solidFill>
                <a:sym typeface="Arial" panose="020B0604020202020204" pitchFamily="34" charset="0"/>
              </a:rPr>
              <a:t>EEG</a:t>
            </a:r>
            <a:r>
              <a:rPr lang="zh-CN" altLang="en-US" dirty="0">
                <a:sym typeface="Arial" panose="020B0604020202020204" pitchFamily="34" charset="0"/>
              </a:rPr>
              <a:t>（德国）</a:t>
            </a:r>
          </a:p>
        </p:txBody>
      </p:sp>
      <p:cxnSp>
        <p:nvCxnSpPr>
          <p:cNvPr id="23" name="iśḷîḍê"/>
          <p:cNvCxnSpPr/>
          <p:nvPr/>
        </p:nvCxnSpPr>
        <p:spPr>
          <a:xfrm flipV="1">
            <a:off x="1845376" y="2751131"/>
            <a:ext cx="0" cy="736553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47"/>
          <p:cNvSpPr txBox="1"/>
          <p:nvPr/>
        </p:nvSpPr>
        <p:spPr>
          <a:xfrm>
            <a:off x="1501156" y="1913203"/>
            <a:ext cx="1182313" cy="7897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  <a:defRPr sz="120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Arial" panose="020B0604020202020204" pitchFamily="34" charset="0"/>
              </a:rPr>
              <a:t>1969</a:t>
            </a:r>
            <a:r>
              <a:rPr lang="zh-CN" altLang="en-US" dirty="0">
                <a:sym typeface="Arial" panose="020B0604020202020204" pitchFamily="34" charset="0"/>
              </a:rPr>
              <a:t>年首个脑机接口实验（美国）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495945" y="1724519"/>
            <a:ext cx="1228686" cy="7897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  <a:defRPr sz="120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1973</a:t>
            </a:r>
            <a:r>
              <a:rPr lang="zh-CN" altLang="en-US" dirty="0"/>
              <a:t>年</a:t>
            </a:r>
            <a:r>
              <a:rPr lang="zh-CN" altLang="en-US" b="1" dirty="0">
                <a:solidFill>
                  <a:schemeClr val="accent1"/>
                </a:solidFill>
              </a:rPr>
              <a:t>首次提出脑机接口BCI</a:t>
            </a:r>
          </a:p>
        </p:txBody>
      </p:sp>
      <p:cxnSp>
        <p:nvCxnSpPr>
          <p:cNvPr id="28" name="iśḷîḍê"/>
          <p:cNvCxnSpPr/>
          <p:nvPr/>
        </p:nvCxnSpPr>
        <p:spPr>
          <a:xfrm flipV="1">
            <a:off x="2841711" y="2584903"/>
            <a:ext cx="0" cy="902781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iśḷîḍê"/>
          <p:cNvCxnSpPr/>
          <p:nvPr/>
        </p:nvCxnSpPr>
        <p:spPr>
          <a:xfrm flipV="1">
            <a:off x="3800935" y="2981652"/>
            <a:ext cx="0" cy="506031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411770" y="2175909"/>
            <a:ext cx="1307647" cy="7897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  <a:defRPr sz="120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1978</a:t>
            </a:r>
            <a:r>
              <a:rPr lang="zh-CN" altLang="en-US" dirty="0"/>
              <a:t>年首位盲人</a:t>
            </a:r>
            <a:r>
              <a:rPr lang="zh-CN" altLang="en-US" b="1" dirty="0">
                <a:solidFill>
                  <a:schemeClr val="accent1"/>
                </a:solidFill>
              </a:rPr>
              <a:t>视觉皮层植入</a:t>
            </a:r>
            <a:r>
              <a:rPr lang="en-US" altLang="zh-CN" b="1" dirty="0">
                <a:solidFill>
                  <a:schemeClr val="accent1"/>
                </a:solidFill>
              </a:rPr>
              <a:t>68</a:t>
            </a:r>
            <a:r>
              <a:rPr lang="zh-CN" altLang="en-US" b="1" dirty="0">
                <a:solidFill>
                  <a:schemeClr val="accent1"/>
                </a:solidFill>
              </a:rPr>
              <a:t>个电极</a:t>
            </a:r>
          </a:p>
        </p:txBody>
      </p:sp>
      <p:cxnSp>
        <p:nvCxnSpPr>
          <p:cNvPr id="33" name="iśḷîḍê"/>
          <p:cNvCxnSpPr/>
          <p:nvPr/>
        </p:nvCxnSpPr>
        <p:spPr>
          <a:xfrm flipV="1">
            <a:off x="4849210" y="2804919"/>
            <a:ext cx="0" cy="682764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4487207" y="1903996"/>
            <a:ext cx="1136061" cy="7897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  <a:defRPr sz="120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1988</a:t>
            </a:r>
            <a:r>
              <a:rPr lang="zh-CN" altLang="en-US" dirty="0"/>
              <a:t>年首次实现</a:t>
            </a:r>
            <a:r>
              <a:rPr lang="zh-CN" altLang="en-US" b="1" dirty="0">
                <a:solidFill>
                  <a:schemeClr val="accent1"/>
                </a:solidFill>
              </a:rPr>
              <a:t>非侵入式技术</a:t>
            </a:r>
          </a:p>
        </p:txBody>
      </p:sp>
      <p:cxnSp>
        <p:nvCxnSpPr>
          <p:cNvPr id="36" name="iśḷîḍê"/>
          <p:cNvCxnSpPr/>
          <p:nvPr/>
        </p:nvCxnSpPr>
        <p:spPr>
          <a:xfrm flipV="1">
            <a:off x="5787943" y="2584903"/>
            <a:ext cx="0" cy="902780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447718" y="1735571"/>
            <a:ext cx="1136061" cy="7897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  <a:defRPr sz="120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b="1" dirty="0">
                <a:solidFill>
                  <a:schemeClr val="accent1"/>
                </a:solidFill>
              </a:rPr>
              <a:t>1998</a:t>
            </a:r>
            <a:r>
              <a:rPr lang="zh-CN" altLang="en-US" b="1" dirty="0">
                <a:solidFill>
                  <a:schemeClr val="accent1"/>
                </a:solidFill>
              </a:rPr>
              <a:t>年首次将脑机接口植入人体</a:t>
            </a:r>
          </a:p>
        </p:txBody>
      </p:sp>
      <p:cxnSp>
        <p:nvCxnSpPr>
          <p:cNvPr id="39" name="iśḷîḍê"/>
          <p:cNvCxnSpPr/>
          <p:nvPr/>
        </p:nvCxnSpPr>
        <p:spPr>
          <a:xfrm flipV="1">
            <a:off x="6785587" y="2366930"/>
            <a:ext cx="0" cy="1127221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6386783" y="1534638"/>
            <a:ext cx="1288122" cy="7897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  <a:defRPr sz="120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2004</a:t>
            </a:r>
            <a:r>
              <a:rPr lang="zh-CN" altLang="en-US" dirty="0"/>
              <a:t>年</a:t>
            </a:r>
            <a:r>
              <a:rPr lang="en-US" altLang="zh-CN" dirty="0"/>
              <a:t>BCI</a:t>
            </a:r>
            <a:r>
              <a:rPr lang="zh-CN" altLang="en-US" dirty="0"/>
              <a:t>技术从实验室走向临床应用</a:t>
            </a:r>
          </a:p>
        </p:txBody>
      </p:sp>
      <p:cxnSp>
        <p:nvCxnSpPr>
          <p:cNvPr id="42" name="iśḷîḍê"/>
          <p:cNvCxnSpPr/>
          <p:nvPr/>
        </p:nvCxnSpPr>
        <p:spPr>
          <a:xfrm flipV="1">
            <a:off x="7674905" y="2981652"/>
            <a:ext cx="0" cy="506031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7165014" y="2193775"/>
            <a:ext cx="1120406" cy="7897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  <a:defRPr sz="120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2014</a:t>
            </a:r>
            <a:r>
              <a:rPr lang="zh-CN" altLang="en-US" dirty="0"/>
              <a:t>年浙大首次植入</a:t>
            </a:r>
            <a:r>
              <a:rPr lang="zh-CN" altLang="en-US" b="1" dirty="0">
                <a:solidFill>
                  <a:schemeClr val="accent1"/>
                </a:solidFill>
              </a:rPr>
              <a:t>半侵入</a:t>
            </a:r>
            <a:r>
              <a:rPr lang="en-US" altLang="zh-CN" b="1" dirty="0">
                <a:solidFill>
                  <a:schemeClr val="accent1"/>
                </a:solidFill>
              </a:rPr>
              <a:t>BCI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cxnSp>
        <p:nvCxnSpPr>
          <p:cNvPr id="44" name="iśḷîḍê"/>
          <p:cNvCxnSpPr/>
          <p:nvPr/>
        </p:nvCxnSpPr>
        <p:spPr>
          <a:xfrm flipV="1">
            <a:off x="8511184" y="2847444"/>
            <a:ext cx="0" cy="619078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7974465" y="1600597"/>
            <a:ext cx="1369186" cy="12698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  <a:defRPr sz="120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2021</a:t>
            </a:r>
            <a:r>
              <a:rPr lang="zh-CN" altLang="en-US" dirty="0"/>
              <a:t>年首个用于康复的</a:t>
            </a:r>
            <a:r>
              <a:rPr lang="zh-CN" altLang="en-US" b="1" dirty="0">
                <a:solidFill>
                  <a:schemeClr val="accent1"/>
                </a:solidFill>
              </a:rPr>
              <a:t>非侵入脑机接口</a:t>
            </a:r>
            <a:r>
              <a:rPr lang="zh-CN" altLang="en-US" dirty="0"/>
              <a:t>机器人获批</a:t>
            </a:r>
            <a:r>
              <a:rPr lang="en-US" altLang="zh-CN" dirty="0"/>
              <a:t>,FDA</a:t>
            </a:r>
            <a:r>
              <a:rPr lang="zh-CN" altLang="en-US" dirty="0"/>
              <a:t>批准人体试验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cxnSp>
        <p:nvCxnSpPr>
          <p:cNvPr id="46" name="iśḷîḍê"/>
          <p:cNvCxnSpPr/>
          <p:nvPr/>
        </p:nvCxnSpPr>
        <p:spPr>
          <a:xfrm flipV="1">
            <a:off x="9472526" y="2677181"/>
            <a:ext cx="0" cy="816970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9161161" y="1578736"/>
            <a:ext cx="1144477" cy="10298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  <a:defRPr sz="120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2023</a:t>
            </a:r>
            <a:r>
              <a:rPr lang="zh-CN" altLang="en-US" dirty="0"/>
              <a:t>年首款可安全移除的</a:t>
            </a:r>
            <a:r>
              <a:rPr lang="zh-CN" altLang="en-US" b="1" dirty="0">
                <a:solidFill>
                  <a:schemeClr val="accent1"/>
                </a:solidFill>
              </a:rPr>
              <a:t>脑机植入Layer7</a:t>
            </a:r>
          </a:p>
        </p:txBody>
      </p:sp>
      <p:cxnSp>
        <p:nvCxnSpPr>
          <p:cNvPr id="51" name="iśḷîḍê"/>
          <p:cNvCxnSpPr/>
          <p:nvPr/>
        </p:nvCxnSpPr>
        <p:spPr>
          <a:xfrm flipV="1">
            <a:off x="10477854" y="2491235"/>
            <a:ext cx="0" cy="1002916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10181893" y="1492550"/>
            <a:ext cx="1539224" cy="10298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  <a:defRPr sz="120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2024</a:t>
            </a:r>
            <a:r>
              <a:rPr lang="zh-CN" altLang="en-US" dirty="0"/>
              <a:t>年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Neuralink,Precision</a:t>
            </a:r>
            <a:r>
              <a:rPr lang="en-US" altLang="zh-CN" dirty="0"/>
              <a:t>,</a:t>
            </a:r>
            <a:r>
              <a:rPr lang="zh-CN" altLang="en-US" dirty="0"/>
              <a:t>博睿康成功开展</a:t>
            </a:r>
            <a:r>
              <a:rPr lang="zh-CN" altLang="en-US" b="1" dirty="0">
                <a:solidFill>
                  <a:schemeClr val="accent1"/>
                </a:solidFill>
              </a:rPr>
              <a:t>脑机接口临床试验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4122" y="237448"/>
            <a:ext cx="10643899" cy="539666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历经</a:t>
            </a:r>
            <a:r>
              <a:rPr kumimoji="1" lang="en-US" altLang="zh-CN" dirty="0"/>
              <a:t>14</a:t>
            </a:r>
            <a:r>
              <a:rPr kumimoji="1" lang="zh-CN" altLang="en-US" dirty="0"/>
              <a:t>年突破，获得</a:t>
            </a:r>
            <a:r>
              <a:rPr kumimoji="1" lang="en-US" altLang="zh-CN" dirty="0"/>
              <a:t>《Nature》</a:t>
            </a:r>
            <a:r>
              <a:rPr kumimoji="1" lang="zh-CN" altLang="en-US" dirty="0"/>
              <a:t>等权威认可，君柔科技重新定义脑机接口电极新范式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7695-A07D-4BCB-B41D-8E5B8A17079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68740" y="1435655"/>
            <a:ext cx="4951730" cy="407543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754123" y="886378"/>
            <a:ext cx="10874375" cy="5076825"/>
          </a:xfrm>
          <a:prstGeom prst="rect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cxnSp>
        <p:nvCxnSpPr>
          <p:cNvPr id="7" name="ïṡḷîḓe"/>
          <p:cNvCxnSpPr/>
          <p:nvPr/>
        </p:nvCxnSpPr>
        <p:spPr>
          <a:xfrm>
            <a:off x="7303333" y="1488144"/>
            <a:ext cx="3893416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íšḻîḋé"/>
          <p:cNvSpPr/>
          <p:nvPr/>
        </p:nvSpPr>
        <p:spPr bwMode="auto">
          <a:xfrm>
            <a:off x="7423924" y="1479283"/>
            <a:ext cx="4200527" cy="1600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中国科学院深圳先进技术研究院刘志远、韩飞团队联合徐天添团队，历经多协同攻关，</a:t>
            </a:r>
            <a:r>
              <a:rPr lang="zh-CN" altLang="en-US" sz="14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研发出</a:t>
            </a:r>
            <a:r>
              <a:rPr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如头发丝般纤细、柔软可拉伸、可自由驱动的神经纤维电极</a:t>
            </a:r>
            <a:r>
              <a:rPr lang="en-US" altLang="zh-CN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——</a:t>
            </a:r>
            <a:r>
              <a:rPr lang="en-US" altLang="zh-CN" sz="1400" b="1" dirty="0" err="1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NeuroWorm</a:t>
            </a:r>
            <a:r>
              <a:rPr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（神经蠕虫），研究成果在</a:t>
            </a:r>
            <a:r>
              <a:rPr lang="en-US" altLang="zh-CN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《</a:t>
            </a:r>
            <a:r>
              <a:rPr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自然</a:t>
            </a:r>
            <a:r>
              <a:rPr lang="en-US" altLang="zh-CN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》</a:t>
            </a:r>
            <a:r>
              <a:rPr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发表。</a:t>
            </a:r>
            <a:endParaRPr lang="en-US" altLang="zh-CN" sz="1400" b="1" dirty="0">
              <a:solidFill>
                <a:schemeClr val="accent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0" name="îṩliḋe"/>
          <p:cNvSpPr txBox="1"/>
          <p:nvPr/>
        </p:nvSpPr>
        <p:spPr bwMode="auto">
          <a:xfrm>
            <a:off x="7303333" y="1098350"/>
            <a:ext cx="3706841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君柔科技全新成果</a:t>
            </a:r>
            <a:endParaRPr lang="en-US" altLang="zh-CN" sz="1400" b="1" dirty="0">
              <a:solidFill>
                <a:schemeClr val="accent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1" name="ïşḻiḍe"/>
          <p:cNvSpPr txBox="1"/>
          <p:nvPr/>
        </p:nvSpPr>
        <p:spPr bwMode="auto">
          <a:xfrm>
            <a:off x="868740" y="1118534"/>
            <a:ext cx="45466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“</a:t>
            </a:r>
            <a:r>
              <a:rPr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动态</a:t>
            </a:r>
            <a:r>
              <a:rPr lang="en-US" altLang="zh-CN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”</a:t>
            </a:r>
            <a:r>
              <a:rPr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脑机接口电极新范式（</a:t>
            </a:r>
            <a:r>
              <a:rPr lang="en-US" altLang="zh-CN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Nature, 2025, 645, 648</a:t>
            </a:r>
            <a:r>
              <a:rPr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）</a:t>
            </a:r>
          </a:p>
        </p:txBody>
      </p:sp>
      <p:sp>
        <p:nvSpPr>
          <p:cNvPr id="12" name="文本框 12"/>
          <p:cNvSpPr txBox="1"/>
          <p:nvPr/>
        </p:nvSpPr>
        <p:spPr>
          <a:xfrm>
            <a:off x="1057402" y="5661916"/>
            <a:ext cx="10112012" cy="77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400" b="1">
                <a:solidFill>
                  <a:srgbClr val="E30613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</a:lstStyle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dirty="0">
                <a:solidFill>
                  <a:schemeClr val="accent1"/>
                </a:solidFill>
                <a:sym typeface="Arial" panose="020B0604020202020204" pitchFamily="34" charset="0"/>
              </a:rPr>
              <a:t>君柔科技团队历经</a:t>
            </a:r>
            <a:r>
              <a:rPr lang="en-US" altLang="zh-CN" sz="1600" dirty="0">
                <a:solidFill>
                  <a:schemeClr val="accent1"/>
                </a:solidFill>
                <a:sym typeface="Arial" panose="020B0604020202020204" pitchFamily="34" charset="0"/>
              </a:rPr>
              <a:t>14</a:t>
            </a:r>
            <a:r>
              <a:rPr lang="zh-CN" altLang="en-US" sz="1600" dirty="0">
                <a:solidFill>
                  <a:schemeClr val="accent1"/>
                </a:solidFill>
                <a:sym typeface="Arial" panose="020B0604020202020204" pitchFamily="34" charset="0"/>
              </a:rPr>
              <a:t>年持续攻关突破，全新定义脑机接口“动态电极”新范式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打破了植入式电极的“静态”传统，为脑机接口电极的研究与应用开辟了全新方向</a:t>
            </a:r>
            <a:endParaRPr lang="zh-CN" altLang="en-US" sz="1600" dirty="0">
              <a:sym typeface="Arial" panose="020B0604020202020204" pitchFamily="34" charset="0"/>
            </a:endParaRPr>
          </a:p>
        </p:txBody>
      </p:sp>
      <p:cxnSp>
        <p:nvCxnSpPr>
          <p:cNvPr id="17" name="Straight Connector 5"/>
          <p:cNvCxnSpPr/>
          <p:nvPr/>
        </p:nvCxnSpPr>
        <p:spPr>
          <a:xfrm>
            <a:off x="1590506" y="5590880"/>
            <a:ext cx="9000000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chemeClr val="accent1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68315" dist="31867" dir="3960000" sx="92623" sy="92623" algn="ctr" rotWithShape="0">
              <a:schemeClr val="tx1">
                <a:lumMod val="50000"/>
                <a:lumOff val="50000"/>
                <a:alpha val="34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868740" y="1692001"/>
            <a:ext cx="6555185" cy="3404791"/>
            <a:chOff x="868740" y="1620561"/>
            <a:chExt cx="6555185" cy="3404791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6010" y="2007544"/>
              <a:ext cx="6137915" cy="301780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7375" y="1790643"/>
              <a:ext cx="6137915" cy="301780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740" y="1620561"/>
              <a:ext cx="6137915" cy="301780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组合 12"/>
          <p:cNvGrpSpPr/>
          <p:nvPr/>
        </p:nvGrpSpPr>
        <p:grpSpPr>
          <a:xfrm>
            <a:off x="8026140" y="3111626"/>
            <a:ext cx="1223901" cy="345864"/>
            <a:chOff x="1069702" y="1928959"/>
            <a:chExt cx="3111057" cy="1054057"/>
          </a:xfrm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grpSpPr>
        <p:sp>
          <p:nvSpPr>
            <p:cNvPr id="14" name="圆角矩形 208"/>
            <p:cNvSpPr/>
            <p:nvPr/>
          </p:nvSpPr>
          <p:spPr>
            <a:xfrm>
              <a:off x="1069702" y="2124131"/>
              <a:ext cx="3111057" cy="824779"/>
            </a:xfrm>
            <a:prstGeom prst="roundRect">
              <a:avLst>
                <a:gd name="adj" fmla="val 7400"/>
              </a:avLst>
            </a:prstGeom>
            <a:solidFill>
              <a:srgbClr val="FFFFFF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62500" lnSpcReduction="20000"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文本框 209"/>
            <p:cNvSpPr txBox="1"/>
            <p:nvPr/>
          </p:nvSpPr>
          <p:spPr>
            <a:xfrm>
              <a:off x="1429531" y="1928959"/>
              <a:ext cx="2631366" cy="1054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>
                <a:lnSpc>
                  <a:spcPct val="130000"/>
                </a:lnSpc>
              </a:pPr>
              <a:r>
                <a:rPr lang="zh-CN" altLang="en-US" sz="1400" b="1" dirty="0"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独特优势</a:t>
              </a:r>
              <a:endParaRPr lang="en-US" altLang="zh-CN" sz="1400" b="1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6" name="文本框 63"/>
          <p:cNvSpPr txBox="1"/>
          <p:nvPr/>
        </p:nvSpPr>
        <p:spPr>
          <a:xfrm>
            <a:off x="7632560" y="3654063"/>
            <a:ext cx="2130872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微创植入，微血管可达性</a:t>
            </a:r>
            <a:endParaRPr lang="en-US" altLang="zh-CN" sz="1200" b="1" dirty="0">
              <a:solidFill>
                <a:schemeClr val="accent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可导航脑内微细血管入位，实现</a:t>
            </a:r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深脑区多靶点监测与调控</a:t>
            </a:r>
            <a:endParaRPr lang="en-US" altLang="zh-CN" sz="1200" b="1" dirty="0">
              <a:solidFill>
                <a:schemeClr val="accent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解决</a:t>
            </a:r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电极移位、位置难以调整、长期植入风险</a:t>
            </a: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问题</a:t>
            </a:r>
            <a:endParaRPr lang="en-US" altLang="zh-CN" sz="1200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可</a:t>
            </a:r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长期、微创、动态</a:t>
            </a: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评估神经系统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9763432" y="3111591"/>
            <a:ext cx="1861019" cy="2350065"/>
            <a:chOff x="7918508" y="881590"/>
            <a:chExt cx="4074042" cy="4441686"/>
          </a:xfrm>
        </p:grpSpPr>
        <p:grpSp>
          <p:nvGrpSpPr>
            <p:cNvPr id="19" name="组合 18"/>
            <p:cNvGrpSpPr/>
            <p:nvPr/>
          </p:nvGrpSpPr>
          <p:grpSpPr>
            <a:xfrm>
              <a:off x="8720755" y="881590"/>
              <a:ext cx="2142598" cy="653692"/>
              <a:chOff x="1470837" y="1934004"/>
              <a:chExt cx="2142598" cy="653692"/>
            </a:xfrm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grpSpPr>
          <p:sp>
            <p:nvSpPr>
              <p:cNvPr id="25" name="圆角矩形 214"/>
              <p:cNvSpPr/>
              <p:nvPr/>
            </p:nvSpPr>
            <p:spPr>
              <a:xfrm>
                <a:off x="1470837" y="2053042"/>
                <a:ext cx="2142598" cy="511501"/>
              </a:xfrm>
              <a:prstGeom prst="roundRect">
                <a:avLst>
                  <a:gd name="adj" fmla="val 7400"/>
                </a:avLst>
              </a:pr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62500" lnSpcReduction="20000"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dirty="0"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文本框 215"/>
              <p:cNvSpPr txBox="1"/>
              <p:nvPr/>
            </p:nvSpPr>
            <p:spPr>
              <a:xfrm>
                <a:off x="1637050" y="1934004"/>
                <a:ext cx="1976385" cy="6536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>
                  <a:lnSpc>
                    <a:spcPct val="130000"/>
                  </a:lnSpc>
                </a:pPr>
                <a:r>
                  <a:rPr lang="zh-CN" altLang="en-US" sz="1400" b="1" dirty="0">
                    <a:latin typeface="Arial" panose="020B0604020202020204" pitchFamily="34" charset="0"/>
                    <a:ea typeface="微软雅黑 Light" panose="020B0502040204020203" pitchFamily="34" charset="-122"/>
                    <a:sym typeface="Arial" panose="020B0604020202020204" pitchFamily="34" charset="0"/>
                  </a:rPr>
                  <a:t>技术潜力</a:t>
                </a:r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7977700" y="1754147"/>
              <a:ext cx="3894545" cy="57923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脑机接口</a:t>
              </a:r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数据上限突破</a:t>
              </a:r>
              <a:endParaRPr kumimoji="1"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989865" y="2488600"/>
              <a:ext cx="3882380" cy="57923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信号最稳定、最灵活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8049219" y="3302217"/>
              <a:ext cx="3823025" cy="57923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直接植入与血管介入</a:t>
              </a:r>
              <a:endParaRPr lang="en-US" altLang="zh-CN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文本框 148"/>
            <p:cNvSpPr txBox="1"/>
            <p:nvPr/>
          </p:nvSpPr>
          <p:spPr>
            <a:xfrm>
              <a:off x="7918508" y="4450717"/>
              <a:ext cx="4074042" cy="8725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最有可能成为领域内终极解决方案</a:t>
              </a:r>
            </a:p>
          </p:txBody>
        </p:sp>
        <p:sp>
          <p:nvSpPr>
            <p:cNvPr id="24" name="等腰三角形 23"/>
            <p:cNvSpPr/>
            <p:nvPr/>
          </p:nvSpPr>
          <p:spPr>
            <a:xfrm flipV="1">
              <a:off x="9589964" y="4133935"/>
              <a:ext cx="829769" cy="23048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/>
              <a:t>君柔科技，兼顾长期发展未来和短期落地，突破多个难题，最可能是电极终极方案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7695-A07D-4BCB-B41D-8E5B8A170798}" type="slidenum">
              <a:rPr lang="zh-CN" altLang="en-US" smtClean="0"/>
              <a:t>6</a:t>
            </a:fld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15395"/>
              </p:ext>
            </p:extLst>
          </p:nvPr>
        </p:nvGraphicFramePr>
        <p:xfrm>
          <a:off x="763676" y="1117600"/>
          <a:ext cx="10715626" cy="5172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2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02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6096"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非侵入式方案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柔性电极方案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硅基电极方案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半侵入式方案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蠕行式动态电极方案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6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代表企业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 err="1"/>
                        <a:t>Neurallink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BlackRock Neurotech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Synchron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君柔科技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0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位点尺寸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/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20μm x 20μm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0.5mm-1.4mm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【5μm】</a:t>
                      </a:r>
                      <a:endParaRPr lang="zh-CN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0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导电电极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固体凝胶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氧化铱</a:t>
                      </a:r>
                      <a:r>
                        <a:rPr lang="en-US" altLang="zh-CN" sz="1200" dirty="0"/>
                        <a:t>,PEDOT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氧化铱、铂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金（生物相容性最高）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0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绝缘材质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/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高分子材料</a:t>
                      </a:r>
                      <a:r>
                        <a:rPr lang="en-US" altLang="zh-CN" sz="1200" dirty="0"/>
                        <a:t>(</a:t>
                      </a:r>
                      <a:r>
                        <a:rPr lang="zh-CN" altLang="en-US" sz="1200" dirty="0"/>
                        <a:t>聚乙烯等</a:t>
                      </a:r>
                      <a:r>
                        <a:rPr lang="en-US" altLang="zh-CN" sz="1200" dirty="0"/>
                        <a:t>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硅、氧化硅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SEBS</a:t>
                      </a:r>
                      <a:endParaRPr lang="zh-CN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0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采集信号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Rawband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Spike&amp;LFP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群体活动电位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5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创伤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/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创伤大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创伤大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微创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微创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6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电极静态</a:t>
                      </a:r>
                      <a:r>
                        <a:rPr lang="en-US" altLang="zh-CN" sz="1200" b="1" dirty="0"/>
                        <a:t>/</a:t>
                      </a:r>
                      <a:r>
                        <a:rPr lang="zh-CN" altLang="en-US" sz="1200" b="1" dirty="0"/>
                        <a:t>动态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/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静态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静态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静态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动态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34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技术优势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无需手术、低风险、易操作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材质柔软、损伤</a:t>
                      </a:r>
                    </a:p>
                    <a:p>
                      <a:pPr algn="ctr"/>
                      <a:r>
                        <a:rPr lang="zh-CN" altLang="en-US" sz="1200" dirty="0"/>
                        <a:t>相对较小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材质刚性大，便于植入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血管介入，不损伤大脑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微创、信号稳定、灵活、微血管安全可达、多电极协同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82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技术劣势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信号弱、信噪比低、空间分辨率有限、稳定性与一致性差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技术难度大（植入、稳定性、定位、</a:t>
                      </a:r>
                    </a:p>
                    <a:p>
                      <a:pPr algn="ctr"/>
                      <a:r>
                        <a:rPr lang="zh-CN" altLang="en-US" sz="1200" dirty="0"/>
                        <a:t>生物兼容均存在很大挑战、可及脑区有限）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损伤大、采集性能差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信噪比低、采集稳定性低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动物实验效果良好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但待临床验证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6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稳定性</a:t>
                      </a:r>
                      <a:r>
                        <a:rPr lang="en-US" altLang="zh-CN" sz="1200" b="1" dirty="0"/>
                        <a:t>/</a:t>
                      </a:r>
                      <a:r>
                        <a:rPr lang="zh-CN" altLang="en-US" sz="1200" b="1" dirty="0"/>
                        <a:t>电极寿命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1-2</a:t>
                      </a:r>
                      <a:r>
                        <a:rPr lang="zh-CN" altLang="en-US" sz="1200" dirty="0"/>
                        <a:t>年（验证中）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多年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≥</a:t>
                      </a:r>
                      <a:r>
                        <a:rPr lang="en-US" altLang="zh-CN" sz="1200" b="1" dirty="0"/>
                        <a:t>10</a:t>
                      </a:r>
                      <a:r>
                        <a:rPr lang="zh-CN" altLang="en-US" sz="1200" b="1" dirty="0"/>
                        <a:t>年（理论）</a:t>
                      </a:r>
                      <a:r>
                        <a:rPr lang="en-US" altLang="zh-CN" sz="1200" b="1" dirty="0"/>
                        <a:t>1.5</a:t>
                      </a:r>
                      <a:r>
                        <a:rPr lang="zh-CN" altLang="en-US" sz="1200" b="1" dirty="0"/>
                        <a:t>年已验证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34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衍生落地应用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假肢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科研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/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肌电等柔软可拉伸电极、粘弹类渗透毛发电极等已产生收入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34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信号采集可拓展性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/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部分区域（目前）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部分区域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部分区域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可实现全脑信号采集与写入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5752352C-F3D5-2CA2-06F4-A6A18B15C9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41" y="6466175"/>
            <a:ext cx="802284" cy="28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5080" imgH="5080" progId="TCLayout.ActiveDocument.1">
                  <p:embed/>
                </p:oleObj>
              </mc:Choice>
              <mc:Fallback>
                <p:oleObj name="think-cell 幻灯片" r:id="rId5" imgW="5080" imgH="5080" progId="TCLayout.ActiveDocument.1">
                  <p:embed/>
                  <p:pic>
                    <p:nvPicPr>
                      <p:cNvPr id="0" name="对象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椭圆 16"/>
          <p:cNvSpPr/>
          <p:nvPr/>
        </p:nvSpPr>
        <p:spPr>
          <a:xfrm>
            <a:off x="1579058" y="1220287"/>
            <a:ext cx="2816547" cy="2816547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wrap="square" lIns="91440" tIns="45720" rIns="91440" bIns="45720" rtlCol="0" anchor="ctr" anchorCtr="0">
            <a:noAutofit/>
          </a:bodyPr>
          <a:lstStyle/>
          <a:p>
            <a:pPr algn="ctr" defTabSz="914400"/>
            <a:endParaRPr lang="zh-CN" altLang="en-US" sz="115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 Light" panose="020B0502040204020203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002307" y="1657761"/>
            <a:ext cx="1970049" cy="19415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  <a:t>公司概要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7695-A07D-4BCB-B41D-8E5B8A170798}" type="slidenum">
              <a:rPr lang="zh-CN" altLang="en-US" smtClean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7</a:t>
            </a:fld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6" name="îslîḋé"/>
          <p:cNvSpPr/>
          <p:nvPr/>
        </p:nvSpPr>
        <p:spPr>
          <a:xfrm>
            <a:off x="754123" y="4765655"/>
            <a:ext cx="4678918" cy="1530620"/>
          </a:xfrm>
          <a:prstGeom prst="roundRect">
            <a:avLst>
              <a:gd name="adj" fmla="val 5867"/>
            </a:avLst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2" name="Rectangle 3"/>
          <p:cNvSpPr/>
          <p:nvPr/>
        </p:nvSpPr>
        <p:spPr>
          <a:xfrm>
            <a:off x="5719365" y="1214462"/>
            <a:ext cx="5707872" cy="3233159"/>
          </a:xfrm>
          <a:prstGeom prst="roundRect">
            <a:avLst>
              <a:gd name="adj" fmla="val 1784"/>
            </a:avLst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3" name="Text Placeholder 1"/>
          <p:cNvSpPr txBox="1"/>
          <p:nvPr/>
        </p:nvSpPr>
        <p:spPr>
          <a:xfrm>
            <a:off x="6169991" y="941584"/>
            <a:ext cx="1038152" cy="26225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zh-CN" altLang="en-US" sz="2200" b="1" kern="1200" dirty="0" smtClean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公司简介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06054" y="1226581"/>
            <a:ext cx="5423583" cy="325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成立时间：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君柔科技成立于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2025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年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技术背景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：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2025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年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9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月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17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日，团队在</a:t>
            </a:r>
            <a:r>
              <a:rPr lang="en-US" altLang="zh-CN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《</a:t>
            </a:r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自然</a:t>
            </a:r>
            <a:r>
              <a:rPr lang="en-US" altLang="zh-CN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》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发表研究成果，成功研发出了如头发丝般纤细、</a:t>
            </a:r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柔软可拉伸、可自由驱动的神经纤维电极</a:t>
            </a:r>
            <a:r>
              <a:rPr lang="en-US" altLang="zh-CN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——</a:t>
            </a:r>
            <a:r>
              <a:rPr lang="en-US" altLang="zh-CN" sz="1200" b="1" dirty="0" err="1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NeuroWorm</a:t>
            </a:r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（神经蠕虫）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。</a:t>
            </a:r>
            <a:endParaRPr lang="en-US" altLang="zh-CN" sz="1200" b="1" dirty="0">
              <a:solidFill>
                <a:schemeClr val="accent1"/>
              </a:solidFill>
              <a:effectLst/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技术能力：</a:t>
            </a:r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首次提出了脑机接口“动态电极”的新范式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，打破了植入式电极的“静态”传统，为脑机接口电极的研究与应用开辟了新方向；</a:t>
            </a:r>
            <a:r>
              <a:rPr lang="zh-CN" altLang="en-US" sz="12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首创磁控动态电极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，可导航脑内微细血管入位，实现深脑区多靶点监测与调控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团队背景：中国科学院深圳先进技术研究院刘志远研究员与</a:t>
            </a:r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彭乾碧博士，郑海荣院士支持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，研发人员30余人+工程化团队13人+算法团队10余人+知名医生重磅团队</a:t>
            </a:r>
          </a:p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商业化路径：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以脑机接口为主线，衍生柔性可拉伸电极等多产品，形成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“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技术平台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 +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产品化落地应用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+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临床协同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”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模式，已与欧洲知名企业商务合作</a:t>
            </a:r>
          </a:p>
        </p:txBody>
      </p:sp>
      <p:cxnSp>
        <p:nvCxnSpPr>
          <p:cNvPr id="8" name="Straight Connector 5"/>
          <p:cNvCxnSpPr/>
          <p:nvPr/>
        </p:nvCxnSpPr>
        <p:spPr>
          <a:xfrm>
            <a:off x="5761232" y="1201653"/>
            <a:ext cx="180000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68315" dist="31867" dir="3960000" sx="92623" sy="92623" algn="ctr" rotWithShape="0">
              <a:schemeClr val="tx1">
                <a:lumMod val="50000"/>
                <a:lumOff val="50000"/>
                <a:alpha val="34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"/>
          <p:cNvSpPr txBox="1"/>
          <p:nvPr/>
        </p:nvSpPr>
        <p:spPr>
          <a:xfrm>
            <a:off x="1130165" y="4367392"/>
            <a:ext cx="3724864" cy="38255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zh-CN" altLang="en-US" sz="2200" b="1" kern="1200" dirty="0" smtClean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Nature |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可自由驱动的神经纤维电极</a:t>
            </a:r>
          </a:p>
        </p:txBody>
      </p:sp>
      <p:cxnSp>
        <p:nvCxnSpPr>
          <p:cNvPr id="10" name="Straight Connector 5"/>
          <p:cNvCxnSpPr/>
          <p:nvPr/>
        </p:nvCxnSpPr>
        <p:spPr>
          <a:xfrm>
            <a:off x="834600" y="4770019"/>
            <a:ext cx="180000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68315" dist="31867" dir="3960000" sx="92623" sy="92623" algn="ctr" rotWithShape="0">
              <a:schemeClr val="tx1">
                <a:lumMod val="50000"/>
                <a:lumOff val="50000"/>
                <a:alpha val="34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îslîḋé"/>
          <p:cNvSpPr/>
          <p:nvPr/>
        </p:nvSpPr>
        <p:spPr>
          <a:xfrm>
            <a:off x="5719364" y="4930036"/>
            <a:ext cx="5707871" cy="1366239"/>
          </a:xfrm>
          <a:prstGeom prst="roundRect">
            <a:avLst>
              <a:gd name="adj" fmla="val 4266"/>
            </a:avLst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8" name="Text Placeholder 1"/>
          <p:cNvSpPr txBox="1"/>
          <p:nvPr/>
        </p:nvSpPr>
        <p:spPr>
          <a:xfrm>
            <a:off x="5982335" y="4509772"/>
            <a:ext cx="3950335" cy="29718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zh-CN" altLang="en-US" sz="2200" b="1" kern="1200" dirty="0" smtClean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开启植入式脑机接口动态电极新范式</a:t>
            </a:r>
          </a:p>
        </p:txBody>
      </p:sp>
      <p:cxnSp>
        <p:nvCxnSpPr>
          <p:cNvPr id="19" name="Straight Connector 5"/>
          <p:cNvCxnSpPr/>
          <p:nvPr/>
        </p:nvCxnSpPr>
        <p:spPr>
          <a:xfrm>
            <a:off x="5761232" y="4827171"/>
            <a:ext cx="180000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68315" dist="31867" dir="3960000" sx="92623" sy="92623" algn="ctr" rotWithShape="0">
              <a:schemeClr val="tx1">
                <a:lumMod val="50000"/>
                <a:lumOff val="50000"/>
                <a:alpha val="34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ibbon-badge-award_66362"/>
          <p:cNvSpPr>
            <a:spLocks noChangeAspect="1"/>
          </p:cNvSpPr>
          <p:nvPr/>
        </p:nvSpPr>
        <p:spPr>
          <a:xfrm>
            <a:off x="891612" y="4438139"/>
            <a:ext cx="238688" cy="295493"/>
          </a:xfrm>
          <a:custGeom>
            <a:avLst/>
            <a:gdLst>
              <a:gd name="connsiteX0" fmla="*/ 233044 w 466411"/>
              <a:gd name="connsiteY0" fmla="*/ 305687 h 577410"/>
              <a:gd name="connsiteX1" fmla="*/ 221976 w 466411"/>
              <a:gd name="connsiteY1" fmla="*/ 313977 h 577410"/>
              <a:gd name="connsiteX2" fmla="*/ 202607 w 466411"/>
              <a:gd name="connsiteY2" fmla="*/ 372006 h 577410"/>
              <a:gd name="connsiteX3" fmla="*/ 141734 w 466411"/>
              <a:gd name="connsiteY3" fmla="*/ 372006 h 577410"/>
              <a:gd name="connsiteX4" fmla="*/ 130666 w 466411"/>
              <a:gd name="connsiteY4" fmla="*/ 380296 h 577410"/>
              <a:gd name="connsiteX5" fmla="*/ 134356 w 466411"/>
              <a:gd name="connsiteY5" fmla="*/ 394112 h 577410"/>
              <a:gd name="connsiteX6" fmla="*/ 184161 w 466411"/>
              <a:gd name="connsiteY6" fmla="*/ 430035 h 577410"/>
              <a:gd name="connsiteX7" fmla="*/ 165715 w 466411"/>
              <a:gd name="connsiteY7" fmla="*/ 488064 h 577410"/>
              <a:gd name="connsiteX8" fmla="*/ 169404 w 466411"/>
              <a:gd name="connsiteY8" fmla="*/ 501880 h 577410"/>
              <a:gd name="connsiteX9" fmla="*/ 184161 w 466411"/>
              <a:gd name="connsiteY9" fmla="*/ 501880 h 577410"/>
              <a:gd name="connsiteX10" fmla="*/ 233044 w 466411"/>
              <a:gd name="connsiteY10" fmla="*/ 465958 h 577410"/>
              <a:gd name="connsiteX11" fmla="*/ 282849 w 466411"/>
              <a:gd name="connsiteY11" fmla="*/ 501880 h 577410"/>
              <a:gd name="connsiteX12" fmla="*/ 290228 w 466411"/>
              <a:gd name="connsiteY12" fmla="*/ 503722 h 577410"/>
              <a:gd name="connsiteX13" fmla="*/ 296684 w 466411"/>
              <a:gd name="connsiteY13" fmla="*/ 501880 h 577410"/>
              <a:gd name="connsiteX14" fmla="*/ 301295 w 466411"/>
              <a:gd name="connsiteY14" fmla="*/ 488064 h 577410"/>
              <a:gd name="connsiteX15" fmla="*/ 282849 w 466411"/>
              <a:gd name="connsiteY15" fmla="*/ 430035 h 577410"/>
              <a:gd name="connsiteX16" fmla="*/ 331732 w 466411"/>
              <a:gd name="connsiteY16" fmla="*/ 394112 h 577410"/>
              <a:gd name="connsiteX17" fmla="*/ 336344 w 466411"/>
              <a:gd name="connsiteY17" fmla="*/ 380296 h 577410"/>
              <a:gd name="connsiteX18" fmla="*/ 324353 w 466411"/>
              <a:gd name="connsiteY18" fmla="*/ 372006 h 577410"/>
              <a:gd name="connsiteX19" fmla="*/ 263480 w 466411"/>
              <a:gd name="connsiteY19" fmla="*/ 372006 h 577410"/>
              <a:gd name="connsiteX20" fmla="*/ 245034 w 466411"/>
              <a:gd name="connsiteY20" fmla="*/ 313977 h 577410"/>
              <a:gd name="connsiteX21" fmla="*/ 233044 w 466411"/>
              <a:gd name="connsiteY21" fmla="*/ 305687 h 577410"/>
              <a:gd name="connsiteX22" fmla="*/ 189810 w 466411"/>
              <a:gd name="connsiteY22" fmla="*/ 251458 h 577410"/>
              <a:gd name="connsiteX23" fmla="*/ 209064 w 466411"/>
              <a:gd name="connsiteY23" fmla="*/ 254106 h 577410"/>
              <a:gd name="connsiteX24" fmla="*/ 233044 w 466411"/>
              <a:gd name="connsiteY24" fmla="*/ 267922 h 577410"/>
              <a:gd name="connsiteX25" fmla="*/ 257024 w 466411"/>
              <a:gd name="connsiteY25" fmla="*/ 254106 h 577410"/>
              <a:gd name="connsiteX26" fmla="*/ 292995 w 466411"/>
              <a:gd name="connsiteY26" fmla="*/ 263317 h 577410"/>
              <a:gd name="connsiteX27" fmla="*/ 306829 w 466411"/>
              <a:gd name="connsiteY27" fmla="*/ 287265 h 577410"/>
              <a:gd name="connsiteX28" fmla="*/ 334499 w 466411"/>
              <a:gd name="connsiteY28" fmla="*/ 287265 h 577410"/>
              <a:gd name="connsiteX29" fmla="*/ 360324 w 466411"/>
              <a:gd name="connsiteY29" fmla="*/ 313056 h 577410"/>
              <a:gd name="connsiteX30" fmla="*/ 360324 w 466411"/>
              <a:gd name="connsiteY30" fmla="*/ 340689 h 577410"/>
              <a:gd name="connsiteX31" fmla="*/ 384304 w 466411"/>
              <a:gd name="connsiteY31" fmla="*/ 354505 h 577410"/>
              <a:gd name="connsiteX32" fmla="*/ 393527 w 466411"/>
              <a:gd name="connsiteY32" fmla="*/ 389507 h 577410"/>
              <a:gd name="connsiteX33" fmla="*/ 379693 w 466411"/>
              <a:gd name="connsiteY33" fmla="*/ 413455 h 577410"/>
              <a:gd name="connsiteX34" fmla="*/ 393527 w 466411"/>
              <a:gd name="connsiteY34" fmla="*/ 437404 h 577410"/>
              <a:gd name="connsiteX35" fmla="*/ 384304 w 466411"/>
              <a:gd name="connsiteY35" fmla="*/ 473326 h 577410"/>
              <a:gd name="connsiteX36" fmla="*/ 360324 w 466411"/>
              <a:gd name="connsiteY36" fmla="*/ 487143 h 577410"/>
              <a:gd name="connsiteX37" fmla="*/ 360324 w 466411"/>
              <a:gd name="connsiteY37" fmla="*/ 514775 h 577410"/>
              <a:gd name="connsiteX38" fmla="*/ 334499 w 466411"/>
              <a:gd name="connsiteY38" fmla="*/ 540566 h 577410"/>
              <a:gd name="connsiteX39" fmla="*/ 306829 w 466411"/>
              <a:gd name="connsiteY39" fmla="*/ 540566 h 577410"/>
              <a:gd name="connsiteX40" fmla="*/ 292995 w 466411"/>
              <a:gd name="connsiteY40" fmla="*/ 564515 h 577410"/>
              <a:gd name="connsiteX41" fmla="*/ 269937 w 466411"/>
              <a:gd name="connsiteY41" fmla="*/ 577410 h 577410"/>
              <a:gd name="connsiteX42" fmla="*/ 257024 w 466411"/>
              <a:gd name="connsiteY42" fmla="*/ 573725 h 577410"/>
              <a:gd name="connsiteX43" fmla="*/ 233044 w 466411"/>
              <a:gd name="connsiteY43" fmla="*/ 559909 h 577410"/>
              <a:gd name="connsiteX44" fmla="*/ 209064 w 466411"/>
              <a:gd name="connsiteY44" fmla="*/ 573725 h 577410"/>
              <a:gd name="connsiteX45" fmla="*/ 174015 w 466411"/>
              <a:gd name="connsiteY45" fmla="*/ 564515 h 577410"/>
              <a:gd name="connsiteX46" fmla="*/ 160181 w 466411"/>
              <a:gd name="connsiteY46" fmla="*/ 540566 h 577410"/>
              <a:gd name="connsiteX47" fmla="*/ 132511 w 466411"/>
              <a:gd name="connsiteY47" fmla="*/ 540566 h 577410"/>
              <a:gd name="connsiteX48" fmla="*/ 106686 w 466411"/>
              <a:gd name="connsiteY48" fmla="*/ 514775 h 577410"/>
              <a:gd name="connsiteX49" fmla="*/ 106686 w 466411"/>
              <a:gd name="connsiteY49" fmla="*/ 487143 h 577410"/>
              <a:gd name="connsiteX50" fmla="*/ 82706 w 466411"/>
              <a:gd name="connsiteY50" fmla="*/ 473326 h 577410"/>
              <a:gd name="connsiteX51" fmla="*/ 73483 w 466411"/>
              <a:gd name="connsiteY51" fmla="*/ 437404 h 577410"/>
              <a:gd name="connsiteX52" fmla="*/ 87317 w 466411"/>
              <a:gd name="connsiteY52" fmla="*/ 413455 h 577410"/>
              <a:gd name="connsiteX53" fmla="*/ 73483 w 466411"/>
              <a:gd name="connsiteY53" fmla="*/ 389507 h 577410"/>
              <a:gd name="connsiteX54" fmla="*/ 82706 w 466411"/>
              <a:gd name="connsiteY54" fmla="*/ 354505 h 577410"/>
              <a:gd name="connsiteX55" fmla="*/ 106686 w 466411"/>
              <a:gd name="connsiteY55" fmla="*/ 340689 h 577410"/>
              <a:gd name="connsiteX56" fmla="*/ 106686 w 466411"/>
              <a:gd name="connsiteY56" fmla="*/ 313056 h 577410"/>
              <a:gd name="connsiteX57" fmla="*/ 132511 w 466411"/>
              <a:gd name="connsiteY57" fmla="*/ 287265 h 577410"/>
              <a:gd name="connsiteX58" fmla="*/ 160181 w 466411"/>
              <a:gd name="connsiteY58" fmla="*/ 287265 h 577410"/>
              <a:gd name="connsiteX59" fmla="*/ 174015 w 466411"/>
              <a:gd name="connsiteY59" fmla="*/ 263317 h 577410"/>
              <a:gd name="connsiteX60" fmla="*/ 189810 w 466411"/>
              <a:gd name="connsiteY60" fmla="*/ 251458 h 577410"/>
              <a:gd name="connsiteX61" fmla="*/ 327019 w 466411"/>
              <a:gd name="connsiteY61" fmla="*/ 1527 h 577410"/>
              <a:gd name="connsiteX62" fmla="*/ 345582 w 466411"/>
              <a:gd name="connsiteY62" fmla="*/ 1757 h 577410"/>
              <a:gd name="connsiteX63" fmla="*/ 449809 w 466411"/>
              <a:gd name="connsiteY63" fmla="*/ 40442 h 577410"/>
              <a:gd name="connsiteX64" fmla="*/ 465489 w 466411"/>
              <a:gd name="connsiteY64" fmla="*/ 56100 h 577410"/>
              <a:gd name="connsiteX65" fmla="*/ 462722 w 466411"/>
              <a:gd name="connsiteY65" fmla="*/ 78206 h 577410"/>
              <a:gd name="connsiteX66" fmla="*/ 345582 w 466411"/>
              <a:gd name="connsiteY66" fmla="*/ 262419 h 577410"/>
              <a:gd name="connsiteX67" fmla="*/ 334513 w 466411"/>
              <a:gd name="connsiteY67" fmla="*/ 261498 h 577410"/>
              <a:gd name="connsiteX68" fmla="*/ 321600 w 466411"/>
              <a:gd name="connsiteY68" fmla="*/ 261498 h 577410"/>
              <a:gd name="connsiteX69" fmla="*/ 315144 w 466411"/>
              <a:gd name="connsiteY69" fmla="*/ 250445 h 577410"/>
              <a:gd name="connsiteX70" fmla="*/ 269948 w 466411"/>
              <a:gd name="connsiteY70" fmla="*/ 224655 h 577410"/>
              <a:gd name="connsiteX71" fmla="*/ 244122 w 466411"/>
              <a:gd name="connsiteY71" fmla="*/ 231103 h 577410"/>
              <a:gd name="connsiteX72" fmla="*/ 233053 w 466411"/>
              <a:gd name="connsiteY72" fmla="*/ 237550 h 577410"/>
              <a:gd name="connsiteX73" fmla="*/ 221985 w 466411"/>
              <a:gd name="connsiteY73" fmla="*/ 231103 h 577410"/>
              <a:gd name="connsiteX74" fmla="*/ 199848 w 466411"/>
              <a:gd name="connsiteY74" fmla="*/ 224655 h 577410"/>
              <a:gd name="connsiteX75" fmla="*/ 313299 w 466411"/>
              <a:gd name="connsiteY75" fmla="*/ 13731 h 577410"/>
              <a:gd name="connsiteX76" fmla="*/ 327019 w 466411"/>
              <a:gd name="connsiteY76" fmla="*/ 1527 h 577410"/>
              <a:gd name="connsiteX77" fmla="*/ 139699 w 466411"/>
              <a:gd name="connsiteY77" fmla="*/ 1526 h 577410"/>
              <a:gd name="connsiteX78" fmla="*/ 153767 w 466411"/>
              <a:gd name="connsiteY78" fmla="*/ 13729 h 577410"/>
              <a:gd name="connsiteX79" fmla="*/ 218341 w 466411"/>
              <a:gd name="connsiteY79" fmla="*/ 134373 h 577410"/>
              <a:gd name="connsiteX80" fmla="*/ 163914 w 466411"/>
              <a:gd name="connsiteY80" fmla="*/ 235677 h 577410"/>
              <a:gd name="connsiteX81" fmla="*/ 151922 w 466411"/>
              <a:gd name="connsiteY81" fmla="*/ 250413 h 577410"/>
              <a:gd name="connsiteX82" fmla="*/ 145465 w 466411"/>
              <a:gd name="connsiteY82" fmla="*/ 261464 h 577410"/>
              <a:gd name="connsiteX83" fmla="*/ 132550 w 466411"/>
              <a:gd name="connsiteY83" fmla="*/ 261464 h 577410"/>
              <a:gd name="connsiteX84" fmla="*/ 121480 w 466411"/>
              <a:gd name="connsiteY84" fmla="*/ 263306 h 577410"/>
              <a:gd name="connsiteX85" fmla="*/ 4324 w 466411"/>
              <a:gd name="connsiteY85" fmla="*/ 78195 h 577410"/>
              <a:gd name="connsiteX86" fmla="*/ 1556 w 466411"/>
              <a:gd name="connsiteY86" fmla="*/ 56092 h 577410"/>
              <a:gd name="connsiteX87" fmla="*/ 17239 w 466411"/>
              <a:gd name="connsiteY87" fmla="*/ 40436 h 577410"/>
              <a:gd name="connsiteX88" fmla="*/ 121480 w 466411"/>
              <a:gd name="connsiteY88" fmla="*/ 1756 h 577410"/>
              <a:gd name="connsiteX89" fmla="*/ 139699 w 466411"/>
              <a:gd name="connsiteY89" fmla="*/ 1526 h 577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466411" h="577410">
                <a:moveTo>
                  <a:pt x="233044" y="305687"/>
                </a:moveTo>
                <a:cubicBezTo>
                  <a:pt x="228432" y="305687"/>
                  <a:pt x="223821" y="309372"/>
                  <a:pt x="221976" y="313977"/>
                </a:cubicBezTo>
                <a:lnTo>
                  <a:pt x="202607" y="372006"/>
                </a:lnTo>
                <a:lnTo>
                  <a:pt x="141734" y="372006"/>
                </a:lnTo>
                <a:cubicBezTo>
                  <a:pt x="137123" y="372006"/>
                  <a:pt x="131589" y="375690"/>
                  <a:pt x="130666" y="380296"/>
                </a:cubicBezTo>
                <a:cubicBezTo>
                  <a:pt x="128822" y="385822"/>
                  <a:pt x="130666" y="391349"/>
                  <a:pt x="134356" y="394112"/>
                </a:cubicBezTo>
                <a:lnTo>
                  <a:pt x="184161" y="430035"/>
                </a:lnTo>
                <a:lnTo>
                  <a:pt x="165715" y="488064"/>
                </a:lnTo>
                <a:cubicBezTo>
                  <a:pt x="163870" y="492669"/>
                  <a:pt x="165715" y="498196"/>
                  <a:pt x="169404" y="501880"/>
                </a:cubicBezTo>
                <a:cubicBezTo>
                  <a:pt x="174015" y="504643"/>
                  <a:pt x="179549" y="504643"/>
                  <a:pt x="184161" y="501880"/>
                </a:cubicBezTo>
                <a:lnTo>
                  <a:pt x="233044" y="465958"/>
                </a:lnTo>
                <a:lnTo>
                  <a:pt x="282849" y="501880"/>
                </a:lnTo>
                <a:cubicBezTo>
                  <a:pt x="284694" y="502801"/>
                  <a:pt x="287461" y="503722"/>
                  <a:pt x="290228" y="503722"/>
                </a:cubicBezTo>
                <a:cubicBezTo>
                  <a:pt x="292072" y="503722"/>
                  <a:pt x="294839" y="502801"/>
                  <a:pt x="296684" y="501880"/>
                </a:cubicBezTo>
                <a:cubicBezTo>
                  <a:pt x="301295" y="498196"/>
                  <a:pt x="303140" y="492669"/>
                  <a:pt x="301295" y="488064"/>
                </a:cubicBezTo>
                <a:lnTo>
                  <a:pt x="282849" y="430035"/>
                </a:lnTo>
                <a:lnTo>
                  <a:pt x="331732" y="394112"/>
                </a:lnTo>
                <a:cubicBezTo>
                  <a:pt x="336344" y="391349"/>
                  <a:pt x="338188" y="385822"/>
                  <a:pt x="336344" y="380296"/>
                </a:cubicBezTo>
                <a:cubicBezTo>
                  <a:pt x="334499" y="375690"/>
                  <a:pt x="329887" y="372006"/>
                  <a:pt x="324353" y="372006"/>
                </a:cubicBezTo>
                <a:lnTo>
                  <a:pt x="263480" y="372006"/>
                </a:lnTo>
                <a:lnTo>
                  <a:pt x="245034" y="313977"/>
                </a:lnTo>
                <a:cubicBezTo>
                  <a:pt x="243189" y="309372"/>
                  <a:pt x="238578" y="305687"/>
                  <a:pt x="233044" y="305687"/>
                </a:cubicBezTo>
                <a:close/>
                <a:moveTo>
                  <a:pt x="189810" y="251458"/>
                </a:moveTo>
                <a:cubicBezTo>
                  <a:pt x="196151" y="249731"/>
                  <a:pt x="203069" y="250422"/>
                  <a:pt x="209064" y="254106"/>
                </a:cubicBezTo>
                <a:lnTo>
                  <a:pt x="233044" y="267922"/>
                </a:lnTo>
                <a:lnTo>
                  <a:pt x="257024" y="254106"/>
                </a:lnTo>
                <a:cubicBezTo>
                  <a:pt x="269937" y="246737"/>
                  <a:pt x="285616" y="251343"/>
                  <a:pt x="292995" y="263317"/>
                </a:cubicBezTo>
                <a:lnTo>
                  <a:pt x="306829" y="287265"/>
                </a:lnTo>
                <a:lnTo>
                  <a:pt x="334499" y="287265"/>
                </a:lnTo>
                <a:cubicBezTo>
                  <a:pt x="348334" y="287265"/>
                  <a:pt x="360324" y="299240"/>
                  <a:pt x="360324" y="313056"/>
                </a:cubicBezTo>
                <a:lnTo>
                  <a:pt x="360324" y="340689"/>
                </a:lnTo>
                <a:lnTo>
                  <a:pt x="384304" y="354505"/>
                </a:lnTo>
                <a:cubicBezTo>
                  <a:pt x="396294" y="361874"/>
                  <a:pt x="400906" y="377533"/>
                  <a:pt x="393527" y="389507"/>
                </a:cubicBezTo>
                <a:lnTo>
                  <a:pt x="379693" y="413455"/>
                </a:lnTo>
                <a:lnTo>
                  <a:pt x="393527" y="437404"/>
                </a:lnTo>
                <a:cubicBezTo>
                  <a:pt x="400906" y="450299"/>
                  <a:pt x="396294" y="465958"/>
                  <a:pt x="384304" y="473326"/>
                </a:cubicBezTo>
                <a:lnTo>
                  <a:pt x="360324" y="487143"/>
                </a:lnTo>
                <a:lnTo>
                  <a:pt x="360324" y="514775"/>
                </a:lnTo>
                <a:cubicBezTo>
                  <a:pt x="360324" y="528592"/>
                  <a:pt x="348334" y="540566"/>
                  <a:pt x="334499" y="540566"/>
                </a:cubicBezTo>
                <a:lnTo>
                  <a:pt x="306829" y="540566"/>
                </a:lnTo>
                <a:lnTo>
                  <a:pt x="292995" y="564515"/>
                </a:lnTo>
                <a:cubicBezTo>
                  <a:pt x="287461" y="572804"/>
                  <a:pt x="279160" y="577410"/>
                  <a:pt x="269937" y="577410"/>
                </a:cubicBezTo>
                <a:cubicBezTo>
                  <a:pt x="266247" y="577410"/>
                  <a:pt x="261636" y="575568"/>
                  <a:pt x="257024" y="573725"/>
                </a:cubicBezTo>
                <a:lnTo>
                  <a:pt x="233044" y="559909"/>
                </a:lnTo>
                <a:lnTo>
                  <a:pt x="209064" y="573725"/>
                </a:lnTo>
                <a:cubicBezTo>
                  <a:pt x="197073" y="581094"/>
                  <a:pt x="181394" y="576489"/>
                  <a:pt x="174015" y="564515"/>
                </a:cubicBezTo>
                <a:lnTo>
                  <a:pt x="160181" y="540566"/>
                </a:lnTo>
                <a:lnTo>
                  <a:pt x="132511" y="540566"/>
                </a:lnTo>
                <a:cubicBezTo>
                  <a:pt x="118676" y="540566"/>
                  <a:pt x="106686" y="528592"/>
                  <a:pt x="106686" y="514775"/>
                </a:cubicBezTo>
                <a:lnTo>
                  <a:pt x="106686" y="487143"/>
                </a:lnTo>
                <a:lnTo>
                  <a:pt x="82706" y="473326"/>
                </a:lnTo>
                <a:cubicBezTo>
                  <a:pt x="70716" y="465958"/>
                  <a:pt x="66104" y="450299"/>
                  <a:pt x="73483" y="437404"/>
                </a:cubicBezTo>
                <a:lnTo>
                  <a:pt x="87317" y="413455"/>
                </a:lnTo>
                <a:lnTo>
                  <a:pt x="73483" y="389507"/>
                </a:lnTo>
                <a:cubicBezTo>
                  <a:pt x="66104" y="377533"/>
                  <a:pt x="70716" y="361874"/>
                  <a:pt x="82706" y="354505"/>
                </a:cubicBezTo>
                <a:lnTo>
                  <a:pt x="106686" y="340689"/>
                </a:lnTo>
                <a:lnTo>
                  <a:pt x="106686" y="313056"/>
                </a:lnTo>
                <a:cubicBezTo>
                  <a:pt x="106686" y="299240"/>
                  <a:pt x="118676" y="287265"/>
                  <a:pt x="132511" y="287265"/>
                </a:cubicBezTo>
                <a:lnTo>
                  <a:pt x="160181" y="287265"/>
                </a:lnTo>
                <a:lnTo>
                  <a:pt x="174015" y="263317"/>
                </a:lnTo>
                <a:cubicBezTo>
                  <a:pt x="177705" y="257330"/>
                  <a:pt x="183469" y="253185"/>
                  <a:pt x="189810" y="251458"/>
                </a:cubicBezTo>
                <a:close/>
                <a:moveTo>
                  <a:pt x="327019" y="1527"/>
                </a:moveTo>
                <a:cubicBezTo>
                  <a:pt x="332669" y="-545"/>
                  <a:pt x="339126" y="-545"/>
                  <a:pt x="345582" y="1757"/>
                </a:cubicBezTo>
                <a:lnTo>
                  <a:pt x="449809" y="40442"/>
                </a:lnTo>
                <a:cubicBezTo>
                  <a:pt x="457188" y="43205"/>
                  <a:pt x="462722" y="48731"/>
                  <a:pt x="465489" y="56100"/>
                </a:cubicBezTo>
                <a:cubicBezTo>
                  <a:pt x="467334" y="63469"/>
                  <a:pt x="466412" y="71758"/>
                  <a:pt x="462722" y="78206"/>
                </a:cubicBezTo>
                <a:lnTo>
                  <a:pt x="345582" y="262419"/>
                </a:lnTo>
                <a:cubicBezTo>
                  <a:pt x="341892" y="262419"/>
                  <a:pt x="338203" y="261498"/>
                  <a:pt x="334513" y="261498"/>
                </a:cubicBezTo>
                <a:lnTo>
                  <a:pt x="321600" y="261498"/>
                </a:lnTo>
                <a:lnTo>
                  <a:pt x="315144" y="250445"/>
                </a:lnTo>
                <a:cubicBezTo>
                  <a:pt x="305920" y="234787"/>
                  <a:pt x="288395" y="224655"/>
                  <a:pt x="269948" y="224655"/>
                </a:cubicBezTo>
                <a:cubicBezTo>
                  <a:pt x="261646" y="224655"/>
                  <a:pt x="252423" y="226497"/>
                  <a:pt x="244122" y="231103"/>
                </a:cubicBezTo>
                <a:lnTo>
                  <a:pt x="233053" y="237550"/>
                </a:lnTo>
                <a:lnTo>
                  <a:pt x="221985" y="231103"/>
                </a:lnTo>
                <a:cubicBezTo>
                  <a:pt x="215528" y="227418"/>
                  <a:pt x="207227" y="225576"/>
                  <a:pt x="199848" y="224655"/>
                </a:cubicBezTo>
                <a:lnTo>
                  <a:pt x="313299" y="13731"/>
                </a:lnTo>
                <a:cubicBezTo>
                  <a:pt x="316528" y="7744"/>
                  <a:pt x="321370" y="3599"/>
                  <a:pt x="327019" y="1527"/>
                </a:cubicBezTo>
                <a:close/>
                <a:moveTo>
                  <a:pt x="139699" y="1526"/>
                </a:moveTo>
                <a:cubicBezTo>
                  <a:pt x="145464" y="3598"/>
                  <a:pt x="150538" y="7743"/>
                  <a:pt x="153767" y="13729"/>
                </a:cubicBezTo>
                <a:lnTo>
                  <a:pt x="218341" y="134373"/>
                </a:lnTo>
                <a:lnTo>
                  <a:pt x="163914" y="235677"/>
                </a:lnTo>
                <a:cubicBezTo>
                  <a:pt x="159302" y="240282"/>
                  <a:pt x="154689" y="244887"/>
                  <a:pt x="151922" y="250413"/>
                </a:cubicBezTo>
                <a:lnTo>
                  <a:pt x="145465" y="261464"/>
                </a:lnTo>
                <a:lnTo>
                  <a:pt x="132550" y="261464"/>
                </a:lnTo>
                <a:cubicBezTo>
                  <a:pt x="128860" y="261464"/>
                  <a:pt x="124247" y="262385"/>
                  <a:pt x="121480" y="263306"/>
                </a:cubicBezTo>
                <a:lnTo>
                  <a:pt x="4324" y="78195"/>
                </a:lnTo>
                <a:cubicBezTo>
                  <a:pt x="-289" y="71749"/>
                  <a:pt x="-1211" y="63460"/>
                  <a:pt x="1556" y="56092"/>
                </a:cubicBezTo>
                <a:cubicBezTo>
                  <a:pt x="4324" y="48725"/>
                  <a:pt x="9859" y="43199"/>
                  <a:pt x="17239" y="40436"/>
                </a:cubicBezTo>
                <a:lnTo>
                  <a:pt x="121480" y="1756"/>
                </a:lnTo>
                <a:cubicBezTo>
                  <a:pt x="127476" y="-546"/>
                  <a:pt x="133933" y="-546"/>
                  <a:pt x="139699" y="15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149157" y="5100838"/>
            <a:ext cx="1080000" cy="2393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1200">
                <a:solidFill>
                  <a:srgbClr val="3A3A3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b="1" dirty="0">
                <a:latin typeface="Arial" panose="020B0604020202020204" pitchFamily="34" charset="0"/>
                <a:sym typeface="Arial" panose="020B0604020202020204" pitchFamily="34" charset="0"/>
              </a:rPr>
              <a:t>微血管可达性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9297670" y="5100959"/>
            <a:ext cx="1869440" cy="2393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rgbClr val="3A3A3A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多电极协同可布控性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534275" y="5100959"/>
            <a:ext cx="1845310" cy="2393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1200">
                <a:solidFill>
                  <a:srgbClr val="3A3A3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深脑功能区可调控性</a:t>
            </a:r>
          </a:p>
        </p:txBody>
      </p:sp>
      <p:sp>
        <p:nvSpPr>
          <p:cNvPr id="42" name="first-place-award-badge-symbol_47993"/>
          <p:cNvSpPr>
            <a:spLocks noChangeAspect="1"/>
          </p:cNvSpPr>
          <p:nvPr/>
        </p:nvSpPr>
        <p:spPr>
          <a:xfrm>
            <a:off x="5761191" y="4495335"/>
            <a:ext cx="293353" cy="288781"/>
          </a:xfrm>
          <a:custGeom>
            <a:avLst/>
            <a:gdLst>
              <a:gd name="connsiteX0" fmla="*/ 242885 w 558119"/>
              <a:gd name="connsiteY0" fmla="*/ 500412 h 549421"/>
              <a:gd name="connsiteX1" fmla="*/ 239009 w 558119"/>
              <a:gd name="connsiteY1" fmla="*/ 524916 h 549421"/>
              <a:gd name="connsiteX2" fmla="*/ 244177 w 558119"/>
              <a:gd name="connsiteY2" fmla="*/ 526206 h 549421"/>
              <a:gd name="connsiteX3" fmla="*/ 257096 w 558119"/>
              <a:gd name="connsiteY3" fmla="*/ 527496 h 549421"/>
              <a:gd name="connsiteX4" fmla="*/ 275184 w 558119"/>
              <a:gd name="connsiteY4" fmla="*/ 528786 h 549421"/>
              <a:gd name="connsiteX5" fmla="*/ 279060 w 558119"/>
              <a:gd name="connsiteY5" fmla="*/ 527496 h 549421"/>
              <a:gd name="connsiteX6" fmla="*/ 282935 w 558119"/>
              <a:gd name="connsiteY6" fmla="*/ 528786 h 549421"/>
              <a:gd name="connsiteX7" fmla="*/ 301023 w 558119"/>
              <a:gd name="connsiteY7" fmla="*/ 527496 h 549421"/>
              <a:gd name="connsiteX8" fmla="*/ 313942 w 558119"/>
              <a:gd name="connsiteY8" fmla="*/ 526206 h 549421"/>
              <a:gd name="connsiteX9" fmla="*/ 319110 w 558119"/>
              <a:gd name="connsiteY9" fmla="*/ 524916 h 549421"/>
              <a:gd name="connsiteX10" fmla="*/ 315234 w 558119"/>
              <a:gd name="connsiteY10" fmla="*/ 500412 h 549421"/>
              <a:gd name="connsiteX11" fmla="*/ 279060 w 558119"/>
              <a:gd name="connsiteY11" fmla="*/ 504281 h 549421"/>
              <a:gd name="connsiteX12" fmla="*/ 242885 w 558119"/>
              <a:gd name="connsiteY12" fmla="*/ 500412 h 549421"/>
              <a:gd name="connsiteX13" fmla="*/ 461223 w 558119"/>
              <a:gd name="connsiteY13" fmla="*/ 407552 h 549421"/>
              <a:gd name="connsiteX14" fmla="*/ 417297 w 558119"/>
              <a:gd name="connsiteY14" fmla="*/ 455271 h 549421"/>
              <a:gd name="connsiteX15" fmla="*/ 434093 w 558119"/>
              <a:gd name="connsiteY15" fmla="*/ 478486 h 549421"/>
              <a:gd name="connsiteX16" fmla="*/ 437968 w 558119"/>
              <a:gd name="connsiteY16" fmla="*/ 474617 h 549421"/>
              <a:gd name="connsiteX17" fmla="*/ 448304 w 558119"/>
              <a:gd name="connsiteY17" fmla="*/ 466879 h 549421"/>
              <a:gd name="connsiteX18" fmla="*/ 462515 w 558119"/>
              <a:gd name="connsiteY18" fmla="*/ 453982 h 549421"/>
              <a:gd name="connsiteX19" fmla="*/ 474143 w 558119"/>
              <a:gd name="connsiteY19" fmla="*/ 439795 h 549421"/>
              <a:gd name="connsiteX20" fmla="*/ 483186 w 558119"/>
              <a:gd name="connsiteY20" fmla="*/ 430767 h 549421"/>
              <a:gd name="connsiteX21" fmla="*/ 485770 w 558119"/>
              <a:gd name="connsiteY21" fmla="*/ 425608 h 549421"/>
              <a:gd name="connsiteX22" fmla="*/ 96896 w 558119"/>
              <a:gd name="connsiteY22" fmla="*/ 407552 h 549421"/>
              <a:gd name="connsiteX23" fmla="*/ 72349 w 558119"/>
              <a:gd name="connsiteY23" fmla="*/ 425608 h 549421"/>
              <a:gd name="connsiteX24" fmla="*/ 74933 w 558119"/>
              <a:gd name="connsiteY24" fmla="*/ 430767 h 549421"/>
              <a:gd name="connsiteX25" fmla="*/ 83976 w 558119"/>
              <a:gd name="connsiteY25" fmla="*/ 439795 h 549421"/>
              <a:gd name="connsiteX26" fmla="*/ 95604 w 558119"/>
              <a:gd name="connsiteY26" fmla="*/ 453982 h 549421"/>
              <a:gd name="connsiteX27" fmla="*/ 109815 w 558119"/>
              <a:gd name="connsiteY27" fmla="*/ 466879 h 549421"/>
              <a:gd name="connsiteX28" fmla="*/ 120151 w 558119"/>
              <a:gd name="connsiteY28" fmla="*/ 474617 h 549421"/>
              <a:gd name="connsiteX29" fmla="*/ 124026 w 558119"/>
              <a:gd name="connsiteY29" fmla="*/ 478486 h 549421"/>
              <a:gd name="connsiteX30" fmla="*/ 142114 w 558119"/>
              <a:gd name="connsiteY30" fmla="*/ 455271 h 549421"/>
              <a:gd name="connsiteX31" fmla="*/ 96896 w 558119"/>
              <a:gd name="connsiteY31" fmla="*/ 407552 h 549421"/>
              <a:gd name="connsiteX32" fmla="*/ 533572 w 558119"/>
              <a:gd name="connsiteY32" fmla="*/ 237309 h 549421"/>
              <a:gd name="connsiteX33" fmla="*/ 498690 w 558119"/>
              <a:gd name="connsiteY33" fmla="*/ 242468 h 549421"/>
              <a:gd name="connsiteX34" fmla="*/ 501274 w 558119"/>
              <a:gd name="connsiteY34" fmla="*/ 281159 h 549421"/>
              <a:gd name="connsiteX35" fmla="*/ 499982 w 558119"/>
              <a:gd name="connsiteY35" fmla="*/ 306954 h 549421"/>
              <a:gd name="connsiteX36" fmla="*/ 533572 w 558119"/>
              <a:gd name="connsiteY36" fmla="*/ 312112 h 549421"/>
              <a:gd name="connsiteX37" fmla="*/ 534864 w 558119"/>
              <a:gd name="connsiteY37" fmla="*/ 305664 h 549421"/>
              <a:gd name="connsiteX38" fmla="*/ 536156 w 558119"/>
              <a:gd name="connsiteY38" fmla="*/ 294056 h 549421"/>
              <a:gd name="connsiteX39" fmla="*/ 536156 w 558119"/>
              <a:gd name="connsiteY39" fmla="*/ 274711 h 549421"/>
              <a:gd name="connsiteX40" fmla="*/ 536156 w 558119"/>
              <a:gd name="connsiteY40" fmla="*/ 256654 h 549421"/>
              <a:gd name="connsiteX41" fmla="*/ 534864 w 558119"/>
              <a:gd name="connsiteY41" fmla="*/ 243757 h 549421"/>
              <a:gd name="connsiteX42" fmla="*/ 533572 w 558119"/>
              <a:gd name="connsiteY42" fmla="*/ 237309 h 549421"/>
              <a:gd name="connsiteX43" fmla="*/ 24547 w 558119"/>
              <a:gd name="connsiteY43" fmla="*/ 237309 h 549421"/>
              <a:gd name="connsiteX44" fmla="*/ 23255 w 558119"/>
              <a:gd name="connsiteY44" fmla="*/ 243757 h 549421"/>
              <a:gd name="connsiteX45" fmla="*/ 21963 w 558119"/>
              <a:gd name="connsiteY45" fmla="*/ 256654 h 549421"/>
              <a:gd name="connsiteX46" fmla="*/ 21963 w 558119"/>
              <a:gd name="connsiteY46" fmla="*/ 274711 h 549421"/>
              <a:gd name="connsiteX47" fmla="*/ 21963 w 558119"/>
              <a:gd name="connsiteY47" fmla="*/ 294056 h 549421"/>
              <a:gd name="connsiteX48" fmla="*/ 23255 w 558119"/>
              <a:gd name="connsiteY48" fmla="*/ 305664 h 549421"/>
              <a:gd name="connsiteX49" fmla="*/ 24547 w 558119"/>
              <a:gd name="connsiteY49" fmla="*/ 312112 h 549421"/>
              <a:gd name="connsiteX50" fmla="*/ 58137 w 558119"/>
              <a:gd name="connsiteY50" fmla="*/ 306954 h 549421"/>
              <a:gd name="connsiteX51" fmla="*/ 56845 w 558119"/>
              <a:gd name="connsiteY51" fmla="*/ 281159 h 549421"/>
              <a:gd name="connsiteX52" fmla="*/ 60721 w 558119"/>
              <a:gd name="connsiteY52" fmla="*/ 242468 h 549421"/>
              <a:gd name="connsiteX53" fmla="*/ 317761 w 558119"/>
              <a:gd name="connsiteY53" fmla="*/ 212893 h 549421"/>
              <a:gd name="connsiteX54" fmla="*/ 328106 w 558119"/>
              <a:gd name="connsiteY54" fmla="*/ 214182 h 549421"/>
              <a:gd name="connsiteX55" fmla="*/ 335865 w 558119"/>
              <a:gd name="connsiteY55" fmla="*/ 216760 h 549421"/>
              <a:gd name="connsiteX56" fmla="*/ 342331 w 558119"/>
              <a:gd name="connsiteY56" fmla="*/ 223206 h 549421"/>
              <a:gd name="connsiteX57" fmla="*/ 344918 w 558119"/>
              <a:gd name="connsiteY57" fmla="*/ 232229 h 549421"/>
              <a:gd name="connsiteX58" fmla="*/ 326813 w 558119"/>
              <a:gd name="connsiteY58" fmla="*/ 232229 h 549421"/>
              <a:gd name="connsiteX59" fmla="*/ 324227 w 558119"/>
              <a:gd name="connsiteY59" fmla="*/ 227073 h 549421"/>
              <a:gd name="connsiteX60" fmla="*/ 317761 w 558119"/>
              <a:gd name="connsiteY60" fmla="*/ 225784 h 549421"/>
              <a:gd name="connsiteX61" fmla="*/ 315175 w 558119"/>
              <a:gd name="connsiteY61" fmla="*/ 225784 h 549421"/>
              <a:gd name="connsiteX62" fmla="*/ 312588 w 558119"/>
              <a:gd name="connsiteY62" fmla="*/ 225784 h 549421"/>
              <a:gd name="connsiteX63" fmla="*/ 311295 w 558119"/>
              <a:gd name="connsiteY63" fmla="*/ 228362 h 549421"/>
              <a:gd name="connsiteX64" fmla="*/ 310002 w 558119"/>
              <a:gd name="connsiteY64" fmla="*/ 229651 h 549421"/>
              <a:gd name="connsiteX65" fmla="*/ 312588 w 558119"/>
              <a:gd name="connsiteY65" fmla="*/ 233518 h 549421"/>
              <a:gd name="connsiteX66" fmla="*/ 317761 w 558119"/>
              <a:gd name="connsiteY66" fmla="*/ 236096 h 549421"/>
              <a:gd name="connsiteX67" fmla="*/ 325520 w 558119"/>
              <a:gd name="connsiteY67" fmla="*/ 237385 h 549421"/>
              <a:gd name="connsiteX68" fmla="*/ 331986 w 558119"/>
              <a:gd name="connsiteY68" fmla="*/ 238674 h 549421"/>
              <a:gd name="connsiteX69" fmla="*/ 339745 w 558119"/>
              <a:gd name="connsiteY69" fmla="*/ 241252 h 549421"/>
              <a:gd name="connsiteX70" fmla="*/ 344918 w 558119"/>
              <a:gd name="connsiteY70" fmla="*/ 246409 h 549421"/>
              <a:gd name="connsiteX71" fmla="*/ 347504 w 558119"/>
              <a:gd name="connsiteY71" fmla="*/ 250276 h 549421"/>
              <a:gd name="connsiteX72" fmla="*/ 347504 w 558119"/>
              <a:gd name="connsiteY72" fmla="*/ 255432 h 549421"/>
              <a:gd name="connsiteX73" fmla="*/ 344918 w 558119"/>
              <a:gd name="connsiteY73" fmla="*/ 265745 h 549421"/>
              <a:gd name="connsiteX74" fmla="*/ 338452 w 558119"/>
              <a:gd name="connsiteY74" fmla="*/ 272190 h 549421"/>
              <a:gd name="connsiteX75" fmla="*/ 329400 w 558119"/>
              <a:gd name="connsiteY75" fmla="*/ 276057 h 549421"/>
              <a:gd name="connsiteX76" fmla="*/ 319054 w 558119"/>
              <a:gd name="connsiteY76" fmla="*/ 276057 h 549421"/>
              <a:gd name="connsiteX77" fmla="*/ 307415 w 558119"/>
              <a:gd name="connsiteY77" fmla="*/ 276057 h 549421"/>
              <a:gd name="connsiteX78" fmla="*/ 298363 w 558119"/>
              <a:gd name="connsiteY78" fmla="*/ 272190 h 549421"/>
              <a:gd name="connsiteX79" fmla="*/ 291897 w 558119"/>
              <a:gd name="connsiteY79" fmla="*/ 265745 h 549421"/>
              <a:gd name="connsiteX80" fmla="*/ 289311 w 558119"/>
              <a:gd name="connsiteY80" fmla="*/ 255432 h 549421"/>
              <a:gd name="connsiteX81" fmla="*/ 307415 w 558119"/>
              <a:gd name="connsiteY81" fmla="*/ 255432 h 549421"/>
              <a:gd name="connsiteX82" fmla="*/ 308709 w 558119"/>
              <a:gd name="connsiteY82" fmla="*/ 259299 h 549421"/>
              <a:gd name="connsiteX83" fmla="*/ 311295 w 558119"/>
              <a:gd name="connsiteY83" fmla="*/ 261877 h 549421"/>
              <a:gd name="connsiteX84" fmla="*/ 313881 w 558119"/>
              <a:gd name="connsiteY84" fmla="*/ 263166 h 549421"/>
              <a:gd name="connsiteX85" fmla="*/ 319054 w 558119"/>
              <a:gd name="connsiteY85" fmla="*/ 264455 h 549421"/>
              <a:gd name="connsiteX86" fmla="*/ 321640 w 558119"/>
              <a:gd name="connsiteY86" fmla="*/ 263166 h 549421"/>
              <a:gd name="connsiteX87" fmla="*/ 324227 w 558119"/>
              <a:gd name="connsiteY87" fmla="*/ 261877 h 549421"/>
              <a:gd name="connsiteX88" fmla="*/ 326813 w 558119"/>
              <a:gd name="connsiteY88" fmla="*/ 260588 h 549421"/>
              <a:gd name="connsiteX89" fmla="*/ 328106 w 558119"/>
              <a:gd name="connsiteY89" fmla="*/ 258010 h 549421"/>
              <a:gd name="connsiteX90" fmla="*/ 326813 w 558119"/>
              <a:gd name="connsiteY90" fmla="*/ 254143 h 549421"/>
              <a:gd name="connsiteX91" fmla="*/ 324227 w 558119"/>
              <a:gd name="connsiteY91" fmla="*/ 252854 h 549421"/>
              <a:gd name="connsiteX92" fmla="*/ 321640 w 558119"/>
              <a:gd name="connsiteY92" fmla="*/ 251565 h 549421"/>
              <a:gd name="connsiteX93" fmla="*/ 317761 w 558119"/>
              <a:gd name="connsiteY93" fmla="*/ 251565 h 549421"/>
              <a:gd name="connsiteX94" fmla="*/ 308709 w 558119"/>
              <a:gd name="connsiteY94" fmla="*/ 248987 h 549421"/>
              <a:gd name="connsiteX95" fmla="*/ 299656 w 558119"/>
              <a:gd name="connsiteY95" fmla="*/ 246409 h 549421"/>
              <a:gd name="connsiteX96" fmla="*/ 293191 w 558119"/>
              <a:gd name="connsiteY96" fmla="*/ 241252 h 549421"/>
              <a:gd name="connsiteX97" fmla="*/ 290604 w 558119"/>
              <a:gd name="connsiteY97" fmla="*/ 230940 h 549421"/>
              <a:gd name="connsiteX98" fmla="*/ 293191 w 558119"/>
              <a:gd name="connsiteY98" fmla="*/ 221916 h 549421"/>
              <a:gd name="connsiteX99" fmla="*/ 299656 w 558119"/>
              <a:gd name="connsiteY99" fmla="*/ 216760 h 549421"/>
              <a:gd name="connsiteX100" fmla="*/ 308709 w 558119"/>
              <a:gd name="connsiteY100" fmla="*/ 214182 h 549421"/>
              <a:gd name="connsiteX101" fmla="*/ 317761 w 558119"/>
              <a:gd name="connsiteY101" fmla="*/ 212893 h 549421"/>
              <a:gd name="connsiteX102" fmla="*/ 231211 w 558119"/>
              <a:gd name="connsiteY102" fmla="*/ 199846 h 549421"/>
              <a:gd name="connsiteX103" fmla="*/ 266116 w 558119"/>
              <a:gd name="connsiteY103" fmla="*/ 199846 h 549421"/>
              <a:gd name="connsiteX104" fmla="*/ 266116 w 558119"/>
              <a:gd name="connsiteY104" fmla="*/ 370285 h 549421"/>
              <a:gd name="connsiteX105" fmla="*/ 222162 w 558119"/>
              <a:gd name="connsiteY105" fmla="*/ 370285 h 549421"/>
              <a:gd name="connsiteX106" fmla="*/ 222162 w 558119"/>
              <a:gd name="connsiteY106" fmla="*/ 265697 h 549421"/>
              <a:gd name="connsiteX107" fmla="*/ 180793 w 558119"/>
              <a:gd name="connsiteY107" fmla="*/ 265697 h 549421"/>
              <a:gd name="connsiteX108" fmla="*/ 180793 w 558119"/>
              <a:gd name="connsiteY108" fmla="*/ 234709 h 549421"/>
              <a:gd name="connsiteX109" fmla="*/ 198892 w 558119"/>
              <a:gd name="connsiteY109" fmla="*/ 233417 h 549421"/>
              <a:gd name="connsiteX110" fmla="*/ 214405 w 558119"/>
              <a:gd name="connsiteY110" fmla="*/ 228253 h 549421"/>
              <a:gd name="connsiteX111" fmla="*/ 226040 w 558119"/>
              <a:gd name="connsiteY111" fmla="*/ 216632 h 549421"/>
              <a:gd name="connsiteX112" fmla="*/ 231211 w 558119"/>
              <a:gd name="connsiteY112" fmla="*/ 199846 h 549421"/>
              <a:gd name="connsiteX113" fmla="*/ 361731 w 558119"/>
              <a:gd name="connsiteY113" fmla="*/ 196118 h 549421"/>
              <a:gd name="connsiteX114" fmla="*/ 381028 w 558119"/>
              <a:gd name="connsiteY114" fmla="*/ 196118 h 549421"/>
              <a:gd name="connsiteX115" fmla="*/ 381028 w 558119"/>
              <a:gd name="connsiteY115" fmla="*/ 214169 h 549421"/>
              <a:gd name="connsiteX116" fmla="*/ 393893 w 558119"/>
              <a:gd name="connsiteY116" fmla="*/ 214169 h 549421"/>
              <a:gd name="connsiteX117" fmla="*/ 393893 w 558119"/>
              <a:gd name="connsiteY117" fmla="*/ 227062 h 549421"/>
              <a:gd name="connsiteX118" fmla="*/ 381028 w 558119"/>
              <a:gd name="connsiteY118" fmla="*/ 227062 h 549421"/>
              <a:gd name="connsiteX119" fmla="*/ 381028 w 558119"/>
              <a:gd name="connsiteY119" fmla="*/ 255427 h 549421"/>
              <a:gd name="connsiteX120" fmla="*/ 383601 w 558119"/>
              <a:gd name="connsiteY120" fmla="*/ 259295 h 549421"/>
              <a:gd name="connsiteX121" fmla="*/ 388747 w 558119"/>
              <a:gd name="connsiteY121" fmla="*/ 260584 h 549421"/>
              <a:gd name="connsiteX122" fmla="*/ 391320 w 558119"/>
              <a:gd name="connsiteY122" fmla="*/ 260584 h 549421"/>
              <a:gd name="connsiteX123" fmla="*/ 393893 w 558119"/>
              <a:gd name="connsiteY123" fmla="*/ 260584 h 549421"/>
              <a:gd name="connsiteX124" fmla="*/ 393893 w 558119"/>
              <a:gd name="connsiteY124" fmla="*/ 274767 h 549421"/>
              <a:gd name="connsiteX125" fmla="*/ 388747 w 558119"/>
              <a:gd name="connsiteY125" fmla="*/ 274767 h 549421"/>
              <a:gd name="connsiteX126" fmla="*/ 382315 w 558119"/>
              <a:gd name="connsiteY126" fmla="*/ 276056 h 549421"/>
              <a:gd name="connsiteX127" fmla="*/ 372023 w 558119"/>
              <a:gd name="connsiteY127" fmla="*/ 274767 h 549421"/>
              <a:gd name="connsiteX128" fmla="*/ 365590 w 558119"/>
              <a:gd name="connsiteY128" fmla="*/ 270899 h 549421"/>
              <a:gd name="connsiteX129" fmla="*/ 363017 w 558119"/>
              <a:gd name="connsiteY129" fmla="*/ 264452 h 549421"/>
              <a:gd name="connsiteX130" fmla="*/ 361731 w 558119"/>
              <a:gd name="connsiteY130" fmla="*/ 254138 h 549421"/>
              <a:gd name="connsiteX131" fmla="*/ 361731 w 558119"/>
              <a:gd name="connsiteY131" fmla="*/ 227062 h 549421"/>
              <a:gd name="connsiteX132" fmla="*/ 351439 w 558119"/>
              <a:gd name="connsiteY132" fmla="*/ 227062 h 549421"/>
              <a:gd name="connsiteX133" fmla="*/ 351439 w 558119"/>
              <a:gd name="connsiteY133" fmla="*/ 214169 h 549421"/>
              <a:gd name="connsiteX134" fmla="*/ 361731 w 558119"/>
              <a:gd name="connsiteY134" fmla="*/ 214169 h 549421"/>
              <a:gd name="connsiteX135" fmla="*/ 279060 w 558119"/>
              <a:gd name="connsiteY135" fmla="*/ 122523 h 549421"/>
              <a:gd name="connsiteX136" fmla="*/ 121443 w 558119"/>
              <a:gd name="connsiteY136" fmla="*/ 281159 h 549421"/>
              <a:gd name="connsiteX137" fmla="*/ 279060 w 558119"/>
              <a:gd name="connsiteY137" fmla="*/ 439795 h 549421"/>
              <a:gd name="connsiteX138" fmla="*/ 436676 w 558119"/>
              <a:gd name="connsiteY138" fmla="*/ 281159 h 549421"/>
              <a:gd name="connsiteX139" fmla="*/ 279060 w 558119"/>
              <a:gd name="connsiteY139" fmla="*/ 122523 h 549421"/>
              <a:gd name="connsiteX140" fmla="*/ 434093 w 558119"/>
              <a:gd name="connsiteY140" fmla="*/ 70935 h 549421"/>
              <a:gd name="connsiteX141" fmla="*/ 410838 w 558119"/>
              <a:gd name="connsiteY141" fmla="*/ 101888 h 549421"/>
              <a:gd name="connsiteX142" fmla="*/ 456056 w 558119"/>
              <a:gd name="connsiteY142" fmla="*/ 147028 h 549421"/>
              <a:gd name="connsiteX143" fmla="*/ 487062 w 558119"/>
              <a:gd name="connsiteY143" fmla="*/ 123813 h 549421"/>
              <a:gd name="connsiteX144" fmla="*/ 483186 w 558119"/>
              <a:gd name="connsiteY144" fmla="*/ 118654 h 549421"/>
              <a:gd name="connsiteX145" fmla="*/ 474143 w 558119"/>
              <a:gd name="connsiteY145" fmla="*/ 109626 h 549421"/>
              <a:gd name="connsiteX146" fmla="*/ 462515 w 558119"/>
              <a:gd name="connsiteY146" fmla="*/ 95439 h 549421"/>
              <a:gd name="connsiteX147" fmla="*/ 448304 w 558119"/>
              <a:gd name="connsiteY147" fmla="*/ 82542 h 549421"/>
              <a:gd name="connsiteX148" fmla="*/ 437968 w 558119"/>
              <a:gd name="connsiteY148" fmla="*/ 74804 h 549421"/>
              <a:gd name="connsiteX149" fmla="*/ 434093 w 558119"/>
              <a:gd name="connsiteY149" fmla="*/ 70935 h 549421"/>
              <a:gd name="connsiteX150" fmla="*/ 124026 w 558119"/>
              <a:gd name="connsiteY150" fmla="*/ 70935 h 549421"/>
              <a:gd name="connsiteX151" fmla="*/ 120151 w 558119"/>
              <a:gd name="connsiteY151" fmla="*/ 74804 h 549421"/>
              <a:gd name="connsiteX152" fmla="*/ 109815 w 558119"/>
              <a:gd name="connsiteY152" fmla="*/ 82542 h 549421"/>
              <a:gd name="connsiteX153" fmla="*/ 95604 w 558119"/>
              <a:gd name="connsiteY153" fmla="*/ 95439 h 549421"/>
              <a:gd name="connsiteX154" fmla="*/ 83976 w 558119"/>
              <a:gd name="connsiteY154" fmla="*/ 109626 h 549421"/>
              <a:gd name="connsiteX155" fmla="*/ 74933 w 558119"/>
              <a:gd name="connsiteY155" fmla="*/ 118654 h 549421"/>
              <a:gd name="connsiteX156" fmla="*/ 71057 w 558119"/>
              <a:gd name="connsiteY156" fmla="*/ 123813 h 549421"/>
              <a:gd name="connsiteX157" fmla="*/ 102063 w 558119"/>
              <a:gd name="connsiteY157" fmla="*/ 147028 h 549421"/>
              <a:gd name="connsiteX158" fmla="*/ 147281 w 558119"/>
              <a:gd name="connsiteY158" fmla="*/ 101888 h 549421"/>
              <a:gd name="connsiteX159" fmla="*/ 275184 w 558119"/>
              <a:gd name="connsiteY159" fmla="*/ 20636 h 549421"/>
              <a:gd name="connsiteX160" fmla="*/ 257096 w 558119"/>
              <a:gd name="connsiteY160" fmla="*/ 21925 h 549421"/>
              <a:gd name="connsiteX161" fmla="*/ 244177 w 558119"/>
              <a:gd name="connsiteY161" fmla="*/ 23215 h 549421"/>
              <a:gd name="connsiteX162" fmla="*/ 237717 w 558119"/>
              <a:gd name="connsiteY162" fmla="*/ 24505 h 549421"/>
              <a:gd name="connsiteX163" fmla="*/ 244177 w 558119"/>
              <a:gd name="connsiteY163" fmla="*/ 60617 h 549421"/>
              <a:gd name="connsiteX164" fmla="*/ 279060 w 558119"/>
              <a:gd name="connsiteY164" fmla="*/ 58037 h 549421"/>
              <a:gd name="connsiteX165" fmla="*/ 313942 w 558119"/>
              <a:gd name="connsiteY165" fmla="*/ 60617 h 549421"/>
              <a:gd name="connsiteX166" fmla="*/ 320402 w 558119"/>
              <a:gd name="connsiteY166" fmla="*/ 24505 h 549421"/>
              <a:gd name="connsiteX167" fmla="*/ 313942 w 558119"/>
              <a:gd name="connsiteY167" fmla="*/ 23215 h 549421"/>
              <a:gd name="connsiteX168" fmla="*/ 301023 w 558119"/>
              <a:gd name="connsiteY168" fmla="*/ 21925 h 549421"/>
              <a:gd name="connsiteX169" fmla="*/ 282935 w 558119"/>
              <a:gd name="connsiteY169" fmla="*/ 20636 h 549421"/>
              <a:gd name="connsiteX170" fmla="*/ 279060 w 558119"/>
              <a:gd name="connsiteY170" fmla="*/ 21925 h 549421"/>
              <a:gd name="connsiteX171" fmla="*/ 275184 w 558119"/>
              <a:gd name="connsiteY171" fmla="*/ 20636 h 549421"/>
              <a:gd name="connsiteX172" fmla="*/ 264848 w 558119"/>
              <a:gd name="connsiteY172" fmla="*/ 0 h 549421"/>
              <a:gd name="connsiteX173" fmla="*/ 275184 w 558119"/>
              <a:gd name="connsiteY173" fmla="*/ 0 h 549421"/>
              <a:gd name="connsiteX174" fmla="*/ 279060 w 558119"/>
              <a:gd name="connsiteY174" fmla="*/ 0 h 549421"/>
              <a:gd name="connsiteX175" fmla="*/ 282935 w 558119"/>
              <a:gd name="connsiteY175" fmla="*/ 0 h 549421"/>
              <a:gd name="connsiteX176" fmla="*/ 293271 w 558119"/>
              <a:gd name="connsiteY176" fmla="*/ 0 h 549421"/>
              <a:gd name="connsiteX177" fmla="*/ 316526 w 558119"/>
              <a:gd name="connsiteY177" fmla="*/ 1290 h 549421"/>
              <a:gd name="connsiteX178" fmla="*/ 339781 w 558119"/>
              <a:gd name="connsiteY178" fmla="*/ 5159 h 549421"/>
              <a:gd name="connsiteX179" fmla="*/ 350116 w 558119"/>
              <a:gd name="connsiteY179" fmla="*/ 7738 h 549421"/>
              <a:gd name="connsiteX180" fmla="*/ 335905 w 558119"/>
              <a:gd name="connsiteY180" fmla="*/ 65776 h 549421"/>
              <a:gd name="connsiteX181" fmla="*/ 394042 w 558119"/>
              <a:gd name="connsiteY181" fmla="*/ 90280 h 549421"/>
              <a:gd name="connsiteX182" fmla="*/ 423757 w 558119"/>
              <a:gd name="connsiteY182" fmla="*/ 38692 h 549421"/>
              <a:gd name="connsiteX183" fmla="*/ 432801 w 558119"/>
              <a:gd name="connsiteY183" fmla="*/ 43851 h 549421"/>
              <a:gd name="connsiteX184" fmla="*/ 452180 w 558119"/>
              <a:gd name="connsiteY184" fmla="*/ 58037 h 549421"/>
              <a:gd name="connsiteX185" fmla="*/ 470267 w 558119"/>
              <a:gd name="connsiteY185" fmla="*/ 73514 h 549421"/>
              <a:gd name="connsiteX186" fmla="*/ 478019 w 558119"/>
              <a:gd name="connsiteY186" fmla="*/ 79963 h 549421"/>
              <a:gd name="connsiteX187" fmla="*/ 484478 w 558119"/>
              <a:gd name="connsiteY187" fmla="*/ 87701 h 549421"/>
              <a:gd name="connsiteX188" fmla="*/ 499982 w 558119"/>
              <a:gd name="connsiteY188" fmla="*/ 105757 h 549421"/>
              <a:gd name="connsiteX189" fmla="*/ 519361 w 558119"/>
              <a:gd name="connsiteY189" fmla="*/ 134131 h 549421"/>
              <a:gd name="connsiteX190" fmla="*/ 467683 w 558119"/>
              <a:gd name="connsiteY190" fmla="*/ 163795 h 549421"/>
              <a:gd name="connsiteX191" fmla="*/ 493522 w 558119"/>
              <a:gd name="connsiteY191" fmla="*/ 221832 h 549421"/>
              <a:gd name="connsiteX192" fmla="*/ 549075 w 558119"/>
              <a:gd name="connsiteY192" fmla="*/ 207645 h 549421"/>
              <a:gd name="connsiteX193" fmla="*/ 551659 w 558119"/>
              <a:gd name="connsiteY193" fmla="*/ 217963 h 549421"/>
              <a:gd name="connsiteX194" fmla="*/ 555535 w 558119"/>
              <a:gd name="connsiteY194" fmla="*/ 241178 h 549421"/>
              <a:gd name="connsiteX195" fmla="*/ 558119 w 558119"/>
              <a:gd name="connsiteY195" fmla="*/ 264393 h 549421"/>
              <a:gd name="connsiteX196" fmla="*/ 558119 w 558119"/>
              <a:gd name="connsiteY196" fmla="*/ 274711 h 549421"/>
              <a:gd name="connsiteX197" fmla="*/ 558119 w 558119"/>
              <a:gd name="connsiteY197" fmla="*/ 285028 h 549421"/>
              <a:gd name="connsiteX198" fmla="*/ 555535 w 558119"/>
              <a:gd name="connsiteY198" fmla="*/ 308243 h 549421"/>
              <a:gd name="connsiteX199" fmla="*/ 551659 w 558119"/>
              <a:gd name="connsiteY199" fmla="*/ 331458 h 549421"/>
              <a:gd name="connsiteX200" fmla="*/ 549075 w 558119"/>
              <a:gd name="connsiteY200" fmla="*/ 341776 h 549421"/>
              <a:gd name="connsiteX201" fmla="*/ 496106 w 558119"/>
              <a:gd name="connsiteY201" fmla="*/ 328879 h 549421"/>
              <a:gd name="connsiteX202" fmla="*/ 472851 w 558119"/>
              <a:gd name="connsiteY202" fmla="*/ 389496 h 549421"/>
              <a:gd name="connsiteX203" fmla="*/ 519361 w 558119"/>
              <a:gd name="connsiteY203" fmla="*/ 416580 h 549421"/>
              <a:gd name="connsiteX204" fmla="*/ 512901 w 558119"/>
              <a:gd name="connsiteY204" fmla="*/ 425608 h 549421"/>
              <a:gd name="connsiteX205" fmla="*/ 499982 w 558119"/>
              <a:gd name="connsiteY205" fmla="*/ 443664 h 549421"/>
              <a:gd name="connsiteX206" fmla="*/ 484478 w 558119"/>
              <a:gd name="connsiteY206" fmla="*/ 461720 h 549421"/>
              <a:gd name="connsiteX207" fmla="*/ 478019 w 558119"/>
              <a:gd name="connsiteY207" fmla="*/ 469458 h 549421"/>
              <a:gd name="connsiteX208" fmla="*/ 470267 w 558119"/>
              <a:gd name="connsiteY208" fmla="*/ 475907 h 549421"/>
              <a:gd name="connsiteX209" fmla="*/ 452180 w 558119"/>
              <a:gd name="connsiteY209" fmla="*/ 491384 h 549421"/>
              <a:gd name="connsiteX210" fmla="*/ 423757 w 558119"/>
              <a:gd name="connsiteY210" fmla="*/ 510729 h 549421"/>
              <a:gd name="connsiteX211" fmla="*/ 397918 w 558119"/>
              <a:gd name="connsiteY211" fmla="*/ 468169 h 549421"/>
              <a:gd name="connsiteX212" fmla="*/ 338489 w 558119"/>
              <a:gd name="connsiteY212" fmla="*/ 495253 h 549421"/>
              <a:gd name="connsiteX213" fmla="*/ 348824 w 558119"/>
              <a:gd name="connsiteY213" fmla="*/ 541683 h 549421"/>
              <a:gd name="connsiteX214" fmla="*/ 339781 w 558119"/>
              <a:gd name="connsiteY214" fmla="*/ 544262 h 549421"/>
              <a:gd name="connsiteX215" fmla="*/ 316526 w 558119"/>
              <a:gd name="connsiteY215" fmla="*/ 548131 h 549421"/>
              <a:gd name="connsiteX216" fmla="*/ 293271 w 558119"/>
              <a:gd name="connsiteY216" fmla="*/ 549421 h 549421"/>
              <a:gd name="connsiteX217" fmla="*/ 282935 w 558119"/>
              <a:gd name="connsiteY217" fmla="*/ 549421 h 549421"/>
              <a:gd name="connsiteX218" fmla="*/ 279060 w 558119"/>
              <a:gd name="connsiteY218" fmla="*/ 549421 h 549421"/>
              <a:gd name="connsiteX219" fmla="*/ 275184 w 558119"/>
              <a:gd name="connsiteY219" fmla="*/ 549421 h 549421"/>
              <a:gd name="connsiteX220" fmla="*/ 264848 w 558119"/>
              <a:gd name="connsiteY220" fmla="*/ 549421 h 549421"/>
              <a:gd name="connsiteX221" fmla="*/ 241593 w 558119"/>
              <a:gd name="connsiteY221" fmla="*/ 548131 h 549421"/>
              <a:gd name="connsiteX222" fmla="*/ 218338 w 558119"/>
              <a:gd name="connsiteY222" fmla="*/ 544262 h 549421"/>
              <a:gd name="connsiteX223" fmla="*/ 209295 w 558119"/>
              <a:gd name="connsiteY223" fmla="*/ 541683 h 549421"/>
              <a:gd name="connsiteX224" fmla="*/ 219630 w 558119"/>
              <a:gd name="connsiteY224" fmla="*/ 495253 h 549421"/>
              <a:gd name="connsiteX225" fmla="*/ 160201 w 558119"/>
              <a:gd name="connsiteY225" fmla="*/ 468169 h 549421"/>
              <a:gd name="connsiteX226" fmla="*/ 134362 w 558119"/>
              <a:gd name="connsiteY226" fmla="*/ 510729 h 549421"/>
              <a:gd name="connsiteX227" fmla="*/ 105939 w 558119"/>
              <a:gd name="connsiteY227" fmla="*/ 491384 h 549421"/>
              <a:gd name="connsiteX228" fmla="*/ 89144 w 558119"/>
              <a:gd name="connsiteY228" fmla="*/ 475907 h 549421"/>
              <a:gd name="connsiteX229" fmla="*/ 80100 w 558119"/>
              <a:gd name="connsiteY229" fmla="*/ 469458 h 549421"/>
              <a:gd name="connsiteX230" fmla="*/ 73641 w 558119"/>
              <a:gd name="connsiteY230" fmla="*/ 461720 h 549421"/>
              <a:gd name="connsiteX231" fmla="*/ 58137 w 558119"/>
              <a:gd name="connsiteY231" fmla="*/ 443664 h 549421"/>
              <a:gd name="connsiteX232" fmla="*/ 45218 w 558119"/>
              <a:gd name="connsiteY232" fmla="*/ 425608 h 549421"/>
              <a:gd name="connsiteX233" fmla="*/ 38758 w 558119"/>
              <a:gd name="connsiteY233" fmla="*/ 416580 h 549421"/>
              <a:gd name="connsiteX234" fmla="*/ 85268 w 558119"/>
              <a:gd name="connsiteY234" fmla="*/ 389496 h 549421"/>
              <a:gd name="connsiteX235" fmla="*/ 62013 w 558119"/>
              <a:gd name="connsiteY235" fmla="*/ 328879 h 549421"/>
              <a:gd name="connsiteX236" fmla="*/ 9044 w 558119"/>
              <a:gd name="connsiteY236" fmla="*/ 341776 h 549421"/>
              <a:gd name="connsiteX237" fmla="*/ 6460 w 558119"/>
              <a:gd name="connsiteY237" fmla="*/ 331458 h 549421"/>
              <a:gd name="connsiteX238" fmla="*/ 2584 w 558119"/>
              <a:gd name="connsiteY238" fmla="*/ 308243 h 549421"/>
              <a:gd name="connsiteX239" fmla="*/ 0 w 558119"/>
              <a:gd name="connsiteY239" fmla="*/ 285028 h 549421"/>
              <a:gd name="connsiteX240" fmla="*/ 0 w 558119"/>
              <a:gd name="connsiteY240" fmla="*/ 274711 h 549421"/>
              <a:gd name="connsiteX241" fmla="*/ 0 w 558119"/>
              <a:gd name="connsiteY241" fmla="*/ 264393 h 549421"/>
              <a:gd name="connsiteX242" fmla="*/ 2584 w 558119"/>
              <a:gd name="connsiteY242" fmla="*/ 241178 h 549421"/>
              <a:gd name="connsiteX243" fmla="*/ 6460 w 558119"/>
              <a:gd name="connsiteY243" fmla="*/ 217963 h 549421"/>
              <a:gd name="connsiteX244" fmla="*/ 9044 w 558119"/>
              <a:gd name="connsiteY244" fmla="*/ 207645 h 549421"/>
              <a:gd name="connsiteX245" fmla="*/ 64597 w 558119"/>
              <a:gd name="connsiteY245" fmla="*/ 221832 h 549421"/>
              <a:gd name="connsiteX246" fmla="*/ 90436 w 558119"/>
              <a:gd name="connsiteY246" fmla="*/ 163795 h 549421"/>
              <a:gd name="connsiteX247" fmla="*/ 38758 w 558119"/>
              <a:gd name="connsiteY247" fmla="*/ 134131 h 549421"/>
              <a:gd name="connsiteX248" fmla="*/ 58137 w 558119"/>
              <a:gd name="connsiteY248" fmla="*/ 105757 h 549421"/>
              <a:gd name="connsiteX249" fmla="*/ 73641 w 558119"/>
              <a:gd name="connsiteY249" fmla="*/ 87701 h 549421"/>
              <a:gd name="connsiteX250" fmla="*/ 80100 w 558119"/>
              <a:gd name="connsiteY250" fmla="*/ 79963 h 549421"/>
              <a:gd name="connsiteX251" fmla="*/ 87852 w 558119"/>
              <a:gd name="connsiteY251" fmla="*/ 73514 h 549421"/>
              <a:gd name="connsiteX252" fmla="*/ 105939 w 558119"/>
              <a:gd name="connsiteY252" fmla="*/ 58037 h 549421"/>
              <a:gd name="connsiteX253" fmla="*/ 125318 w 558119"/>
              <a:gd name="connsiteY253" fmla="*/ 43851 h 549421"/>
              <a:gd name="connsiteX254" fmla="*/ 134362 w 558119"/>
              <a:gd name="connsiteY254" fmla="*/ 38692 h 549421"/>
              <a:gd name="connsiteX255" fmla="*/ 165369 w 558119"/>
              <a:gd name="connsiteY255" fmla="*/ 90280 h 549421"/>
              <a:gd name="connsiteX256" fmla="*/ 222214 w 558119"/>
              <a:gd name="connsiteY256" fmla="*/ 65776 h 549421"/>
              <a:gd name="connsiteX257" fmla="*/ 208003 w 558119"/>
              <a:gd name="connsiteY257" fmla="*/ 7738 h 549421"/>
              <a:gd name="connsiteX258" fmla="*/ 218338 w 558119"/>
              <a:gd name="connsiteY258" fmla="*/ 5159 h 549421"/>
              <a:gd name="connsiteX259" fmla="*/ 241593 w 558119"/>
              <a:gd name="connsiteY259" fmla="*/ 1290 h 549421"/>
              <a:gd name="connsiteX260" fmla="*/ 264848 w 558119"/>
              <a:gd name="connsiteY260" fmla="*/ 0 h 54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</a:cxnLst>
            <a:rect l="l" t="t" r="r" b="b"/>
            <a:pathLst>
              <a:path w="558119" h="549421">
                <a:moveTo>
                  <a:pt x="242885" y="500412"/>
                </a:moveTo>
                <a:lnTo>
                  <a:pt x="239009" y="524916"/>
                </a:lnTo>
                <a:cubicBezTo>
                  <a:pt x="239009" y="524916"/>
                  <a:pt x="241593" y="526206"/>
                  <a:pt x="244177" y="526206"/>
                </a:cubicBezTo>
                <a:cubicBezTo>
                  <a:pt x="248053" y="526206"/>
                  <a:pt x="251929" y="527496"/>
                  <a:pt x="257096" y="527496"/>
                </a:cubicBezTo>
                <a:cubicBezTo>
                  <a:pt x="266140" y="527496"/>
                  <a:pt x="275184" y="528786"/>
                  <a:pt x="275184" y="528786"/>
                </a:cubicBezTo>
                <a:cubicBezTo>
                  <a:pt x="275184" y="528786"/>
                  <a:pt x="276476" y="528786"/>
                  <a:pt x="279060" y="527496"/>
                </a:cubicBezTo>
                <a:cubicBezTo>
                  <a:pt x="281643" y="528786"/>
                  <a:pt x="282935" y="528786"/>
                  <a:pt x="282935" y="528786"/>
                </a:cubicBezTo>
                <a:cubicBezTo>
                  <a:pt x="282935" y="528786"/>
                  <a:pt x="291979" y="527496"/>
                  <a:pt x="301023" y="527496"/>
                </a:cubicBezTo>
                <a:cubicBezTo>
                  <a:pt x="306190" y="527496"/>
                  <a:pt x="310066" y="526206"/>
                  <a:pt x="313942" y="526206"/>
                </a:cubicBezTo>
                <a:cubicBezTo>
                  <a:pt x="316526" y="526206"/>
                  <a:pt x="319110" y="524916"/>
                  <a:pt x="319110" y="524916"/>
                </a:cubicBezTo>
                <a:lnTo>
                  <a:pt x="315234" y="500412"/>
                </a:lnTo>
                <a:cubicBezTo>
                  <a:pt x="303606" y="502991"/>
                  <a:pt x="291979" y="504281"/>
                  <a:pt x="279060" y="504281"/>
                </a:cubicBezTo>
                <a:cubicBezTo>
                  <a:pt x="266140" y="504281"/>
                  <a:pt x="254513" y="502991"/>
                  <a:pt x="242885" y="500412"/>
                </a:cubicBezTo>
                <a:close/>
                <a:moveTo>
                  <a:pt x="461223" y="407552"/>
                </a:moveTo>
                <a:cubicBezTo>
                  <a:pt x="449596" y="425608"/>
                  <a:pt x="434093" y="442374"/>
                  <a:pt x="417297" y="455271"/>
                </a:cubicBezTo>
                <a:lnTo>
                  <a:pt x="434093" y="478486"/>
                </a:lnTo>
                <a:cubicBezTo>
                  <a:pt x="434093" y="478486"/>
                  <a:pt x="435384" y="477197"/>
                  <a:pt x="437968" y="474617"/>
                </a:cubicBezTo>
                <a:cubicBezTo>
                  <a:pt x="440552" y="473327"/>
                  <a:pt x="444428" y="469458"/>
                  <a:pt x="448304" y="466879"/>
                </a:cubicBezTo>
                <a:cubicBezTo>
                  <a:pt x="454764" y="460430"/>
                  <a:pt x="462515" y="453982"/>
                  <a:pt x="462515" y="453982"/>
                </a:cubicBezTo>
                <a:cubicBezTo>
                  <a:pt x="462515" y="453982"/>
                  <a:pt x="468975" y="447533"/>
                  <a:pt x="474143" y="439795"/>
                </a:cubicBezTo>
                <a:cubicBezTo>
                  <a:pt x="478019" y="437215"/>
                  <a:pt x="480602" y="433346"/>
                  <a:pt x="483186" y="430767"/>
                </a:cubicBezTo>
                <a:cubicBezTo>
                  <a:pt x="484478" y="428187"/>
                  <a:pt x="485770" y="425608"/>
                  <a:pt x="485770" y="425608"/>
                </a:cubicBezTo>
                <a:close/>
                <a:moveTo>
                  <a:pt x="96896" y="407552"/>
                </a:moveTo>
                <a:lnTo>
                  <a:pt x="72349" y="425608"/>
                </a:lnTo>
                <a:cubicBezTo>
                  <a:pt x="72349" y="425608"/>
                  <a:pt x="73641" y="428187"/>
                  <a:pt x="74933" y="430767"/>
                </a:cubicBezTo>
                <a:cubicBezTo>
                  <a:pt x="77517" y="433346"/>
                  <a:pt x="80100" y="437215"/>
                  <a:pt x="83976" y="439795"/>
                </a:cubicBezTo>
                <a:cubicBezTo>
                  <a:pt x="89144" y="447533"/>
                  <a:pt x="95604" y="453982"/>
                  <a:pt x="95604" y="453982"/>
                </a:cubicBezTo>
                <a:cubicBezTo>
                  <a:pt x="95604" y="453982"/>
                  <a:pt x="103355" y="460430"/>
                  <a:pt x="109815" y="466879"/>
                </a:cubicBezTo>
                <a:cubicBezTo>
                  <a:pt x="113691" y="469458"/>
                  <a:pt x="117567" y="473327"/>
                  <a:pt x="120151" y="474617"/>
                </a:cubicBezTo>
                <a:cubicBezTo>
                  <a:pt x="122734" y="477197"/>
                  <a:pt x="124026" y="478486"/>
                  <a:pt x="124026" y="478486"/>
                </a:cubicBezTo>
                <a:lnTo>
                  <a:pt x="142114" y="455271"/>
                </a:lnTo>
                <a:cubicBezTo>
                  <a:pt x="124026" y="442374"/>
                  <a:pt x="108523" y="425608"/>
                  <a:pt x="96896" y="407552"/>
                </a:cubicBezTo>
                <a:close/>
                <a:moveTo>
                  <a:pt x="533572" y="237309"/>
                </a:moveTo>
                <a:lnTo>
                  <a:pt x="498690" y="242468"/>
                </a:lnTo>
                <a:cubicBezTo>
                  <a:pt x="499982" y="255365"/>
                  <a:pt x="501274" y="268262"/>
                  <a:pt x="501274" y="281159"/>
                </a:cubicBezTo>
                <a:cubicBezTo>
                  <a:pt x="501274" y="290187"/>
                  <a:pt x="501274" y="297925"/>
                  <a:pt x="499982" y="306954"/>
                </a:cubicBezTo>
                <a:lnTo>
                  <a:pt x="533572" y="312112"/>
                </a:lnTo>
                <a:cubicBezTo>
                  <a:pt x="533572" y="312112"/>
                  <a:pt x="533572" y="309533"/>
                  <a:pt x="534864" y="305664"/>
                </a:cubicBezTo>
                <a:cubicBezTo>
                  <a:pt x="534864" y="303084"/>
                  <a:pt x="534864" y="297925"/>
                  <a:pt x="536156" y="294056"/>
                </a:cubicBezTo>
                <a:cubicBezTo>
                  <a:pt x="536156" y="283739"/>
                  <a:pt x="536156" y="274711"/>
                  <a:pt x="536156" y="274711"/>
                </a:cubicBezTo>
                <a:cubicBezTo>
                  <a:pt x="536156" y="274711"/>
                  <a:pt x="536156" y="265682"/>
                  <a:pt x="536156" y="256654"/>
                </a:cubicBezTo>
                <a:cubicBezTo>
                  <a:pt x="536156" y="251496"/>
                  <a:pt x="534864" y="247626"/>
                  <a:pt x="534864" y="243757"/>
                </a:cubicBezTo>
                <a:cubicBezTo>
                  <a:pt x="533572" y="239888"/>
                  <a:pt x="533572" y="237309"/>
                  <a:pt x="533572" y="237309"/>
                </a:cubicBezTo>
                <a:close/>
                <a:moveTo>
                  <a:pt x="24547" y="237309"/>
                </a:moveTo>
                <a:cubicBezTo>
                  <a:pt x="24547" y="237309"/>
                  <a:pt x="24547" y="239888"/>
                  <a:pt x="23255" y="243757"/>
                </a:cubicBezTo>
                <a:cubicBezTo>
                  <a:pt x="23255" y="247626"/>
                  <a:pt x="23255" y="251496"/>
                  <a:pt x="21963" y="256654"/>
                </a:cubicBezTo>
                <a:cubicBezTo>
                  <a:pt x="21963" y="265682"/>
                  <a:pt x="21963" y="274711"/>
                  <a:pt x="21963" y="274711"/>
                </a:cubicBezTo>
                <a:cubicBezTo>
                  <a:pt x="21963" y="274711"/>
                  <a:pt x="21963" y="283739"/>
                  <a:pt x="21963" y="294056"/>
                </a:cubicBezTo>
                <a:cubicBezTo>
                  <a:pt x="23255" y="297925"/>
                  <a:pt x="23255" y="303084"/>
                  <a:pt x="23255" y="305664"/>
                </a:cubicBezTo>
                <a:cubicBezTo>
                  <a:pt x="24547" y="309533"/>
                  <a:pt x="24547" y="312112"/>
                  <a:pt x="24547" y="312112"/>
                </a:cubicBezTo>
                <a:lnTo>
                  <a:pt x="58137" y="306954"/>
                </a:lnTo>
                <a:cubicBezTo>
                  <a:pt x="56845" y="297925"/>
                  <a:pt x="56845" y="290187"/>
                  <a:pt x="56845" y="281159"/>
                </a:cubicBezTo>
                <a:cubicBezTo>
                  <a:pt x="56845" y="268262"/>
                  <a:pt x="58137" y="255365"/>
                  <a:pt x="60721" y="242468"/>
                </a:cubicBezTo>
                <a:close/>
                <a:moveTo>
                  <a:pt x="317761" y="212893"/>
                </a:moveTo>
                <a:cubicBezTo>
                  <a:pt x="320347" y="212893"/>
                  <a:pt x="324227" y="212893"/>
                  <a:pt x="328106" y="214182"/>
                </a:cubicBezTo>
                <a:cubicBezTo>
                  <a:pt x="330693" y="214182"/>
                  <a:pt x="333279" y="215471"/>
                  <a:pt x="335865" y="216760"/>
                </a:cubicBezTo>
                <a:cubicBezTo>
                  <a:pt x="338452" y="218049"/>
                  <a:pt x="341038" y="220627"/>
                  <a:pt x="342331" y="223206"/>
                </a:cubicBezTo>
                <a:cubicBezTo>
                  <a:pt x="344918" y="225784"/>
                  <a:pt x="344918" y="228362"/>
                  <a:pt x="344918" y="232229"/>
                </a:cubicBezTo>
                <a:lnTo>
                  <a:pt x="326813" y="232229"/>
                </a:lnTo>
                <a:cubicBezTo>
                  <a:pt x="326813" y="229651"/>
                  <a:pt x="326813" y="228362"/>
                  <a:pt x="324227" y="227073"/>
                </a:cubicBezTo>
                <a:cubicBezTo>
                  <a:pt x="322934" y="225784"/>
                  <a:pt x="321640" y="225784"/>
                  <a:pt x="317761" y="225784"/>
                </a:cubicBezTo>
                <a:cubicBezTo>
                  <a:pt x="317761" y="225784"/>
                  <a:pt x="316468" y="225784"/>
                  <a:pt x="315175" y="225784"/>
                </a:cubicBezTo>
                <a:cubicBezTo>
                  <a:pt x="315175" y="225784"/>
                  <a:pt x="313881" y="225784"/>
                  <a:pt x="312588" y="225784"/>
                </a:cubicBezTo>
                <a:cubicBezTo>
                  <a:pt x="312588" y="227073"/>
                  <a:pt x="311295" y="227073"/>
                  <a:pt x="311295" y="228362"/>
                </a:cubicBezTo>
                <a:cubicBezTo>
                  <a:pt x="310002" y="228362"/>
                  <a:pt x="310002" y="229651"/>
                  <a:pt x="310002" y="229651"/>
                </a:cubicBezTo>
                <a:cubicBezTo>
                  <a:pt x="310002" y="230940"/>
                  <a:pt x="310002" y="232229"/>
                  <a:pt x="312588" y="233518"/>
                </a:cubicBezTo>
                <a:cubicBezTo>
                  <a:pt x="313881" y="234807"/>
                  <a:pt x="315175" y="234807"/>
                  <a:pt x="317761" y="236096"/>
                </a:cubicBezTo>
                <a:cubicBezTo>
                  <a:pt x="320347" y="236096"/>
                  <a:pt x="321640" y="237385"/>
                  <a:pt x="325520" y="237385"/>
                </a:cubicBezTo>
                <a:cubicBezTo>
                  <a:pt x="328106" y="237385"/>
                  <a:pt x="329400" y="238674"/>
                  <a:pt x="331986" y="238674"/>
                </a:cubicBezTo>
                <a:cubicBezTo>
                  <a:pt x="335865" y="239963"/>
                  <a:pt x="337159" y="239963"/>
                  <a:pt x="339745" y="241252"/>
                </a:cubicBezTo>
                <a:cubicBezTo>
                  <a:pt x="342331" y="242541"/>
                  <a:pt x="343624" y="245120"/>
                  <a:pt x="344918" y="246409"/>
                </a:cubicBezTo>
                <a:cubicBezTo>
                  <a:pt x="346211" y="247698"/>
                  <a:pt x="346211" y="248987"/>
                  <a:pt x="347504" y="250276"/>
                </a:cubicBezTo>
                <a:cubicBezTo>
                  <a:pt x="347504" y="252854"/>
                  <a:pt x="347504" y="254143"/>
                  <a:pt x="347504" y="255432"/>
                </a:cubicBezTo>
                <a:cubicBezTo>
                  <a:pt x="347504" y="259299"/>
                  <a:pt x="346211" y="263166"/>
                  <a:pt x="344918" y="265745"/>
                </a:cubicBezTo>
                <a:cubicBezTo>
                  <a:pt x="343624" y="268323"/>
                  <a:pt x="341038" y="270901"/>
                  <a:pt x="338452" y="272190"/>
                </a:cubicBezTo>
                <a:cubicBezTo>
                  <a:pt x="335865" y="273479"/>
                  <a:pt x="331986" y="274768"/>
                  <a:pt x="329400" y="276057"/>
                </a:cubicBezTo>
                <a:cubicBezTo>
                  <a:pt x="325520" y="276057"/>
                  <a:pt x="321640" y="276057"/>
                  <a:pt x="319054" y="276057"/>
                </a:cubicBezTo>
                <a:cubicBezTo>
                  <a:pt x="315175" y="276057"/>
                  <a:pt x="311295" y="276057"/>
                  <a:pt x="307415" y="276057"/>
                </a:cubicBezTo>
                <a:cubicBezTo>
                  <a:pt x="304829" y="274768"/>
                  <a:pt x="300950" y="273479"/>
                  <a:pt x="298363" y="272190"/>
                </a:cubicBezTo>
                <a:cubicBezTo>
                  <a:pt x="295777" y="270901"/>
                  <a:pt x="293191" y="268323"/>
                  <a:pt x="291897" y="265745"/>
                </a:cubicBezTo>
                <a:cubicBezTo>
                  <a:pt x="290604" y="263166"/>
                  <a:pt x="289311" y="259299"/>
                  <a:pt x="289311" y="255432"/>
                </a:cubicBezTo>
                <a:lnTo>
                  <a:pt x="307415" y="255432"/>
                </a:lnTo>
                <a:cubicBezTo>
                  <a:pt x="307415" y="256721"/>
                  <a:pt x="308709" y="258010"/>
                  <a:pt x="308709" y="259299"/>
                </a:cubicBezTo>
                <a:cubicBezTo>
                  <a:pt x="310002" y="260588"/>
                  <a:pt x="310002" y="260588"/>
                  <a:pt x="311295" y="261877"/>
                </a:cubicBezTo>
                <a:cubicBezTo>
                  <a:pt x="312588" y="261877"/>
                  <a:pt x="312588" y="263166"/>
                  <a:pt x="313881" y="263166"/>
                </a:cubicBezTo>
                <a:cubicBezTo>
                  <a:pt x="315175" y="263166"/>
                  <a:pt x="316468" y="264455"/>
                  <a:pt x="319054" y="264455"/>
                </a:cubicBezTo>
                <a:cubicBezTo>
                  <a:pt x="319054" y="264455"/>
                  <a:pt x="320347" y="263166"/>
                  <a:pt x="321640" y="263166"/>
                </a:cubicBezTo>
                <a:cubicBezTo>
                  <a:pt x="322934" y="263166"/>
                  <a:pt x="324227" y="263166"/>
                  <a:pt x="324227" y="261877"/>
                </a:cubicBezTo>
                <a:cubicBezTo>
                  <a:pt x="325520" y="261877"/>
                  <a:pt x="326813" y="261877"/>
                  <a:pt x="326813" y="260588"/>
                </a:cubicBezTo>
                <a:cubicBezTo>
                  <a:pt x="328106" y="259299"/>
                  <a:pt x="328106" y="258010"/>
                  <a:pt x="328106" y="258010"/>
                </a:cubicBezTo>
                <a:cubicBezTo>
                  <a:pt x="328106" y="256721"/>
                  <a:pt x="328106" y="255432"/>
                  <a:pt x="326813" y="254143"/>
                </a:cubicBezTo>
                <a:cubicBezTo>
                  <a:pt x="325520" y="254143"/>
                  <a:pt x="325520" y="252854"/>
                  <a:pt x="324227" y="252854"/>
                </a:cubicBezTo>
                <a:cubicBezTo>
                  <a:pt x="322934" y="252854"/>
                  <a:pt x="321640" y="251565"/>
                  <a:pt x="321640" y="251565"/>
                </a:cubicBezTo>
                <a:cubicBezTo>
                  <a:pt x="320347" y="251565"/>
                  <a:pt x="319054" y="251565"/>
                  <a:pt x="317761" y="251565"/>
                </a:cubicBezTo>
                <a:cubicBezTo>
                  <a:pt x="315175" y="250276"/>
                  <a:pt x="311295" y="248987"/>
                  <a:pt x="308709" y="248987"/>
                </a:cubicBezTo>
                <a:cubicBezTo>
                  <a:pt x="304829" y="248987"/>
                  <a:pt x="302243" y="247698"/>
                  <a:pt x="299656" y="246409"/>
                </a:cubicBezTo>
                <a:cubicBezTo>
                  <a:pt x="297070" y="245120"/>
                  <a:pt x="294484" y="242541"/>
                  <a:pt x="293191" y="241252"/>
                </a:cubicBezTo>
                <a:cubicBezTo>
                  <a:pt x="290604" y="238674"/>
                  <a:pt x="290604" y="234807"/>
                  <a:pt x="290604" y="230940"/>
                </a:cubicBezTo>
                <a:cubicBezTo>
                  <a:pt x="290604" y="227073"/>
                  <a:pt x="290604" y="224495"/>
                  <a:pt x="293191" y="221916"/>
                </a:cubicBezTo>
                <a:cubicBezTo>
                  <a:pt x="294484" y="219338"/>
                  <a:pt x="297070" y="218049"/>
                  <a:pt x="299656" y="216760"/>
                </a:cubicBezTo>
                <a:cubicBezTo>
                  <a:pt x="302243" y="215471"/>
                  <a:pt x="304829" y="214182"/>
                  <a:pt x="308709" y="214182"/>
                </a:cubicBezTo>
                <a:cubicBezTo>
                  <a:pt x="311295" y="212893"/>
                  <a:pt x="315175" y="212893"/>
                  <a:pt x="317761" y="212893"/>
                </a:cubicBezTo>
                <a:close/>
                <a:moveTo>
                  <a:pt x="231211" y="199846"/>
                </a:moveTo>
                <a:lnTo>
                  <a:pt x="266116" y="199846"/>
                </a:lnTo>
                <a:lnTo>
                  <a:pt x="266116" y="370285"/>
                </a:lnTo>
                <a:lnTo>
                  <a:pt x="222162" y="370285"/>
                </a:lnTo>
                <a:lnTo>
                  <a:pt x="222162" y="265697"/>
                </a:lnTo>
                <a:lnTo>
                  <a:pt x="180793" y="265697"/>
                </a:lnTo>
                <a:lnTo>
                  <a:pt x="180793" y="234709"/>
                </a:lnTo>
                <a:cubicBezTo>
                  <a:pt x="187257" y="234709"/>
                  <a:pt x="193721" y="234709"/>
                  <a:pt x="198892" y="233417"/>
                </a:cubicBezTo>
                <a:cubicBezTo>
                  <a:pt x="205356" y="232126"/>
                  <a:pt x="210527" y="230835"/>
                  <a:pt x="214405" y="228253"/>
                </a:cubicBezTo>
                <a:cubicBezTo>
                  <a:pt x="219576" y="224379"/>
                  <a:pt x="223454" y="221796"/>
                  <a:pt x="226040" y="216632"/>
                </a:cubicBezTo>
                <a:cubicBezTo>
                  <a:pt x="229918" y="212758"/>
                  <a:pt x="231211" y="206302"/>
                  <a:pt x="231211" y="199846"/>
                </a:cubicBezTo>
                <a:close/>
                <a:moveTo>
                  <a:pt x="361731" y="196118"/>
                </a:moveTo>
                <a:lnTo>
                  <a:pt x="381028" y="196118"/>
                </a:lnTo>
                <a:lnTo>
                  <a:pt x="381028" y="214169"/>
                </a:lnTo>
                <a:lnTo>
                  <a:pt x="393893" y="214169"/>
                </a:lnTo>
                <a:lnTo>
                  <a:pt x="393893" y="227062"/>
                </a:lnTo>
                <a:lnTo>
                  <a:pt x="381028" y="227062"/>
                </a:lnTo>
                <a:lnTo>
                  <a:pt x="381028" y="255427"/>
                </a:lnTo>
                <a:cubicBezTo>
                  <a:pt x="381028" y="256716"/>
                  <a:pt x="382315" y="259295"/>
                  <a:pt x="383601" y="259295"/>
                </a:cubicBezTo>
                <a:cubicBezTo>
                  <a:pt x="384888" y="260584"/>
                  <a:pt x="386174" y="260584"/>
                  <a:pt x="388747" y="260584"/>
                </a:cubicBezTo>
                <a:cubicBezTo>
                  <a:pt x="388747" y="260584"/>
                  <a:pt x="390034" y="260584"/>
                  <a:pt x="391320" y="260584"/>
                </a:cubicBezTo>
                <a:cubicBezTo>
                  <a:pt x="391320" y="260584"/>
                  <a:pt x="392607" y="260584"/>
                  <a:pt x="393893" y="260584"/>
                </a:cubicBezTo>
                <a:lnTo>
                  <a:pt x="393893" y="274767"/>
                </a:lnTo>
                <a:cubicBezTo>
                  <a:pt x="391320" y="274767"/>
                  <a:pt x="390034" y="274767"/>
                  <a:pt x="388747" y="274767"/>
                </a:cubicBezTo>
                <a:cubicBezTo>
                  <a:pt x="386174" y="276056"/>
                  <a:pt x="384888" y="276056"/>
                  <a:pt x="382315" y="276056"/>
                </a:cubicBezTo>
                <a:cubicBezTo>
                  <a:pt x="378455" y="276056"/>
                  <a:pt x="374596" y="274767"/>
                  <a:pt x="372023" y="274767"/>
                </a:cubicBezTo>
                <a:cubicBezTo>
                  <a:pt x="369450" y="273477"/>
                  <a:pt x="368163" y="272188"/>
                  <a:pt x="365590" y="270899"/>
                </a:cubicBezTo>
                <a:cubicBezTo>
                  <a:pt x="364304" y="269609"/>
                  <a:pt x="363017" y="267031"/>
                  <a:pt x="363017" y="264452"/>
                </a:cubicBezTo>
                <a:cubicBezTo>
                  <a:pt x="361731" y="261873"/>
                  <a:pt x="361731" y="258006"/>
                  <a:pt x="361731" y="254138"/>
                </a:cubicBezTo>
                <a:lnTo>
                  <a:pt x="361731" y="227062"/>
                </a:lnTo>
                <a:lnTo>
                  <a:pt x="351439" y="227062"/>
                </a:lnTo>
                <a:lnTo>
                  <a:pt x="351439" y="214169"/>
                </a:lnTo>
                <a:lnTo>
                  <a:pt x="361731" y="214169"/>
                </a:lnTo>
                <a:close/>
                <a:moveTo>
                  <a:pt x="279060" y="122523"/>
                </a:moveTo>
                <a:cubicBezTo>
                  <a:pt x="192499" y="122523"/>
                  <a:pt x="121443" y="193458"/>
                  <a:pt x="121443" y="281159"/>
                </a:cubicBezTo>
                <a:cubicBezTo>
                  <a:pt x="121443" y="367570"/>
                  <a:pt x="192499" y="438505"/>
                  <a:pt x="279060" y="439795"/>
                </a:cubicBezTo>
                <a:cubicBezTo>
                  <a:pt x="365620" y="438505"/>
                  <a:pt x="436676" y="367570"/>
                  <a:pt x="436676" y="281159"/>
                </a:cubicBezTo>
                <a:cubicBezTo>
                  <a:pt x="436676" y="193458"/>
                  <a:pt x="365620" y="122523"/>
                  <a:pt x="279060" y="122523"/>
                </a:cubicBezTo>
                <a:close/>
                <a:moveTo>
                  <a:pt x="434093" y="70935"/>
                </a:moveTo>
                <a:lnTo>
                  <a:pt x="410838" y="101888"/>
                </a:lnTo>
                <a:cubicBezTo>
                  <a:pt x="427633" y="114785"/>
                  <a:pt x="443136" y="130262"/>
                  <a:pt x="456056" y="147028"/>
                </a:cubicBezTo>
                <a:lnTo>
                  <a:pt x="487062" y="123813"/>
                </a:lnTo>
                <a:cubicBezTo>
                  <a:pt x="487062" y="123813"/>
                  <a:pt x="484478" y="122523"/>
                  <a:pt x="483186" y="118654"/>
                </a:cubicBezTo>
                <a:cubicBezTo>
                  <a:pt x="480602" y="116075"/>
                  <a:pt x="478019" y="112206"/>
                  <a:pt x="474143" y="109626"/>
                </a:cubicBezTo>
                <a:cubicBezTo>
                  <a:pt x="468975" y="101888"/>
                  <a:pt x="462515" y="95439"/>
                  <a:pt x="462515" y="95439"/>
                </a:cubicBezTo>
                <a:cubicBezTo>
                  <a:pt x="462515" y="95439"/>
                  <a:pt x="454764" y="88991"/>
                  <a:pt x="448304" y="82542"/>
                </a:cubicBezTo>
                <a:cubicBezTo>
                  <a:pt x="445720" y="79963"/>
                  <a:pt x="441844" y="77383"/>
                  <a:pt x="437968" y="74804"/>
                </a:cubicBezTo>
                <a:cubicBezTo>
                  <a:pt x="435384" y="72224"/>
                  <a:pt x="434093" y="70935"/>
                  <a:pt x="434093" y="70935"/>
                </a:cubicBezTo>
                <a:close/>
                <a:moveTo>
                  <a:pt x="124026" y="70935"/>
                </a:moveTo>
                <a:cubicBezTo>
                  <a:pt x="124026" y="70935"/>
                  <a:pt x="122734" y="72224"/>
                  <a:pt x="120151" y="74804"/>
                </a:cubicBezTo>
                <a:cubicBezTo>
                  <a:pt x="116275" y="77383"/>
                  <a:pt x="113691" y="79963"/>
                  <a:pt x="109815" y="82542"/>
                </a:cubicBezTo>
                <a:cubicBezTo>
                  <a:pt x="103355" y="88991"/>
                  <a:pt x="95604" y="95439"/>
                  <a:pt x="95604" y="95439"/>
                </a:cubicBezTo>
                <a:cubicBezTo>
                  <a:pt x="95604" y="95439"/>
                  <a:pt x="89144" y="101888"/>
                  <a:pt x="83976" y="109626"/>
                </a:cubicBezTo>
                <a:cubicBezTo>
                  <a:pt x="80100" y="112206"/>
                  <a:pt x="77517" y="116075"/>
                  <a:pt x="74933" y="118654"/>
                </a:cubicBezTo>
                <a:cubicBezTo>
                  <a:pt x="73641" y="122523"/>
                  <a:pt x="71057" y="123813"/>
                  <a:pt x="71057" y="123813"/>
                </a:cubicBezTo>
                <a:lnTo>
                  <a:pt x="102063" y="147028"/>
                </a:lnTo>
                <a:cubicBezTo>
                  <a:pt x="114983" y="128972"/>
                  <a:pt x="130486" y="114785"/>
                  <a:pt x="147281" y="101888"/>
                </a:cubicBezTo>
                <a:close/>
                <a:moveTo>
                  <a:pt x="275184" y="20636"/>
                </a:moveTo>
                <a:cubicBezTo>
                  <a:pt x="275184" y="20636"/>
                  <a:pt x="266140" y="21925"/>
                  <a:pt x="257096" y="21925"/>
                </a:cubicBezTo>
                <a:cubicBezTo>
                  <a:pt x="251929" y="21925"/>
                  <a:pt x="248053" y="23215"/>
                  <a:pt x="244177" y="23215"/>
                </a:cubicBezTo>
                <a:cubicBezTo>
                  <a:pt x="240301" y="23215"/>
                  <a:pt x="237717" y="24505"/>
                  <a:pt x="237717" y="24505"/>
                </a:cubicBezTo>
                <a:lnTo>
                  <a:pt x="244177" y="60617"/>
                </a:lnTo>
                <a:cubicBezTo>
                  <a:pt x="255805" y="59327"/>
                  <a:pt x="267432" y="58037"/>
                  <a:pt x="279060" y="58037"/>
                </a:cubicBezTo>
                <a:cubicBezTo>
                  <a:pt x="290687" y="58037"/>
                  <a:pt x="302314" y="59327"/>
                  <a:pt x="313942" y="60617"/>
                </a:cubicBezTo>
                <a:lnTo>
                  <a:pt x="320402" y="24505"/>
                </a:lnTo>
                <a:cubicBezTo>
                  <a:pt x="320402" y="24505"/>
                  <a:pt x="317818" y="23215"/>
                  <a:pt x="313942" y="23215"/>
                </a:cubicBezTo>
                <a:cubicBezTo>
                  <a:pt x="310066" y="23215"/>
                  <a:pt x="306190" y="21925"/>
                  <a:pt x="301023" y="21925"/>
                </a:cubicBezTo>
                <a:cubicBezTo>
                  <a:pt x="291979" y="21925"/>
                  <a:pt x="282935" y="20636"/>
                  <a:pt x="282935" y="20636"/>
                </a:cubicBezTo>
                <a:cubicBezTo>
                  <a:pt x="282935" y="20636"/>
                  <a:pt x="281643" y="20636"/>
                  <a:pt x="279060" y="21925"/>
                </a:cubicBezTo>
                <a:cubicBezTo>
                  <a:pt x="276476" y="20636"/>
                  <a:pt x="275184" y="20636"/>
                  <a:pt x="275184" y="20636"/>
                </a:cubicBezTo>
                <a:close/>
                <a:moveTo>
                  <a:pt x="264848" y="0"/>
                </a:moveTo>
                <a:cubicBezTo>
                  <a:pt x="271308" y="0"/>
                  <a:pt x="275184" y="0"/>
                  <a:pt x="275184" y="0"/>
                </a:cubicBezTo>
                <a:cubicBezTo>
                  <a:pt x="275184" y="0"/>
                  <a:pt x="276476" y="0"/>
                  <a:pt x="279060" y="0"/>
                </a:cubicBezTo>
                <a:cubicBezTo>
                  <a:pt x="281643" y="0"/>
                  <a:pt x="282935" y="0"/>
                  <a:pt x="282935" y="0"/>
                </a:cubicBezTo>
                <a:cubicBezTo>
                  <a:pt x="282935" y="0"/>
                  <a:pt x="286811" y="0"/>
                  <a:pt x="293271" y="0"/>
                </a:cubicBezTo>
                <a:cubicBezTo>
                  <a:pt x="299731" y="0"/>
                  <a:pt x="307482" y="0"/>
                  <a:pt x="316526" y="1290"/>
                </a:cubicBezTo>
                <a:cubicBezTo>
                  <a:pt x="324277" y="2579"/>
                  <a:pt x="333321" y="3869"/>
                  <a:pt x="339781" y="5159"/>
                </a:cubicBezTo>
                <a:cubicBezTo>
                  <a:pt x="346240" y="7738"/>
                  <a:pt x="350116" y="7738"/>
                  <a:pt x="350116" y="7738"/>
                </a:cubicBezTo>
                <a:lnTo>
                  <a:pt x="335905" y="65776"/>
                </a:lnTo>
                <a:cubicBezTo>
                  <a:pt x="356576" y="70935"/>
                  <a:pt x="375955" y="78673"/>
                  <a:pt x="394042" y="90280"/>
                </a:cubicBezTo>
                <a:lnTo>
                  <a:pt x="423757" y="38692"/>
                </a:lnTo>
                <a:cubicBezTo>
                  <a:pt x="423757" y="38692"/>
                  <a:pt x="427633" y="41271"/>
                  <a:pt x="432801" y="43851"/>
                </a:cubicBezTo>
                <a:cubicBezTo>
                  <a:pt x="439260" y="47720"/>
                  <a:pt x="445720" y="52879"/>
                  <a:pt x="452180" y="58037"/>
                </a:cubicBezTo>
                <a:cubicBezTo>
                  <a:pt x="458639" y="63196"/>
                  <a:pt x="465099" y="68355"/>
                  <a:pt x="470267" y="73514"/>
                </a:cubicBezTo>
                <a:cubicBezTo>
                  <a:pt x="474143" y="77383"/>
                  <a:pt x="478019" y="79963"/>
                  <a:pt x="478019" y="79963"/>
                </a:cubicBezTo>
                <a:cubicBezTo>
                  <a:pt x="478019" y="79963"/>
                  <a:pt x="480602" y="83832"/>
                  <a:pt x="484478" y="87701"/>
                </a:cubicBezTo>
                <a:cubicBezTo>
                  <a:pt x="488354" y="92860"/>
                  <a:pt x="494814" y="99309"/>
                  <a:pt x="499982" y="105757"/>
                </a:cubicBezTo>
                <a:cubicBezTo>
                  <a:pt x="510317" y="118654"/>
                  <a:pt x="519361" y="134131"/>
                  <a:pt x="519361" y="134131"/>
                </a:cubicBezTo>
                <a:lnTo>
                  <a:pt x="467683" y="163795"/>
                </a:lnTo>
                <a:cubicBezTo>
                  <a:pt x="479311" y="181851"/>
                  <a:pt x="488354" y="201196"/>
                  <a:pt x="493522" y="221832"/>
                </a:cubicBezTo>
                <a:lnTo>
                  <a:pt x="549075" y="207645"/>
                </a:lnTo>
                <a:cubicBezTo>
                  <a:pt x="549075" y="207645"/>
                  <a:pt x="550367" y="211514"/>
                  <a:pt x="551659" y="217963"/>
                </a:cubicBezTo>
                <a:cubicBezTo>
                  <a:pt x="552951" y="224411"/>
                  <a:pt x="554243" y="232150"/>
                  <a:pt x="555535" y="241178"/>
                </a:cubicBezTo>
                <a:cubicBezTo>
                  <a:pt x="556827" y="248916"/>
                  <a:pt x="556827" y="257944"/>
                  <a:pt x="558119" y="264393"/>
                </a:cubicBezTo>
                <a:cubicBezTo>
                  <a:pt x="558119" y="270841"/>
                  <a:pt x="558119" y="274711"/>
                  <a:pt x="558119" y="274711"/>
                </a:cubicBezTo>
                <a:cubicBezTo>
                  <a:pt x="558119" y="274711"/>
                  <a:pt x="558119" y="278580"/>
                  <a:pt x="558119" y="285028"/>
                </a:cubicBezTo>
                <a:cubicBezTo>
                  <a:pt x="556827" y="291477"/>
                  <a:pt x="556827" y="300505"/>
                  <a:pt x="555535" y="308243"/>
                </a:cubicBezTo>
                <a:cubicBezTo>
                  <a:pt x="554243" y="317271"/>
                  <a:pt x="552951" y="325010"/>
                  <a:pt x="551659" y="331458"/>
                </a:cubicBezTo>
                <a:cubicBezTo>
                  <a:pt x="550367" y="337907"/>
                  <a:pt x="549075" y="341776"/>
                  <a:pt x="549075" y="341776"/>
                </a:cubicBezTo>
                <a:lnTo>
                  <a:pt x="496106" y="328879"/>
                </a:lnTo>
                <a:cubicBezTo>
                  <a:pt x="490938" y="349514"/>
                  <a:pt x="483186" y="370150"/>
                  <a:pt x="472851" y="389496"/>
                </a:cubicBezTo>
                <a:lnTo>
                  <a:pt x="519361" y="416580"/>
                </a:lnTo>
                <a:cubicBezTo>
                  <a:pt x="519361" y="416580"/>
                  <a:pt x="516777" y="419159"/>
                  <a:pt x="512901" y="425608"/>
                </a:cubicBezTo>
                <a:cubicBezTo>
                  <a:pt x="510317" y="430767"/>
                  <a:pt x="505149" y="437215"/>
                  <a:pt x="499982" y="443664"/>
                </a:cubicBezTo>
                <a:cubicBezTo>
                  <a:pt x="494814" y="451402"/>
                  <a:pt x="488354" y="456561"/>
                  <a:pt x="484478" y="461720"/>
                </a:cubicBezTo>
                <a:cubicBezTo>
                  <a:pt x="480602" y="465589"/>
                  <a:pt x="478019" y="469458"/>
                  <a:pt x="478019" y="469458"/>
                </a:cubicBezTo>
                <a:cubicBezTo>
                  <a:pt x="478019" y="469458"/>
                  <a:pt x="474143" y="472038"/>
                  <a:pt x="470267" y="475907"/>
                </a:cubicBezTo>
                <a:cubicBezTo>
                  <a:pt x="465099" y="481066"/>
                  <a:pt x="458639" y="486225"/>
                  <a:pt x="452180" y="491384"/>
                </a:cubicBezTo>
                <a:cubicBezTo>
                  <a:pt x="437968" y="501701"/>
                  <a:pt x="423757" y="510729"/>
                  <a:pt x="423757" y="510729"/>
                </a:cubicBezTo>
                <a:lnTo>
                  <a:pt x="397918" y="468169"/>
                </a:lnTo>
                <a:cubicBezTo>
                  <a:pt x="379831" y="479776"/>
                  <a:pt x="359160" y="490094"/>
                  <a:pt x="338489" y="495253"/>
                </a:cubicBezTo>
                <a:lnTo>
                  <a:pt x="348824" y="541683"/>
                </a:lnTo>
                <a:cubicBezTo>
                  <a:pt x="348824" y="541683"/>
                  <a:pt x="344949" y="542972"/>
                  <a:pt x="339781" y="544262"/>
                </a:cubicBezTo>
                <a:cubicBezTo>
                  <a:pt x="333321" y="545552"/>
                  <a:pt x="324277" y="546842"/>
                  <a:pt x="316526" y="548131"/>
                </a:cubicBezTo>
                <a:cubicBezTo>
                  <a:pt x="307482" y="549421"/>
                  <a:pt x="299731" y="549421"/>
                  <a:pt x="293271" y="549421"/>
                </a:cubicBezTo>
                <a:cubicBezTo>
                  <a:pt x="286811" y="549421"/>
                  <a:pt x="282935" y="549421"/>
                  <a:pt x="282935" y="549421"/>
                </a:cubicBezTo>
                <a:cubicBezTo>
                  <a:pt x="282935" y="549421"/>
                  <a:pt x="281643" y="549421"/>
                  <a:pt x="279060" y="549421"/>
                </a:cubicBezTo>
                <a:cubicBezTo>
                  <a:pt x="276476" y="549421"/>
                  <a:pt x="275184" y="549421"/>
                  <a:pt x="275184" y="549421"/>
                </a:cubicBezTo>
                <a:cubicBezTo>
                  <a:pt x="275184" y="549421"/>
                  <a:pt x="271308" y="549421"/>
                  <a:pt x="264848" y="549421"/>
                </a:cubicBezTo>
                <a:cubicBezTo>
                  <a:pt x="258388" y="549421"/>
                  <a:pt x="250637" y="549421"/>
                  <a:pt x="241593" y="548131"/>
                </a:cubicBezTo>
                <a:cubicBezTo>
                  <a:pt x="233842" y="546842"/>
                  <a:pt x="224798" y="545552"/>
                  <a:pt x="218338" y="544262"/>
                </a:cubicBezTo>
                <a:cubicBezTo>
                  <a:pt x="213170" y="542972"/>
                  <a:pt x="209295" y="541683"/>
                  <a:pt x="209295" y="541683"/>
                </a:cubicBezTo>
                <a:lnTo>
                  <a:pt x="219630" y="495253"/>
                </a:lnTo>
                <a:cubicBezTo>
                  <a:pt x="198959" y="490094"/>
                  <a:pt x="178288" y="479776"/>
                  <a:pt x="160201" y="468169"/>
                </a:cubicBezTo>
                <a:lnTo>
                  <a:pt x="134362" y="510729"/>
                </a:lnTo>
                <a:cubicBezTo>
                  <a:pt x="134362" y="510729"/>
                  <a:pt x="120151" y="501701"/>
                  <a:pt x="105939" y="491384"/>
                </a:cubicBezTo>
                <a:cubicBezTo>
                  <a:pt x="99480" y="486225"/>
                  <a:pt x="93020" y="481066"/>
                  <a:pt x="89144" y="475907"/>
                </a:cubicBezTo>
                <a:cubicBezTo>
                  <a:pt x="83976" y="472038"/>
                  <a:pt x="80100" y="469458"/>
                  <a:pt x="80100" y="469458"/>
                </a:cubicBezTo>
                <a:lnTo>
                  <a:pt x="73641" y="461720"/>
                </a:lnTo>
                <a:cubicBezTo>
                  <a:pt x="69765" y="456561"/>
                  <a:pt x="63305" y="451402"/>
                  <a:pt x="58137" y="443664"/>
                </a:cubicBezTo>
                <a:cubicBezTo>
                  <a:pt x="52970" y="437215"/>
                  <a:pt x="47802" y="430767"/>
                  <a:pt x="45218" y="425608"/>
                </a:cubicBezTo>
                <a:cubicBezTo>
                  <a:pt x="41342" y="419159"/>
                  <a:pt x="38758" y="416580"/>
                  <a:pt x="38758" y="416580"/>
                </a:cubicBezTo>
                <a:lnTo>
                  <a:pt x="85268" y="389496"/>
                </a:lnTo>
                <a:cubicBezTo>
                  <a:pt x="74933" y="370150"/>
                  <a:pt x="67181" y="349514"/>
                  <a:pt x="62013" y="328879"/>
                </a:cubicBezTo>
                <a:lnTo>
                  <a:pt x="9044" y="341776"/>
                </a:lnTo>
                <a:cubicBezTo>
                  <a:pt x="9044" y="341776"/>
                  <a:pt x="7752" y="337907"/>
                  <a:pt x="6460" y="331458"/>
                </a:cubicBezTo>
                <a:cubicBezTo>
                  <a:pt x="5168" y="325010"/>
                  <a:pt x="3876" y="317271"/>
                  <a:pt x="2584" y="308243"/>
                </a:cubicBezTo>
                <a:cubicBezTo>
                  <a:pt x="1292" y="300505"/>
                  <a:pt x="1292" y="291477"/>
                  <a:pt x="0" y="285028"/>
                </a:cubicBezTo>
                <a:cubicBezTo>
                  <a:pt x="0" y="278580"/>
                  <a:pt x="0" y="274711"/>
                  <a:pt x="0" y="274711"/>
                </a:cubicBezTo>
                <a:cubicBezTo>
                  <a:pt x="0" y="274711"/>
                  <a:pt x="0" y="270841"/>
                  <a:pt x="0" y="264393"/>
                </a:cubicBezTo>
                <a:cubicBezTo>
                  <a:pt x="1292" y="257944"/>
                  <a:pt x="1292" y="248916"/>
                  <a:pt x="2584" y="241178"/>
                </a:cubicBezTo>
                <a:cubicBezTo>
                  <a:pt x="3876" y="232150"/>
                  <a:pt x="5168" y="224411"/>
                  <a:pt x="6460" y="217963"/>
                </a:cubicBezTo>
                <a:cubicBezTo>
                  <a:pt x="7752" y="211514"/>
                  <a:pt x="9044" y="207645"/>
                  <a:pt x="9044" y="207645"/>
                </a:cubicBezTo>
                <a:lnTo>
                  <a:pt x="64597" y="221832"/>
                </a:lnTo>
                <a:cubicBezTo>
                  <a:pt x="71057" y="201196"/>
                  <a:pt x="78808" y="181851"/>
                  <a:pt x="90436" y="163795"/>
                </a:cubicBezTo>
                <a:lnTo>
                  <a:pt x="38758" y="134131"/>
                </a:lnTo>
                <a:cubicBezTo>
                  <a:pt x="38758" y="134131"/>
                  <a:pt x="47802" y="118654"/>
                  <a:pt x="58137" y="105757"/>
                </a:cubicBezTo>
                <a:cubicBezTo>
                  <a:pt x="63305" y="99309"/>
                  <a:pt x="69765" y="92860"/>
                  <a:pt x="73641" y="87701"/>
                </a:cubicBezTo>
                <a:cubicBezTo>
                  <a:pt x="77517" y="83832"/>
                  <a:pt x="80100" y="79963"/>
                  <a:pt x="80100" y="79963"/>
                </a:cubicBezTo>
                <a:cubicBezTo>
                  <a:pt x="80100" y="79963"/>
                  <a:pt x="83976" y="77383"/>
                  <a:pt x="87852" y="73514"/>
                </a:cubicBezTo>
                <a:cubicBezTo>
                  <a:pt x="93020" y="68355"/>
                  <a:pt x="99480" y="63196"/>
                  <a:pt x="105939" y="58037"/>
                </a:cubicBezTo>
                <a:cubicBezTo>
                  <a:pt x="112399" y="52879"/>
                  <a:pt x="120151" y="47720"/>
                  <a:pt x="125318" y="43851"/>
                </a:cubicBezTo>
                <a:cubicBezTo>
                  <a:pt x="130486" y="41271"/>
                  <a:pt x="134362" y="38692"/>
                  <a:pt x="134362" y="38692"/>
                </a:cubicBezTo>
                <a:lnTo>
                  <a:pt x="165369" y="90280"/>
                </a:lnTo>
                <a:cubicBezTo>
                  <a:pt x="182164" y="78673"/>
                  <a:pt x="201543" y="70935"/>
                  <a:pt x="222214" y="65776"/>
                </a:cubicBezTo>
                <a:lnTo>
                  <a:pt x="208003" y="7738"/>
                </a:lnTo>
                <a:cubicBezTo>
                  <a:pt x="208003" y="7738"/>
                  <a:pt x="211879" y="7738"/>
                  <a:pt x="218338" y="5159"/>
                </a:cubicBezTo>
                <a:cubicBezTo>
                  <a:pt x="224798" y="3869"/>
                  <a:pt x="233842" y="2579"/>
                  <a:pt x="241593" y="1290"/>
                </a:cubicBezTo>
                <a:cubicBezTo>
                  <a:pt x="250637" y="0"/>
                  <a:pt x="258388" y="0"/>
                  <a:pt x="2648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44" name="first-place-award-badge-symbol_47993"/>
          <p:cNvSpPr>
            <a:spLocks noChangeAspect="1"/>
          </p:cNvSpPr>
          <p:nvPr/>
        </p:nvSpPr>
        <p:spPr>
          <a:xfrm>
            <a:off x="5891635" y="860588"/>
            <a:ext cx="270111" cy="293353"/>
          </a:xfrm>
          <a:custGeom>
            <a:avLst/>
            <a:gdLst>
              <a:gd name="T0" fmla="*/ 7952 w 8836"/>
              <a:gd name="T1" fmla="*/ 8998 h 9598"/>
              <a:gd name="T2" fmla="*/ 7952 w 8836"/>
              <a:gd name="T3" fmla="*/ 1080 h 9598"/>
              <a:gd name="T4" fmla="*/ 6707 w 8836"/>
              <a:gd name="T5" fmla="*/ 0 h 9598"/>
              <a:gd name="T6" fmla="*/ 2530 w 8836"/>
              <a:gd name="T7" fmla="*/ 1560 h 9598"/>
              <a:gd name="T8" fmla="*/ 2530 w 8836"/>
              <a:gd name="T9" fmla="*/ 1960 h 9598"/>
              <a:gd name="T10" fmla="*/ 6306 w 8836"/>
              <a:gd name="T11" fmla="*/ 680 h 9598"/>
              <a:gd name="T12" fmla="*/ 6306 w 8836"/>
              <a:gd name="T13" fmla="*/ 9558 h 9598"/>
              <a:gd name="T14" fmla="*/ 8836 w 8836"/>
              <a:gd name="T15" fmla="*/ 9558 h 9598"/>
              <a:gd name="T16" fmla="*/ 8836 w 8836"/>
              <a:gd name="T17" fmla="*/ 8998 h 9598"/>
              <a:gd name="T18" fmla="*/ 7952 w 8836"/>
              <a:gd name="T19" fmla="*/ 8998 h 9598"/>
              <a:gd name="T20" fmla="*/ 1165 w 8836"/>
              <a:gd name="T21" fmla="*/ 6559 h 9598"/>
              <a:gd name="T22" fmla="*/ 3173 w 8836"/>
              <a:gd name="T23" fmla="*/ 6159 h 9598"/>
              <a:gd name="T24" fmla="*/ 3173 w 8836"/>
              <a:gd name="T25" fmla="*/ 5159 h 9598"/>
              <a:gd name="T26" fmla="*/ 1165 w 8836"/>
              <a:gd name="T27" fmla="*/ 5679 h 9598"/>
              <a:gd name="T28" fmla="*/ 1165 w 8836"/>
              <a:gd name="T29" fmla="*/ 6559 h 9598"/>
              <a:gd name="T30" fmla="*/ 1165 w 8836"/>
              <a:gd name="T31" fmla="*/ 9558 h 9598"/>
              <a:gd name="T32" fmla="*/ 3173 w 8836"/>
              <a:gd name="T33" fmla="*/ 9558 h 9598"/>
              <a:gd name="T34" fmla="*/ 3173 w 8836"/>
              <a:gd name="T35" fmla="*/ 8518 h 9598"/>
              <a:gd name="T36" fmla="*/ 1165 w 8836"/>
              <a:gd name="T37" fmla="*/ 8678 h 9598"/>
              <a:gd name="T38" fmla="*/ 1165 w 8836"/>
              <a:gd name="T39" fmla="*/ 9558 h 9598"/>
              <a:gd name="T40" fmla="*/ 1165 w 8836"/>
              <a:gd name="T41" fmla="*/ 8078 h 9598"/>
              <a:gd name="T42" fmla="*/ 3173 w 8836"/>
              <a:gd name="T43" fmla="*/ 7878 h 9598"/>
              <a:gd name="T44" fmla="*/ 3173 w 8836"/>
              <a:gd name="T45" fmla="*/ 6879 h 9598"/>
              <a:gd name="T46" fmla="*/ 1165 w 8836"/>
              <a:gd name="T47" fmla="*/ 7198 h 9598"/>
              <a:gd name="T48" fmla="*/ 1165 w 8836"/>
              <a:gd name="T49" fmla="*/ 8078 h 9598"/>
              <a:gd name="T50" fmla="*/ 1165 w 8836"/>
              <a:gd name="T51" fmla="*/ 5039 h 9598"/>
              <a:gd name="T52" fmla="*/ 3173 w 8836"/>
              <a:gd name="T53" fmla="*/ 4479 h 9598"/>
              <a:gd name="T54" fmla="*/ 3173 w 8836"/>
              <a:gd name="T55" fmla="*/ 3439 h 9598"/>
              <a:gd name="T56" fmla="*/ 1165 w 8836"/>
              <a:gd name="T57" fmla="*/ 4119 h 9598"/>
              <a:gd name="T58" fmla="*/ 1165 w 8836"/>
              <a:gd name="T59" fmla="*/ 5039 h 9598"/>
              <a:gd name="T60" fmla="*/ 5342 w 8836"/>
              <a:gd name="T61" fmla="*/ 2440 h 9598"/>
              <a:gd name="T62" fmla="*/ 4217 w 8836"/>
              <a:gd name="T63" fmla="*/ 1760 h 9598"/>
              <a:gd name="T64" fmla="*/ 0 w 8836"/>
              <a:gd name="T65" fmla="*/ 3279 h 9598"/>
              <a:gd name="T66" fmla="*/ 0 w 8836"/>
              <a:gd name="T67" fmla="*/ 9598 h 9598"/>
              <a:gd name="T68" fmla="*/ 562 w 8836"/>
              <a:gd name="T69" fmla="*/ 9598 h 9598"/>
              <a:gd name="T70" fmla="*/ 562 w 8836"/>
              <a:gd name="T71" fmla="*/ 3559 h 9598"/>
              <a:gd name="T72" fmla="*/ 3735 w 8836"/>
              <a:gd name="T73" fmla="*/ 2519 h 9598"/>
              <a:gd name="T74" fmla="*/ 3735 w 8836"/>
              <a:gd name="T75" fmla="*/ 9558 h 9598"/>
              <a:gd name="T76" fmla="*/ 5382 w 8836"/>
              <a:gd name="T77" fmla="*/ 9558 h 9598"/>
              <a:gd name="T78" fmla="*/ 5342 w 8836"/>
              <a:gd name="T79" fmla="*/ 2440 h 9598"/>
              <a:gd name="T80" fmla="*/ 5342 w 8836"/>
              <a:gd name="T81" fmla="*/ 2440 h 9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8836" h="9598">
                <a:moveTo>
                  <a:pt x="7952" y="8998"/>
                </a:moveTo>
                <a:lnTo>
                  <a:pt x="7952" y="1080"/>
                </a:lnTo>
                <a:lnTo>
                  <a:pt x="6707" y="0"/>
                </a:lnTo>
                <a:lnTo>
                  <a:pt x="2530" y="1560"/>
                </a:lnTo>
                <a:lnTo>
                  <a:pt x="2530" y="1960"/>
                </a:lnTo>
                <a:lnTo>
                  <a:pt x="6306" y="680"/>
                </a:lnTo>
                <a:lnTo>
                  <a:pt x="6306" y="9558"/>
                </a:lnTo>
                <a:lnTo>
                  <a:pt x="8836" y="9558"/>
                </a:lnTo>
                <a:lnTo>
                  <a:pt x="8836" y="8998"/>
                </a:lnTo>
                <a:lnTo>
                  <a:pt x="7952" y="8998"/>
                </a:lnTo>
                <a:close/>
                <a:moveTo>
                  <a:pt x="1165" y="6559"/>
                </a:moveTo>
                <a:lnTo>
                  <a:pt x="3173" y="6159"/>
                </a:lnTo>
                <a:lnTo>
                  <a:pt x="3173" y="5159"/>
                </a:lnTo>
                <a:lnTo>
                  <a:pt x="1165" y="5679"/>
                </a:lnTo>
                <a:lnTo>
                  <a:pt x="1165" y="6559"/>
                </a:lnTo>
                <a:close/>
                <a:moveTo>
                  <a:pt x="1165" y="9558"/>
                </a:moveTo>
                <a:lnTo>
                  <a:pt x="3173" y="9558"/>
                </a:lnTo>
                <a:lnTo>
                  <a:pt x="3173" y="8518"/>
                </a:lnTo>
                <a:lnTo>
                  <a:pt x="1165" y="8678"/>
                </a:lnTo>
                <a:lnTo>
                  <a:pt x="1165" y="9558"/>
                </a:lnTo>
                <a:close/>
                <a:moveTo>
                  <a:pt x="1165" y="8078"/>
                </a:moveTo>
                <a:lnTo>
                  <a:pt x="3173" y="7878"/>
                </a:lnTo>
                <a:lnTo>
                  <a:pt x="3173" y="6879"/>
                </a:lnTo>
                <a:lnTo>
                  <a:pt x="1165" y="7198"/>
                </a:lnTo>
                <a:lnTo>
                  <a:pt x="1165" y="8078"/>
                </a:lnTo>
                <a:close/>
                <a:moveTo>
                  <a:pt x="1165" y="5039"/>
                </a:moveTo>
                <a:lnTo>
                  <a:pt x="3173" y="4479"/>
                </a:lnTo>
                <a:lnTo>
                  <a:pt x="3173" y="3439"/>
                </a:lnTo>
                <a:lnTo>
                  <a:pt x="1165" y="4119"/>
                </a:lnTo>
                <a:lnTo>
                  <a:pt x="1165" y="5039"/>
                </a:lnTo>
                <a:close/>
                <a:moveTo>
                  <a:pt x="5342" y="2440"/>
                </a:moveTo>
                <a:lnTo>
                  <a:pt x="4217" y="1760"/>
                </a:lnTo>
                <a:lnTo>
                  <a:pt x="0" y="3279"/>
                </a:lnTo>
                <a:lnTo>
                  <a:pt x="0" y="9598"/>
                </a:lnTo>
                <a:lnTo>
                  <a:pt x="562" y="9598"/>
                </a:lnTo>
                <a:lnTo>
                  <a:pt x="562" y="3559"/>
                </a:lnTo>
                <a:lnTo>
                  <a:pt x="3735" y="2519"/>
                </a:lnTo>
                <a:lnTo>
                  <a:pt x="3735" y="9558"/>
                </a:lnTo>
                <a:lnTo>
                  <a:pt x="5382" y="9558"/>
                </a:lnTo>
                <a:lnTo>
                  <a:pt x="5342" y="2440"/>
                </a:lnTo>
                <a:close/>
                <a:moveTo>
                  <a:pt x="5342" y="244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2" name="Picture 2" descr="https://timgsa.baidu.com/timg?image&amp;quality=80&amp;size=b9999_10000&amp;sec=1574321053668&amp;di=7f48d6daefeab0b7788fb10977c8022d&amp;imgtype=0&amp;src=http%3A%2F%2Fwww.szida.org%2Fuploadfile%2Fallimg%2F120523%2F7_120523100645_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70" y="1287780"/>
            <a:ext cx="1347470" cy="1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图片 13" descr="2020082404445747[1]"/>
          <p:cNvPicPr>
            <a:picLocks noChangeAspect="1"/>
          </p:cNvPicPr>
          <p:nvPr/>
        </p:nvPicPr>
        <p:blipFill>
          <a:blip r:embed="rId8"/>
          <a:srcRect l="27123"/>
          <a:stretch>
            <a:fillRect/>
          </a:stretch>
        </p:blipFill>
        <p:spPr>
          <a:xfrm>
            <a:off x="2856230" y="2987675"/>
            <a:ext cx="2494280" cy="918845"/>
          </a:xfrm>
          <a:prstGeom prst="rect">
            <a:avLst/>
          </a:prstGeom>
        </p:spPr>
      </p:pic>
      <p:sp>
        <p:nvSpPr>
          <p:cNvPr id="15" name="Text Placeholder 1"/>
          <p:cNvSpPr txBox="1"/>
          <p:nvPr/>
        </p:nvSpPr>
        <p:spPr>
          <a:xfrm>
            <a:off x="2187575" y="2419985"/>
            <a:ext cx="1635760" cy="41719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zh-CN" altLang="en-US" sz="2200" b="1" kern="1200" dirty="0" smtClean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君柔科技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0" y="5552444"/>
            <a:ext cx="1743075" cy="52959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0"/>
          <a:srcRect r="-937" b="1299"/>
          <a:stretch>
            <a:fillRect/>
          </a:stretch>
        </p:blipFill>
        <p:spPr>
          <a:xfrm>
            <a:off x="8164830" y="5472434"/>
            <a:ext cx="820420" cy="7239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30715" y="5458464"/>
            <a:ext cx="1522730" cy="73787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1542037" y="4836470"/>
            <a:ext cx="2683376" cy="1393757"/>
            <a:chOff x="868740" y="1620561"/>
            <a:chExt cx="6555185" cy="3404791"/>
          </a:xfrm>
        </p:grpSpPr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6010" y="2007544"/>
              <a:ext cx="6137915" cy="301780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7375" y="1790643"/>
              <a:ext cx="6137915" cy="301780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740" y="1620561"/>
              <a:ext cx="6137915" cy="301780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DB46-D9D7-565D-3C54-A10A3AE75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6C5C04A3-F1CB-7BC5-F7B3-482099558B0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5080" imgH="5080" progId="TCLayout.ActiveDocument.1">
                  <p:embed/>
                </p:oleObj>
              </mc:Choice>
              <mc:Fallback>
                <p:oleObj name="think-cell 幻灯片" r:id="rId4" imgW="5080" imgH="5080" progId="TCLayout.ActiveDocument.1">
                  <p:embed/>
                  <p:pic>
                    <p:nvPicPr>
                      <p:cNvPr id="5" name="对象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7E119C6F-5B00-E2FE-487A-A0E70F9BE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  <a:t>创始人系三篇《自然》作者可驱动蠕虫状纤维电极首创者，并获得院士全力支持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69004A-3C6B-28B5-E60B-8F2AF87B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7695-A07D-4BCB-B41D-8E5B8A170798}" type="slidenum">
              <a:rPr lang="zh-CN" altLang="en-US" smtClean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8</a:t>
            </a:fld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199D538-2698-ABB0-F715-97281ABE468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59" r="3976"/>
          <a:stretch>
            <a:fillRect/>
          </a:stretch>
        </p:blipFill>
        <p:spPr>
          <a:xfrm>
            <a:off x="672359" y="1117600"/>
            <a:ext cx="1425233" cy="18225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8" name="Rectangle 3">
            <a:extLst>
              <a:ext uri="{FF2B5EF4-FFF2-40B4-BE49-F238E27FC236}">
                <a16:creationId xmlns:a16="http://schemas.microsoft.com/office/drawing/2014/main" id="{EE872DDE-D2B3-F5D7-DE48-2C87AA028D93}"/>
              </a:ext>
            </a:extLst>
          </p:cNvPr>
          <p:cNvSpPr/>
          <p:nvPr/>
        </p:nvSpPr>
        <p:spPr>
          <a:xfrm>
            <a:off x="2515545" y="1572578"/>
            <a:ext cx="3372802" cy="2094292"/>
          </a:xfrm>
          <a:prstGeom prst="roundRect">
            <a:avLst>
              <a:gd name="adj" fmla="val 1784"/>
            </a:avLst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cxnSp>
        <p:nvCxnSpPr>
          <p:cNvPr id="64" name="Straight Connector 5">
            <a:extLst>
              <a:ext uri="{FF2B5EF4-FFF2-40B4-BE49-F238E27FC236}">
                <a16:creationId xmlns:a16="http://schemas.microsoft.com/office/drawing/2014/main" id="{C3D25AD5-DABA-A669-80A2-E6C148CE0D58}"/>
              </a:ext>
            </a:extLst>
          </p:cNvPr>
          <p:cNvCxnSpPr>
            <a:cxnSpLocks/>
          </p:cNvCxnSpPr>
          <p:nvPr/>
        </p:nvCxnSpPr>
        <p:spPr>
          <a:xfrm>
            <a:off x="2419342" y="1490389"/>
            <a:ext cx="3462338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chemeClr val="accent1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68315" dist="31867" dir="3960000" sx="92623" sy="92623" algn="ctr" rotWithShape="0">
              <a:schemeClr val="tx1">
                <a:lumMod val="50000"/>
                <a:lumOff val="50000"/>
                <a:alpha val="34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îṧḷiḍé">
            <a:extLst>
              <a:ext uri="{FF2B5EF4-FFF2-40B4-BE49-F238E27FC236}">
                <a16:creationId xmlns:a16="http://schemas.microsoft.com/office/drawing/2014/main" id="{3B886FD6-802D-01A4-B79C-6C4DAD1A50E8}"/>
              </a:ext>
            </a:extLst>
          </p:cNvPr>
          <p:cNvSpPr txBox="1"/>
          <p:nvPr/>
        </p:nvSpPr>
        <p:spPr>
          <a:xfrm>
            <a:off x="2515545" y="1089075"/>
            <a:ext cx="2656523" cy="276999"/>
          </a:xfrm>
          <a:prstGeom prst="roundRect">
            <a:avLst>
              <a:gd name="adj" fmla="val 0"/>
            </a:avLst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3765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刘志远，君柔科技创始人</a:t>
            </a:r>
            <a:endParaRPr lang="zh-CN" altLang="en-US" sz="1400" dirty="0">
              <a:solidFill>
                <a:schemeClr val="accent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81871EC-60C5-7F9C-0C08-25A7B62598EC}"/>
              </a:ext>
            </a:extLst>
          </p:cNvPr>
          <p:cNvSpPr txBox="1"/>
          <p:nvPr/>
        </p:nvSpPr>
        <p:spPr>
          <a:xfrm>
            <a:off x="2541771" y="1545548"/>
            <a:ext cx="3346576" cy="2094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中国科学院深圳先进技术研究院研究员，博导</a:t>
            </a:r>
            <a:r>
              <a:rPr lang="en-US" altLang="zh-CN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 | </a:t>
            </a: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广东省脑机接口重点实验室副主任</a:t>
            </a:r>
            <a:endParaRPr lang="en-US" altLang="zh-CN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中国工程院工程前沿杰出青年学者</a:t>
            </a:r>
            <a:endParaRPr lang="en-US" altLang="zh-CN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国际先进材料协会会士</a:t>
            </a:r>
            <a:endParaRPr lang="en-US" altLang="zh-CN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国家工信部揭榜挂帅优秀榜主</a:t>
            </a:r>
            <a:endParaRPr lang="en-US" altLang="zh-CN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医学成像科学与技术系统全国重点实验主任助理</a:t>
            </a:r>
            <a:endParaRPr lang="en-US" altLang="zh-CN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国家高性能医疗器械创新中心教授</a:t>
            </a:r>
            <a:endParaRPr lang="en-US" altLang="zh-CN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国家中组部青年千人</a:t>
            </a:r>
          </a:p>
        </p:txBody>
      </p:sp>
      <p:sp>
        <p:nvSpPr>
          <p:cNvPr id="76" name="Rectangle 4">
            <a:extLst>
              <a:ext uri="{FF2B5EF4-FFF2-40B4-BE49-F238E27FC236}">
                <a16:creationId xmlns:a16="http://schemas.microsoft.com/office/drawing/2014/main" id="{152C2C0A-51E8-8C3A-B834-BBC0F6F5B3A2}"/>
              </a:ext>
            </a:extLst>
          </p:cNvPr>
          <p:cNvSpPr/>
          <p:nvPr/>
        </p:nvSpPr>
        <p:spPr>
          <a:xfrm>
            <a:off x="2568937" y="3871867"/>
            <a:ext cx="3312742" cy="240654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4D37C4B0-D6FE-1828-9A52-C51491A3729F}"/>
              </a:ext>
            </a:extLst>
          </p:cNvPr>
          <p:cNvSpPr/>
          <p:nvPr/>
        </p:nvSpPr>
        <p:spPr>
          <a:xfrm>
            <a:off x="2661663" y="4107606"/>
            <a:ext cx="524442" cy="1946653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近五年通讯作者文章及部分专利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881B8916-4E15-1017-3896-7FFE18986E57}"/>
              </a:ext>
            </a:extLst>
          </p:cNvPr>
          <p:cNvSpPr txBox="1"/>
          <p:nvPr/>
        </p:nvSpPr>
        <p:spPr>
          <a:xfrm>
            <a:off x="3186105" y="3957931"/>
            <a:ext cx="2695574" cy="223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Nature. 2025，645，648-655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Nature. 2023, 614, 456-462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Nature. 2023, 624, 295-302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Nat. Electron. 2023, 6, 154-163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发明专利，</a:t>
            </a:r>
            <a:r>
              <a:rPr lang="en-US" altLang="zh-CN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CN202510536637.0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发明专利，</a:t>
            </a:r>
            <a:r>
              <a:rPr lang="en-US" altLang="zh-CN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CN202411780420.6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发明专利，</a:t>
            </a:r>
            <a:r>
              <a:rPr lang="en-US" altLang="zh-CN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CN202323381975.7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发明专利，</a:t>
            </a:r>
            <a:r>
              <a:rPr lang="en-US" altLang="zh-CN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CN202111211599.X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发明专利，</a:t>
            </a:r>
            <a:r>
              <a:rPr lang="en-US" altLang="zh-CN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CN202110388798.1</a:t>
            </a:r>
          </a:p>
        </p:txBody>
      </p:sp>
      <p:sp>
        <p:nvSpPr>
          <p:cNvPr id="115" name="îṧḷiḍé">
            <a:extLst>
              <a:ext uri="{FF2B5EF4-FFF2-40B4-BE49-F238E27FC236}">
                <a16:creationId xmlns:a16="http://schemas.microsoft.com/office/drawing/2014/main" id="{8BC45A5B-61DE-0650-F526-9C5604705F73}"/>
              </a:ext>
            </a:extLst>
          </p:cNvPr>
          <p:cNvSpPr txBox="1"/>
          <p:nvPr/>
        </p:nvSpPr>
        <p:spPr>
          <a:xfrm>
            <a:off x="588955" y="3780769"/>
            <a:ext cx="1926590" cy="2255874"/>
          </a:xfrm>
          <a:prstGeom prst="roundRect">
            <a:avLst>
              <a:gd name="adj" fmla="val 0"/>
            </a:avLst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3765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100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主持国家重点研发计划课题、深圳市孔雀团队、中科院重大任务局项目、国自然面上项目等</a:t>
            </a:r>
            <a:endParaRPr lang="en-US" altLang="zh-CN" sz="1100" dirty="0">
              <a:solidFill>
                <a:schemeClr val="accent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100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研究方向：面向长期植入的柔性生物界面电子</a:t>
            </a:r>
            <a:r>
              <a:rPr lang="en-US" altLang="zh-CN" sz="1100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zh-CN" altLang="en-US" sz="1100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代表性研究成果：可驱动的蠕虫状纤维电极，授权发明专利十余项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364D0C0-7FCA-4382-5DA0-5A1B658F03AC}"/>
              </a:ext>
            </a:extLst>
          </p:cNvPr>
          <p:cNvSpPr/>
          <p:nvPr/>
        </p:nvSpPr>
        <p:spPr>
          <a:xfrm>
            <a:off x="8179077" y="1572578"/>
            <a:ext cx="3372802" cy="2094292"/>
          </a:xfrm>
          <a:prstGeom prst="roundRect">
            <a:avLst>
              <a:gd name="adj" fmla="val 1784"/>
            </a:avLst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A928F6CB-A76D-2240-F947-993F1923497D}"/>
              </a:ext>
            </a:extLst>
          </p:cNvPr>
          <p:cNvCxnSpPr>
            <a:cxnSpLocks/>
          </p:cNvCxnSpPr>
          <p:nvPr/>
        </p:nvCxnSpPr>
        <p:spPr>
          <a:xfrm>
            <a:off x="8082874" y="1490389"/>
            <a:ext cx="3462338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chemeClr val="accent1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68315" dist="31867" dir="3960000" sx="92623" sy="92623" algn="ctr" rotWithShape="0">
              <a:schemeClr val="tx1">
                <a:lumMod val="50000"/>
                <a:lumOff val="50000"/>
                <a:alpha val="34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îṧḷiḍé">
            <a:extLst>
              <a:ext uri="{FF2B5EF4-FFF2-40B4-BE49-F238E27FC236}">
                <a16:creationId xmlns:a16="http://schemas.microsoft.com/office/drawing/2014/main" id="{C042FFA1-E63B-1D06-F10E-D24CB1F534A4}"/>
              </a:ext>
            </a:extLst>
          </p:cNvPr>
          <p:cNvSpPr txBox="1"/>
          <p:nvPr/>
        </p:nvSpPr>
        <p:spPr>
          <a:xfrm>
            <a:off x="8179077" y="1125406"/>
            <a:ext cx="3090646" cy="276999"/>
          </a:xfrm>
          <a:prstGeom prst="roundRect">
            <a:avLst>
              <a:gd name="adj" fmla="val 0"/>
            </a:avLst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3765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郑海荣院士，首席顾问</a:t>
            </a:r>
            <a:endParaRPr lang="zh-CN" altLang="en-US" sz="1400" dirty="0">
              <a:solidFill>
                <a:schemeClr val="accent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028B3D-5121-4AF5-0ACE-76075754FB0F}"/>
              </a:ext>
            </a:extLst>
          </p:cNvPr>
          <p:cNvSpPr txBox="1"/>
          <p:nvPr/>
        </p:nvSpPr>
        <p:spPr>
          <a:xfrm>
            <a:off x="8205303" y="1545548"/>
            <a:ext cx="3346576" cy="2094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2023</a:t>
            </a: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年当选中国科学院最年轻院士</a:t>
            </a:r>
            <a:endParaRPr lang="en-US" altLang="zh-CN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中国生物医学工程学会会士 </a:t>
            </a:r>
            <a:endParaRPr lang="en-US" altLang="zh-CN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南京大学党委常委、副校长</a:t>
            </a:r>
            <a:endParaRPr lang="en-US" altLang="zh-CN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国家高性能医疗器械创新中心主任</a:t>
            </a:r>
            <a:endParaRPr lang="en-US" altLang="zh-CN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医学成像科学与技术系统重点实验室主任</a:t>
            </a:r>
            <a:endParaRPr lang="en-US" altLang="zh-CN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国家级医学成像技术装备工程实验室主任</a:t>
            </a:r>
            <a:endParaRPr lang="en-US" altLang="zh-CN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劳特伯生物医学成像研究中心主任</a:t>
            </a:r>
            <a:endParaRPr lang="en-US" altLang="zh-CN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获国家杰青，国家有突出贡献中青年专家</a:t>
            </a:r>
            <a:endParaRPr lang="zh-CN" altLang="en-US" sz="11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6E9300F-07E3-83D6-394F-30FC95413A25}"/>
              </a:ext>
            </a:extLst>
          </p:cNvPr>
          <p:cNvSpPr/>
          <p:nvPr/>
        </p:nvSpPr>
        <p:spPr>
          <a:xfrm>
            <a:off x="8232469" y="3871867"/>
            <a:ext cx="3312742" cy="240654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D49DA59-5BB4-813D-A75A-03866510226F}"/>
              </a:ext>
            </a:extLst>
          </p:cNvPr>
          <p:cNvSpPr/>
          <p:nvPr/>
        </p:nvSpPr>
        <p:spPr>
          <a:xfrm>
            <a:off x="8325195" y="4107606"/>
            <a:ext cx="524442" cy="1946653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部分奖项与学术贡献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CF33E9-5CDB-A893-D13A-86830F640241}"/>
              </a:ext>
            </a:extLst>
          </p:cNvPr>
          <p:cNvSpPr txBox="1"/>
          <p:nvPr/>
        </p:nvSpPr>
        <p:spPr>
          <a:xfrm>
            <a:off x="8849637" y="3957931"/>
            <a:ext cx="2695574" cy="223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zh-CN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获国家技术发明二等奖、国家科技进步一等奖</a:t>
            </a: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，省部级一等奖</a:t>
            </a:r>
            <a:r>
              <a:rPr lang="en-US" altLang="zh-CN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5</a:t>
            </a: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项</a:t>
            </a:r>
            <a:endParaRPr lang="zh-CN" altLang="zh-CN" sz="12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lvl="0" indent="-28575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主持完成</a:t>
            </a: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多项</a:t>
            </a:r>
            <a:r>
              <a:rPr lang="zh-CN" altLang="zh-CN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国家973计划项目（首席）</a:t>
            </a:r>
          </a:p>
          <a:p>
            <a:pPr marL="285750" lvl="0" indent="-28575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主持</a:t>
            </a:r>
            <a:r>
              <a:rPr lang="zh-CN" altLang="zh-CN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中科院战略先导项目和国家重大科研仪器专项等多项重大科研项目</a:t>
            </a:r>
            <a:endParaRPr lang="en-US" altLang="zh-CN" sz="12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lvl="0" indent="-28575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获授权发明专利</a:t>
            </a:r>
            <a:r>
              <a:rPr lang="en-US" altLang="zh-CN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140</a:t>
            </a: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</a:rPr>
              <a:t>余件</a:t>
            </a:r>
            <a:endParaRPr lang="en-US" altLang="zh-CN" sz="12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</a:endParaRPr>
          </a:p>
          <a:p>
            <a:pPr marL="285750" lvl="0" indent="-28575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发表学术论文</a:t>
            </a:r>
            <a:r>
              <a:rPr lang="en-US" altLang="zh-CN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200</a:t>
            </a:r>
            <a:r>
              <a:rPr lang="zh-CN" altLang="en-US" sz="12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余篇</a:t>
            </a:r>
            <a:endParaRPr lang="en-US" altLang="zh-CN" sz="12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îṧḷiḍé">
            <a:extLst>
              <a:ext uri="{FF2B5EF4-FFF2-40B4-BE49-F238E27FC236}">
                <a16:creationId xmlns:a16="http://schemas.microsoft.com/office/drawing/2014/main" id="{F5420D58-7364-2B11-6802-CE8168F0C7EF}"/>
              </a:ext>
            </a:extLst>
          </p:cNvPr>
          <p:cNvSpPr txBox="1"/>
          <p:nvPr/>
        </p:nvSpPr>
        <p:spPr>
          <a:xfrm>
            <a:off x="6252487" y="3907728"/>
            <a:ext cx="1926590" cy="2001958"/>
          </a:xfrm>
          <a:prstGeom prst="roundRect">
            <a:avLst>
              <a:gd name="adj" fmla="val 0"/>
            </a:avLst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3765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2025</a:t>
            </a:r>
            <a:r>
              <a: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年</a:t>
            </a:r>
            <a:r>
              <a:rPr lang="en-US" altLang="zh-CN" sz="11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12</a:t>
            </a:r>
            <a:r>
              <a: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月于</a:t>
            </a:r>
            <a:r>
              <a:rPr lang="zh-CN" altLang="en-US" sz="1100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人民日报</a:t>
            </a:r>
            <a:r>
              <a: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发表</a:t>
            </a:r>
            <a:r>
              <a:rPr lang="zh-CN" altLang="en-US" sz="1100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</a:rPr>
              <a:t>脑机接口如何“链接”大千世界文章</a:t>
            </a:r>
            <a:r>
              <a: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rPr>
              <a:t>指出：脑机接口正演变为连接碳基生物智能与硅基机器智能的基础设施。碳基智慧与硅基信息深度融合，将重新定义智能的边界，让生命的可能性向无限展开。</a:t>
            </a:r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ea typeface="微软雅黑 Light" panose="020B0502040204020203" pitchFamily="34" charset="-122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A2D22B3B-8AF6-8CBD-9483-FD6940691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105" y="1119471"/>
            <a:ext cx="1386862" cy="182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193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融合，研发、工程、算法、注册、运营及知名医生组成的行业顶级综合团队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7695-A07D-4BCB-B41D-8E5B8A17079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框 22"/>
          <p:cNvSpPr txBox="1"/>
          <p:nvPr/>
        </p:nvSpPr>
        <p:spPr>
          <a:xfrm>
            <a:off x="2953321" y="2179320"/>
            <a:ext cx="7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田琼</a:t>
            </a:r>
            <a:endParaRPr lang="en-US" altLang="zh-CN" sz="1400" b="1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8" name="文本框 29"/>
          <p:cNvSpPr txBox="1"/>
          <p:nvPr/>
        </p:nvSpPr>
        <p:spPr>
          <a:xfrm>
            <a:off x="4046055" y="2179320"/>
            <a:ext cx="7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李青松</a:t>
            </a:r>
          </a:p>
        </p:txBody>
      </p:sp>
      <p:sp>
        <p:nvSpPr>
          <p:cNvPr id="17" name="文本框 6"/>
          <p:cNvSpPr txBox="1"/>
          <p:nvPr/>
        </p:nvSpPr>
        <p:spPr>
          <a:xfrm>
            <a:off x="2865457" y="2463578"/>
            <a:ext cx="97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副研究员</a:t>
            </a:r>
          </a:p>
        </p:txBody>
      </p:sp>
      <p:sp>
        <p:nvSpPr>
          <p:cNvPr id="18" name="文本框 7"/>
          <p:cNvSpPr txBox="1"/>
          <p:nvPr/>
        </p:nvSpPr>
        <p:spPr>
          <a:xfrm>
            <a:off x="3957835" y="2463578"/>
            <a:ext cx="97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副研究员</a:t>
            </a:r>
            <a:endParaRPr lang="en-US" altLang="zh-CN" sz="10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DB005E2-4B94-1DD0-B745-3C32E37E7468}"/>
              </a:ext>
            </a:extLst>
          </p:cNvPr>
          <p:cNvGrpSpPr/>
          <p:nvPr/>
        </p:nvGrpSpPr>
        <p:grpSpPr>
          <a:xfrm>
            <a:off x="3845100" y="2900542"/>
            <a:ext cx="1180634" cy="3608031"/>
            <a:chOff x="4740885" y="3105150"/>
            <a:chExt cx="1180634" cy="3608031"/>
          </a:xfrm>
        </p:grpSpPr>
        <p:sp>
          <p:nvSpPr>
            <p:cNvPr id="27" name="文本框 28"/>
            <p:cNvSpPr txBox="1"/>
            <p:nvPr/>
          </p:nvSpPr>
          <p:spPr>
            <a:xfrm>
              <a:off x="4811869" y="3105150"/>
              <a:ext cx="1052754" cy="1871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171450" indent="-171450"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defRPr>
              </a:lvl1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苏州大学</a:t>
              </a:r>
              <a:r>
                <a:rPr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-</a:t>
              </a: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新加坡南洋</a:t>
              </a:r>
              <a:endPara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理工大学联合培养博士</a:t>
              </a:r>
            </a:p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研究方向</a:t>
              </a:r>
              <a:r>
                <a:rPr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: </a:t>
              </a: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自适应柔性传感</a:t>
              </a: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Adv. </a:t>
              </a:r>
              <a:r>
                <a:rPr lang="en-US" altLang="zh-CN" sz="1000" dirty="0" err="1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Funct</a:t>
              </a:r>
              <a:r>
                <a:rPr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. Mater. 2025, e23274</a:t>
              </a:r>
            </a:p>
          </p:txBody>
        </p:sp>
        <p:sp>
          <p:nvSpPr>
            <p:cNvPr id="32" name="泪滴形 31"/>
            <p:cNvSpPr/>
            <p:nvPr/>
          </p:nvSpPr>
          <p:spPr>
            <a:xfrm>
              <a:off x="4746522" y="3184525"/>
              <a:ext cx="127880" cy="12504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文本框 30"/>
            <p:cNvSpPr txBox="1"/>
            <p:nvPr/>
          </p:nvSpPr>
          <p:spPr>
            <a:xfrm>
              <a:off x="4811868" y="4839335"/>
              <a:ext cx="1109651" cy="1873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indent="0">
                <a:lnSpc>
                  <a:spcPct val="130000"/>
                </a:lnSpc>
                <a:buFont typeface="Arial" panose="020B0604020202020204" pitchFamily="34" charset="0"/>
                <a:buNone/>
                <a:defRPr sz="100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</a:defRPr>
              </a:lvl1pPr>
            </a:lstStyle>
            <a:p>
              <a:r>
                <a:rPr lang="zh-CN" altLang="en-US" dirty="0">
                  <a:sym typeface="Arial" panose="020B0604020202020204" pitchFamily="34" charset="0"/>
                </a:rPr>
                <a:t>主持国自然青年基金、科技部重点研发子课题等</a:t>
              </a:r>
              <a:endParaRPr lang="en-US" altLang="zh-CN" dirty="0">
                <a:sym typeface="Arial" panose="020B0604020202020204" pitchFamily="34" charset="0"/>
              </a:endParaRPr>
            </a:p>
            <a:p>
              <a:endParaRPr lang="zh-CN" altLang="en-US" dirty="0">
                <a:sym typeface="Arial" panose="020B0604020202020204" pitchFamily="34" charset="0"/>
              </a:endParaRPr>
            </a:p>
            <a:p>
              <a:r>
                <a:rPr lang="en-US" altLang="zh-CN" dirty="0">
                  <a:sym typeface="Arial" panose="020B0604020202020204" pitchFamily="34" charset="0"/>
                </a:rPr>
                <a:t>2020</a:t>
              </a:r>
              <a:r>
                <a:rPr lang="zh-CN" altLang="en-US" dirty="0">
                  <a:sym typeface="Arial" panose="020B0604020202020204" pitchFamily="34" charset="0"/>
                </a:rPr>
                <a:t>深圳高层次海外人才，</a:t>
              </a:r>
              <a:r>
                <a:rPr lang="en-US" altLang="zh-CN" dirty="0">
                  <a:sym typeface="Arial" panose="020B0604020202020204" pitchFamily="34" charset="0"/>
                </a:rPr>
                <a:t>2023</a:t>
              </a:r>
              <a:r>
                <a:rPr lang="zh-CN" altLang="en-US" dirty="0">
                  <a:sym typeface="Arial" panose="020B0604020202020204" pitchFamily="34" charset="0"/>
                </a:rPr>
                <a:t>英国皇家化学学会</a:t>
              </a:r>
              <a:r>
                <a:rPr lang="en-US" altLang="zh-CN" dirty="0">
                  <a:sym typeface="Arial" panose="020B0604020202020204" pitchFamily="34" charset="0"/>
                </a:rPr>
                <a:t>Nanoscale </a:t>
              </a:r>
              <a:r>
                <a:rPr lang="zh-CN" altLang="en-US" dirty="0">
                  <a:sym typeface="Arial" panose="020B0604020202020204" pitchFamily="34" charset="0"/>
                </a:rPr>
                <a:t>新锐科学家</a:t>
              </a:r>
            </a:p>
          </p:txBody>
        </p:sp>
        <p:sp>
          <p:nvSpPr>
            <p:cNvPr id="45" name="泪滴形 44"/>
            <p:cNvSpPr/>
            <p:nvPr/>
          </p:nvSpPr>
          <p:spPr>
            <a:xfrm>
              <a:off x="4740885" y="4910455"/>
              <a:ext cx="127880" cy="12504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文本框 21"/>
          <p:cNvSpPr txBox="1"/>
          <p:nvPr/>
        </p:nvSpPr>
        <p:spPr>
          <a:xfrm>
            <a:off x="1803432" y="2179320"/>
            <a:ext cx="79200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徐天添</a:t>
            </a:r>
            <a:endParaRPr lang="en-US" altLang="zh-CN" sz="1400" b="1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文本框 5"/>
          <p:cNvSpPr txBox="1"/>
          <p:nvPr/>
        </p:nvSpPr>
        <p:spPr>
          <a:xfrm>
            <a:off x="1715924" y="2463578"/>
            <a:ext cx="97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研究员，博导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76C3C7-ECD3-03CD-A506-6A2612F3ED8C}"/>
              </a:ext>
            </a:extLst>
          </p:cNvPr>
          <p:cNvGrpSpPr/>
          <p:nvPr/>
        </p:nvGrpSpPr>
        <p:grpSpPr>
          <a:xfrm>
            <a:off x="1465939" y="2900542"/>
            <a:ext cx="1278890" cy="3408045"/>
            <a:chOff x="2327597" y="3105150"/>
            <a:chExt cx="1278890" cy="3408045"/>
          </a:xfrm>
        </p:grpSpPr>
        <p:sp>
          <p:nvSpPr>
            <p:cNvPr id="25" name="文本框 20"/>
            <p:cNvSpPr txBox="1"/>
            <p:nvPr/>
          </p:nvSpPr>
          <p:spPr>
            <a:xfrm>
              <a:off x="2455232" y="3105150"/>
              <a:ext cx="1151255" cy="1671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国家自然基金委优青</a:t>
              </a:r>
              <a:endParaRPr lang="en-US" altLang="zh-CN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广东省特支计划青年拔尖</a:t>
              </a:r>
              <a:endParaRPr lang="en-US" altLang="zh-CN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研究方向</a:t>
              </a:r>
              <a:r>
                <a:rPr lang="en-US" altLang="zh-CN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: </a:t>
              </a: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磁驱动微型机器人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Nature. 2025, 645, 648-655</a:t>
              </a:r>
            </a:p>
          </p:txBody>
        </p:sp>
        <p:sp>
          <p:nvSpPr>
            <p:cNvPr id="30" name="泪滴形 29"/>
            <p:cNvSpPr/>
            <p:nvPr/>
          </p:nvSpPr>
          <p:spPr>
            <a:xfrm>
              <a:off x="2333312" y="3184525"/>
              <a:ext cx="127635" cy="125095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7" name="文本框 23"/>
            <p:cNvSpPr txBox="1"/>
            <p:nvPr/>
          </p:nvSpPr>
          <p:spPr>
            <a:xfrm>
              <a:off x="2460947" y="4839335"/>
              <a:ext cx="1089025" cy="1673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主持国家自然科学基金、国家重点研发计划等</a:t>
              </a:r>
              <a:r>
                <a:rPr lang="en-US" altLang="zh-CN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5</a:t>
              </a: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个国家级项目</a:t>
              </a:r>
              <a:endParaRPr lang="en-US" altLang="zh-CN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endParaRPr lang="zh-CN" altLang="en-US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获中国电子学会自然科学二等奖等奖项</a:t>
              </a:r>
            </a:p>
          </p:txBody>
        </p:sp>
        <p:sp>
          <p:nvSpPr>
            <p:cNvPr id="43" name="泪滴形 42"/>
            <p:cNvSpPr/>
            <p:nvPr/>
          </p:nvSpPr>
          <p:spPr>
            <a:xfrm>
              <a:off x="2327597" y="4910455"/>
              <a:ext cx="127635" cy="125095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6CE96A3-0A1C-57C9-DE40-93CEAF121E3B}"/>
              </a:ext>
            </a:extLst>
          </p:cNvPr>
          <p:cNvGrpSpPr/>
          <p:nvPr/>
        </p:nvGrpSpPr>
        <p:grpSpPr>
          <a:xfrm>
            <a:off x="2664529" y="2900542"/>
            <a:ext cx="1260871" cy="3608031"/>
            <a:chOff x="3534732" y="3105150"/>
            <a:chExt cx="1260871" cy="3608031"/>
          </a:xfrm>
        </p:grpSpPr>
        <p:sp>
          <p:nvSpPr>
            <p:cNvPr id="26" name="文本框 24"/>
            <p:cNvSpPr txBox="1"/>
            <p:nvPr/>
          </p:nvSpPr>
          <p:spPr>
            <a:xfrm>
              <a:off x="3607234" y="3105150"/>
              <a:ext cx="1188369" cy="1871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西安交通大学博士</a:t>
              </a:r>
              <a:endParaRPr lang="en-US" altLang="zh-CN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美国</a:t>
              </a:r>
              <a:r>
                <a:rPr lang="en-US" altLang="zh-CN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JSNN</a:t>
              </a: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交流学者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研究方向</a:t>
              </a:r>
              <a:r>
                <a:rPr lang="en-US" altLang="zh-CN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: </a:t>
              </a: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生物界面柔性传感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Adv Mater, 2023,35:2211236</a:t>
              </a:r>
            </a:p>
            <a:p>
              <a:pPr>
                <a:lnSpc>
                  <a:spcPct val="130000"/>
                </a:lnSpc>
              </a:pPr>
              <a:endParaRPr lang="zh-CN" altLang="en-US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文本框 25"/>
            <p:cNvSpPr txBox="1"/>
            <p:nvPr/>
          </p:nvSpPr>
          <p:spPr>
            <a:xfrm>
              <a:off x="3630852" y="4839335"/>
              <a:ext cx="1110034" cy="1873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主持国自然面上、青年基金，广东省面上、青年基金等</a:t>
              </a:r>
              <a:endParaRPr lang="en-US" altLang="zh-CN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endParaRPr lang="zh-CN" altLang="en-US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2020</a:t>
              </a: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深圳高层次海外人才，</a:t>
              </a:r>
              <a:r>
                <a:rPr lang="en-US" altLang="zh-CN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2025</a:t>
              </a:r>
              <a:r>
                <a:rPr lang="zh-CN" altLang="en-US" sz="1000" dirty="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  <a:sym typeface="Arial" panose="020B0604020202020204" pitchFamily="34" charset="0"/>
                </a:rPr>
                <a:t>欧洲先进材料科学家</a:t>
              </a:r>
            </a:p>
          </p:txBody>
        </p:sp>
        <p:sp>
          <p:nvSpPr>
            <p:cNvPr id="31" name="泪滴形 30"/>
            <p:cNvSpPr/>
            <p:nvPr/>
          </p:nvSpPr>
          <p:spPr>
            <a:xfrm>
              <a:off x="3540447" y="3184525"/>
              <a:ext cx="127635" cy="125095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4" name="泪滴形 43"/>
            <p:cNvSpPr/>
            <p:nvPr/>
          </p:nvSpPr>
          <p:spPr>
            <a:xfrm>
              <a:off x="3534732" y="4910455"/>
              <a:ext cx="127635" cy="125095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22986" y="949960"/>
            <a:ext cx="936625" cy="10941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917863" y="949960"/>
            <a:ext cx="861447" cy="10799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037562" y="949960"/>
            <a:ext cx="799423" cy="10815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2" name="图片 51"/>
          <p:cNvPicPr>
            <a:picLocks noChangeAspect="1"/>
          </p:cNvPicPr>
          <p:nvPr/>
        </p:nvPicPr>
        <p:blipFill rotWithShape="1">
          <a:blip r:embed="rId6"/>
          <a:srcRect l="8247"/>
          <a:stretch>
            <a:fillRect/>
          </a:stretch>
        </p:blipFill>
        <p:spPr>
          <a:xfrm>
            <a:off x="5095237" y="949960"/>
            <a:ext cx="799423" cy="10884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152912" y="949960"/>
            <a:ext cx="811004" cy="10600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4" name="图片 5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222168" y="949960"/>
            <a:ext cx="898434" cy="10857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" name="图片 54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378854" y="949960"/>
            <a:ext cx="825141" cy="10706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图片 55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462247" y="949960"/>
            <a:ext cx="915567" cy="10706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8" name="文本框 29"/>
          <p:cNvSpPr txBox="1"/>
          <p:nvPr/>
        </p:nvSpPr>
        <p:spPr>
          <a:xfrm>
            <a:off x="5095931" y="2179320"/>
            <a:ext cx="7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韩飞</a:t>
            </a:r>
          </a:p>
        </p:txBody>
      </p:sp>
      <p:sp>
        <p:nvSpPr>
          <p:cNvPr id="59" name="文本框 7"/>
          <p:cNvSpPr txBox="1"/>
          <p:nvPr/>
        </p:nvSpPr>
        <p:spPr>
          <a:xfrm>
            <a:off x="5007355" y="2463578"/>
            <a:ext cx="97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副研究员</a:t>
            </a:r>
            <a:endParaRPr lang="en-US" altLang="zh-CN" sz="10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565290" y="2782584"/>
            <a:ext cx="11088000" cy="1"/>
          </a:xfrm>
          <a:prstGeom prst="line">
            <a:avLst/>
          </a:prstGeom>
          <a:ln w="15875">
            <a:gradFill flip="none" rotWithShape="1">
              <a:gsLst>
                <a:gs pos="0">
                  <a:schemeClr val="bg1">
                    <a:lumMod val="65000"/>
                    <a:alpha val="10000"/>
                  </a:schemeClr>
                </a:gs>
                <a:gs pos="49000">
                  <a:schemeClr val="bg1">
                    <a:lumMod val="65000"/>
                    <a:alpha val="50000"/>
                  </a:schemeClr>
                </a:gs>
                <a:gs pos="100000">
                  <a:schemeClr val="bg1">
                    <a:lumMod val="65000"/>
                    <a:alpha val="1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3B948BB-4DF5-DE96-9561-92BD0611479E}"/>
              </a:ext>
            </a:extLst>
          </p:cNvPr>
          <p:cNvGrpSpPr/>
          <p:nvPr/>
        </p:nvGrpSpPr>
        <p:grpSpPr>
          <a:xfrm>
            <a:off x="4945434" y="2900542"/>
            <a:ext cx="1181017" cy="3608031"/>
            <a:chOff x="5837071" y="3105150"/>
            <a:chExt cx="1181017" cy="3608031"/>
          </a:xfrm>
        </p:grpSpPr>
        <p:sp>
          <p:nvSpPr>
            <p:cNvPr id="60" name="文本框 28"/>
            <p:cNvSpPr txBox="1"/>
            <p:nvPr/>
          </p:nvSpPr>
          <p:spPr>
            <a:xfrm>
              <a:off x="5908055" y="3105150"/>
              <a:ext cx="1017244" cy="1471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171450" indent="-171450"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defRPr>
              </a:lvl1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复旦大学博士</a:t>
              </a:r>
              <a:endPara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鹏城孔雀特聘高层次人才</a:t>
              </a:r>
            </a:p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研究方向</a:t>
              </a:r>
              <a:r>
                <a:rPr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: </a:t>
              </a: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柔性界面传感</a:t>
              </a: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Nature. 2025, 645, 648-655</a:t>
              </a:r>
            </a:p>
          </p:txBody>
        </p:sp>
        <p:sp>
          <p:nvSpPr>
            <p:cNvPr id="61" name="泪滴形 60"/>
            <p:cNvSpPr/>
            <p:nvPr/>
          </p:nvSpPr>
          <p:spPr>
            <a:xfrm>
              <a:off x="5842708" y="3184525"/>
              <a:ext cx="127880" cy="12504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2" name="文本框 30"/>
            <p:cNvSpPr txBox="1"/>
            <p:nvPr/>
          </p:nvSpPr>
          <p:spPr>
            <a:xfrm>
              <a:off x="5908054" y="4839335"/>
              <a:ext cx="1110034" cy="1873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indent="0">
                <a:lnSpc>
                  <a:spcPct val="130000"/>
                </a:lnSpc>
                <a:buFont typeface="Arial" panose="020B0604020202020204" pitchFamily="34" charset="0"/>
                <a:buNone/>
                <a:defRPr sz="100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</a:defRPr>
              </a:lvl1pPr>
            </a:lstStyle>
            <a:p>
              <a:r>
                <a:rPr lang="zh-CN" altLang="en-US" dirty="0">
                  <a:sym typeface="Arial" panose="020B0604020202020204" pitchFamily="34" charset="0"/>
                </a:rPr>
                <a:t>主持国自然青年基金，参与国自然面上</a:t>
              </a:r>
              <a:endParaRPr lang="en-US" altLang="zh-CN" dirty="0">
                <a:sym typeface="Arial" panose="020B0604020202020204" pitchFamily="34" charset="0"/>
              </a:endParaRPr>
            </a:p>
            <a:p>
              <a:endParaRPr lang="zh-CN" altLang="en-US" dirty="0">
                <a:sym typeface="Arial" panose="020B0604020202020204" pitchFamily="34" charset="0"/>
              </a:endParaRPr>
            </a:p>
            <a:p>
              <a:r>
                <a:rPr lang="zh-CN" altLang="en-US" dirty="0">
                  <a:sym typeface="Arial" panose="020B0604020202020204" pitchFamily="34" charset="0"/>
                </a:rPr>
                <a:t>中国科学院特别研究助理、</a:t>
              </a:r>
              <a:r>
                <a:rPr lang="en-US" altLang="zh-CN" dirty="0">
                  <a:sym typeface="Arial" panose="020B0604020202020204" pitchFamily="34" charset="0"/>
                </a:rPr>
                <a:t>2025</a:t>
              </a:r>
              <a:r>
                <a:rPr lang="zh-CN" altLang="en-US" dirty="0">
                  <a:sym typeface="Arial" panose="020B0604020202020204" pitchFamily="34" charset="0"/>
                </a:rPr>
                <a:t>英国皇家化学学会</a:t>
              </a:r>
              <a:r>
                <a:rPr lang="en-US" altLang="zh-CN" dirty="0">
                  <a:sym typeface="Arial" panose="020B0604020202020204" pitchFamily="34" charset="0"/>
                </a:rPr>
                <a:t>Nanoscale</a:t>
              </a:r>
              <a:r>
                <a:rPr lang="zh-CN" altLang="en-US" dirty="0">
                  <a:sym typeface="Arial" panose="020B0604020202020204" pitchFamily="34" charset="0"/>
                </a:rPr>
                <a:t>新锐科学家</a:t>
              </a:r>
            </a:p>
          </p:txBody>
        </p:sp>
        <p:sp>
          <p:nvSpPr>
            <p:cNvPr id="63" name="泪滴形 62"/>
            <p:cNvSpPr/>
            <p:nvPr/>
          </p:nvSpPr>
          <p:spPr>
            <a:xfrm>
              <a:off x="5837071" y="4910455"/>
              <a:ext cx="127880" cy="12504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4" name="文本框 29"/>
          <p:cNvSpPr txBox="1"/>
          <p:nvPr/>
        </p:nvSpPr>
        <p:spPr>
          <a:xfrm>
            <a:off x="6174380" y="2179320"/>
            <a:ext cx="7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于欢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A7DADEA-AD03-B586-A15B-CAC9468D4E95}"/>
              </a:ext>
            </a:extLst>
          </p:cNvPr>
          <p:cNvGrpSpPr/>
          <p:nvPr/>
        </p:nvGrpSpPr>
        <p:grpSpPr>
          <a:xfrm>
            <a:off x="6046151" y="2900542"/>
            <a:ext cx="1181017" cy="3407977"/>
            <a:chOff x="6912057" y="3105150"/>
            <a:chExt cx="1181017" cy="3407977"/>
          </a:xfrm>
        </p:grpSpPr>
        <p:sp>
          <p:nvSpPr>
            <p:cNvPr id="66" name="文本框 28"/>
            <p:cNvSpPr txBox="1"/>
            <p:nvPr/>
          </p:nvSpPr>
          <p:spPr>
            <a:xfrm>
              <a:off x="6983040" y="3105150"/>
              <a:ext cx="1058757" cy="1471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171450" indent="-171450"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defRPr>
              </a:lvl1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中国科学技术大学博士</a:t>
              </a:r>
              <a:endPara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研究方向</a:t>
              </a:r>
              <a:r>
                <a:rPr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: </a:t>
              </a: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长期植入界面生物相容性材料</a:t>
              </a: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Nat. Commun. 2024, 15,10</a:t>
              </a:r>
            </a:p>
          </p:txBody>
        </p:sp>
        <p:sp>
          <p:nvSpPr>
            <p:cNvPr id="67" name="泪滴形 66"/>
            <p:cNvSpPr/>
            <p:nvPr/>
          </p:nvSpPr>
          <p:spPr>
            <a:xfrm>
              <a:off x="6917694" y="3184525"/>
              <a:ext cx="127880" cy="12504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文本框 30"/>
            <p:cNvSpPr txBox="1"/>
            <p:nvPr/>
          </p:nvSpPr>
          <p:spPr>
            <a:xfrm>
              <a:off x="6983040" y="4839335"/>
              <a:ext cx="1110034" cy="1673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indent="0">
                <a:lnSpc>
                  <a:spcPct val="130000"/>
                </a:lnSpc>
                <a:buFont typeface="Arial" panose="020B0604020202020204" pitchFamily="34" charset="0"/>
                <a:buNone/>
                <a:defRPr sz="100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</a:defRPr>
              </a:lvl1pPr>
            </a:lstStyle>
            <a:p>
              <a:r>
                <a:rPr lang="zh-CN" altLang="en-US" dirty="0">
                  <a:sym typeface="Arial" panose="020B0604020202020204" pitchFamily="34" charset="0"/>
                </a:rPr>
                <a:t>主持国自然青年基金，参与国自然面上</a:t>
              </a:r>
              <a:endParaRPr lang="en-US" altLang="zh-CN" dirty="0">
                <a:sym typeface="Arial" panose="020B0604020202020204" pitchFamily="34" charset="0"/>
              </a:endParaRPr>
            </a:p>
            <a:p>
              <a:endParaRPr lang="zh-CN" altLang="en-US" dirty="0">
                <a:sym typeface="Arial" panose="020B0604020202020204" pitchFamily="34" charset="0"/>
              </a:endParaRPr>
            </a:p>
            <a:p>
              <a:r>
                <a:rPr lang="en-US" altLang="zh-CN" dirty="0">
                  <a:sym typeface="Arial" panose="020B0604020202020204" pitchFamily="34" charset="0"/>
                </a:rPr>
                <a:t>2026</a:t>
              </a:r>
              <a:r>
                <a:rPr lang="zh-CN" altLang="en-US" dirty="0">
                  <a:sym typeface="Arial" panose="020B0604020202020204" pitchFamily="34" charset="0"/>
                </a:rPr>
                <a:t>英国皇家化学学会</a:t>
              </a:r>
              <a:r>
                <a:rPr lang="en-US" altLang="zh-CN" dirty="0">
                  <a:sym typeface="Arial" panose="020B0604020202020204" pitchFamily="34" charset="0"/>
                </a:rPr>
                <a:t>Nanoscale</a:t>
              </a:r>
              <a:r>
                <a:rPr lang="zh-CN" altLang="en-US" dirty="0">
                  <a:sym typeface="Arial" panose="020B0604020202020204" pitchFamily="34" charset="0"/>
                </a:rPr>
                <a:t>新锐科学家</a:t>
              </a:r>
            </a:p>
          </p:txBody>
        </p:sp>
        <p:sp>
          <p:nvSpPr>
            <p:cNvPr id="69" name="泪滴形 68"/>
            <p:cNvSpPr/>
            <p:nvPr/>
          </p:nvSpPr>
          <p:spPr>
            <a:xfrm>
              <a:off x="6912057" y="4910455"/>
              <a:ext cx="127880" cy="12504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0" name="文本框 29"/>
          <p:cNvSpPr txBox="1"/>
          <p:nvPr/>
        </p:nvSpPr>
        <p:spPr>
          <a:xfrm>
            <a:off x="7267117" y="2179320"/>
            <a:ext cx="7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陶蔚</a:t>
            </a:r>
          </a:p>
        </p:txBody>
      </p:sp>
      <p:sp>
        <p:nvSpPr>
          <p:cNvPr id="71" name="文本框 7"/>
          <p:cNvSpPr txBox="1"/>
          <p:nvPr/>
        </p:nvSpPr>
        <p:spPr>
          <a:xfrm>
            <a:off x="7177829" y="2463578"/>
            <a:ext cx="97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医生联合研发</a:t>
            </a:r>
            <a:endParaRPr lang="en-US" altLang="zh-CN" sz="10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文本框 7"/>
          <p:cNvSpPr txBox="1"/>
          <p:nvPr/>
        </p:nvSpPr>
        <p:spPr>
          <a:xfrm>
            <a:off x="6085448" y="2463578"/>
            <a:ext cx="97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助理研究员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82B4F13-D2C6-E712-E792-B6658F3C7201}"/>
              </a:ext>
            </a:extLst>
          </p:cNvPr>
          <p:cNvGrpSpPr/>
          <p:nvPr/>
        </p:nvGrpSpPr>
        <p:grpSpPr>
          <a:xfrm>
            <a:off x="7146868" y="2900542"/>
            <a:ext cx="1181017" cy="3007867"/>
            <a:chOff x="8079226" y="3105150"/>
            <a:chExt cx="1181017" cy="3007867"/>
          </a:xfrm>
        </p:grpSpPr>
        <p:sp>
          <p:nvSpPr>
            <p:cNvPr id="72" name="文本框 28"/>
            <p:cNvSpPr txBox="1"/>
            <p:nvPr/>
          </p:nvSpPr>
          <p:spPr>
            <a:xfrm>
              <a:off x="8150209" y="3105150"/>
              <a:ext cx="1058757" cy="873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171450" indent="-171450"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defRPr>
              </a:lvl1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深圳大学附属华南医院</a:t>
              </a:r>
              <a:endPara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神经医学中心主任 主任医师</a:t>
              </a:r>
            </a:p>
          </p:txBody>
        </p:sp>
        <p:sp>
          <p:nvSpPr>
            <p:cNvPr id="73" name="泪滴形 72"/>
            <p:cNvSpPr/>
            <p:nvPr/>
          </p:nvSpPr>
          <p:spPr>
            <a:xfrm>
              <a:off x="8084863" y="3184525"/>
              <a:ext cx="127880" cy="12504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4" name="文本框 30"/>
            <p:cNvSpPr txBox="1"/>
            <p:nvPr/>
          </p:nvSpPr>
          <p:spPr>
            <a:xfrm>
              <a:off x="8150209" y="4839335"/>
              <a:ext cx="1110034" cy="12736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indent="0">
                <a:lnSpc>
                  <a:spcPct val="130000"/>
                </a:lnSpc>
                <a:buFont typeface="Arial" panose="020B0604020202020204" pitchFamily="34" charset="0"/>
                <a:buNone/>
                <a:defRPr sz="100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</a:defRPr>
              </a:lvl1pPr>
            </a:lstStyle>
            <a:p>
              <a:r>
                <a:rPr lang="zh-CN" altLang="en-US" dirty="0">
                  <a:sym typeface="Arial" panose="020B0604020202020204" pitchFamily="34" charset="0"/>
                </a:rPr>
                <a:t>中国协和医科大学 医学博士</a:t>
              </a:r>
            </a:p>
            <a:p>
              <a:endParaRPr lang="en-US" altLang="zh-CN" dirty="0">
                <a:sym typeface="Arial" panose="020B0604020202020204" pitchFamily="34" charset="0"/>
              </a:endParaRPr>
            </a:p>
            <a:p>
              <a:r>
                <a:rPr lang="zh-CN" altLang="en-US" dirty="0">
                  <a:sym typeface="Arial" panose="020B0604020202020204" pitchFamily="34" charset="0"/>
                </a:rPr>
                <a:t>功能神经、慢性疼痛等临床疾病与工科交叉融合</a:t>
              </a:r>
            </a:p>
          </p:txBody>
        </p:sp>
        <p:sp>
          <p:nvSpPr>
            <p:cNvPr id="75" name="泪滴形 74"/>
            <p:cNvSpPr/>
            <p:nvPr/>
          </p:nvSpPr>
          <p:spPr>
            <a:xfrm>
              <a:off x="8079226" y="4910455"/>
              <a:ext cx="127880" cy="12504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6" name="文本框 29"/>
          <p:cNvSpPr txBox="1"/>
          <p:nvPr/>
        </p:nvSpPr>
        <p:spPr>
          <a:xfrm>
            <a:off x="8402718" y="2179320"/>
            <a:ext cx="7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杜世伟</a:t>
            </a:r>
          </a:p>
        </p:txBody>
      </p:sp>
      <p:sp>
        <p:nvSpPr>
          <p:cNvPr id="77" name="文本框 7"/>
          <p:cNvSpPr txBox="1"/>
          <p:nvPr/>
        </p:nvSpPr>
        <p:spPr>
          <a:xfrm>
            <a:off x="8313074" y="2463578"/>
            <a:ext cx="97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医生联合研发</a:t>
            </a:r>
            <a:endParaRPr lang="en-US" altLang="zh-CN" sz="10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6B4A601-95D5-7E46-C692-B0784E8B96F7}"/>
              </a:ext>
            </a:extLst>
          </p:cNvPr>
          <p:cNvGrpSpPr/>
          <p:nvPr/>
        </p:nvGrpSpPr>
        <p:grpSpPr>
          <a:xfrm>
            <a:off x="8247585" y="2900542"/>
            <a:ext cx="1181017" cy="3007867"/>
            <a:chOff x="9246395" y="3105150"/>
            <a:chExt cx="1181017" cy="3007867"/>
          </a:xfrm>
        </p:grpSpPr>
        <p:sp>
          <p:nvSpPr>
            <p:cNvPr id="78" name="文本框 28"/>
            <p:cNvSpPr txBox="1"/>
            <p:nvPr/>
          </p:nvSpPr>
          <p:spPr>
            <a:xfrm>
              <a:off x="9317378" y="3105150"/>
              <a:ext cx="1058757" cy="1071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171450" indent="-171450"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defRPr>
              </a:lvl1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深圳大学附属华南医院</a:t>
              </a:r>
              <a:endPara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神经外科主任医师、主任</a:t>
              </a:r>
              <a:endPara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  <a:p>
              <a:pPr marL="0" indent="0">
                <a:lnSpc>
                  <a:spcPct val="130000"/>
                </a:lnSpc>
                <a:buNone/>
              </a:pPr>
              <a:endParaRPr lang="zh-CN" altLang="en-US" sz="10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泪滴形 78"/>
            <p:cNvSpPr/>
            <p:nvPr/>
          </p:nvSpPr>
          <p:spPr>
            <a:xfrm>
              <a:off x="9252032" y="3184525"/>
              <a:ext cx="127880" cy="12504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文本框 30"/>
            <p:cNvSpPr txBox="1"/>
            <p:nvPr/>
          </p:nvSpPr>
          <p:spPr>
            <a:xfrm>
              <a:off x="9317378" y="4839335"/>
              <a:ext cx="1110034" cy="12736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indent="0">
                <a:lnSpc>
                  <a:spcPct val="130000"/>
                </a:lnSpc>
                <a:buFont typeface="Arial" panose="020B0604020202020204" pitchFamily="34" charset="0"/>
                <a:buNone/>
                <a:defRPr sz="100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</a:defRPr>
              </a:lvl1pPr>
            </a:lstStyle>
            <a:p>
              <a:r>
                <a:rPr lang="zh-CN" altLang="en-US" dirty="0">
                  <a:sym typeface="Arial" panose="020B0604020202020204" pitchFamily="34" charset="0"/>
                </a:rPr>
                <a:t>北京协和医学院外科学博士</a:t>
              </a:r>
              <a:endParaRPr lang="en-US" altLang="zh-CN" dirty="0">
                <a:sym typeface="Arial" panose="020B0604020202020204" pitchFamily="34" charset="0"/>
              </a:endParaRPr>
            </a:p>
            <a:p>
              <a:endParaRPr lang="zh-CN" altLang="en-US" dirty="0">
                <a:sym typeface="Arial" panose="020B0604020202020204" pitchFamily="34" charset="0"/>
              </a:endParaRPr>
            </a:p>
            <a:p>
              <a:r>
                <a:rPr lang="zh-CN" altLang="en-US" dirty="0">
                  <a:sym typeface="Arial" panose="020B0604020202020204" pitchFamily="34" charset="0"/>
                </a:rPr>
                <a:t>首都医科大学附属北京天坛医院神经介入博士后</a:t>
              </a:r>
            </a:p>
          </p:txBody>
        </p:sp>
        <p:sp>
          <p:nvSpPr>
            <p:cNvPr id="81" name="泪滴形 80"/>
            <p:cNvSpPr/>
            <p:nvPr/>
          </p:nvSpPr>
          <p:spPr>
            <a:xfrm>
              <a:off x="9246395" y="4910455"/>
              <a:ext cx="127880" cy="12504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2" name="文本框 29"/>
          <p:cNvSpPr txBox="1"/>
          <p:nvPr/>
        </p:nvSpPr>
        <p:spPr>
          <a:xfrm>
            <a:off x="9524030" y="2179320"/>
            <a:ext cx="7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杨国英</a:t>
            </a:r>
          </a:p>
        </p:txBody>
      </p:sp>
      <p:sp>
        <p:nvSpPr>
          <p:cNvPr id="83" name="文本框 7"/>
          <p:cNvSpPr txBox="1"/>
          <p:nvPr/>
        </p:nvSpPr>
        <p:spPr>
          <a:xfrm>
            <a:off x="9434030" y="2463578"/>
            <a:ext cx="97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商业运营</a:t>
            </a:r>
            <a:endParaRPr lang="en-US" altLang="zh-CN" sz="10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CE01B81-A42C-96EE-BD66-4927449F0D23}"/>
              </a:ext>
            </a:extLst>
          </p:cNvPr>
          <p:cNvGrpSpPr/>
          <p:nvPr/>
        </p:nvGrpSpPr>
        <p:grpSpPr>
          <a:xfrm>
            <a:off x="9348302" y="2900542"/>
            <a:ext cx="1181017" cy="3608031"/>
            <a:chOff x="10405829" y="3105150"/>
            <a:chExt cx="1181017" cy="3608031"/>
          </a:xfrm>
        </p:grpSpPr>
        <p:sp>
          <p:nvSpPr>
            <p:cNvPr id="84" name="文本框 28"/>
            <p:cNvSpPr txBox="1"/>
            <p:nvPr/>
          </p:nvSpPr>
          <p:spPr>
            <a:xfrm>
              <a:off x="10476812" y="3105150"/>
              <a:ext cx="1058757" cy="1471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171450" indent="-171450"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defRPr>
              </a:lvl1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中国科学院大学博士</a:t>
              </a:r>
              <a:endPara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深圳理工大学人工智能研究院产学研部部长</a:t>
              </a:r>
            </a:p>
            <a:p>
              <a:pPr marL="0" indent="0">
                <a:lnSpc>
                  <a:spcPct val="130000"/>
                </a:lnSpc>
                <a:buNone/>
              </a:pPr>
              <a:endParaRPr lang="zh-CN" altLang="en-US" sz="10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5" name="泪滴形 84"/>
            <p:cNvSpPr/>
            <p:nvPr/>
          </p:nvSpPr>
          <p:spPr>
            <a:xfrm>
              <a:off x="10411466" y="3184525"/>
              <a:ext cx="127880" cy="12504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6" name="文本框 30"/>
            <p:cNvSpPr txBox="1"/>
            <p:nvPr/>
          </p:nvSpPr>
          <p:spPr>
            <a:xfrm>
              <a:off x="10476812" y="4839335"/>
              <a:ext cx="1110034" cy="1873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indent="0">
                <a:lnSpc>
                  <a:spcPct val="130000"/>
                </a:lnSpc>
                <a:buFont typeface="Arial" panose="020B0604020202020204" pitchFamily="34" charset="0"/>
                <a:buNone/>
                <a:defRPr sz="100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</a:defRPr>
              </a:lvl1pPr>
            </a:lstStyle>
            <a:p>
              <a:r>
                <a:rPr lang="zh-CN" altLang="en-US" dirty="0">
                  <a:sym typeface="Arial" panose="020B0604020202020204" pitchFamily="34" charset="0"/>
                </a:rPr>
                <a:t>曾并获</a:t>
              </a:r>
              <a:r>
                <a:rPr lang="en-US" altLang="zh-CN" dirty="0">
                  <a:sym typeface="Arial" panose="020B0604020202020204" pitchFamily="34" charset="0"/>
                </a:rPr>
                <a:t>IDG</a:t>
              </a:r>
              <a:r>
                <a:rPr lang="zh-CN" altLang="en-US" dirty="0">
                  <a:sym typeface="Arial" panose="020B0604020202020204" pitchFamily="34" charset="0"/>
                </a:rPr>
                <a:t>资本麦戈文基金</a:t>
              </a:r>
              <a:r>
                <a:rPr lang="en-US" altLang="zh-CN" dirty="0">
                  <a:sym typeface="Arial" panose="020B0604020202020204" pitchFamily="34" charset="0"/>
                </a:rPr>
                <a:t>300</a:t>
              </a:r>
              <a:r>
                <a:rPr lang="zh-CN" altLang="en-US" dirty="0">
                  <a:sym typeface="Arial" panose="020B0604020202020204" pitchFamily="34" charset="0"/>
                </a:rPr>
                <a:t>万投资</a:t>
              </a:r>
            </a:p>
            <a:p>
              <a:r>
                <a:rPr lang="zh-CN" altLang="en-US" dirty="0">
                  <a:sym typeface="Arial" panose="020B0604020202020204" pitchFamily="34" charset="0"/>
                </a:rPr>
                <a:t>黑马会，睿问，心淳健康，幸福社特约创业导师</a:t>
              </a:r>
            </a:p>
            <a:p>
              <a:r>
                <a:rPr lang="zh-CN" altLang="en-US" dirty="0">
                  <a:sym typeface="Arial" panose="020B0604020202020204" pitchFamily="34" charset="0"/>
                </a:rPr>
                <a:t>入选欧盟玛丽</a:t>
              </a:r>
              <a:r>
                <a:rPr lang="en-US" altLang="zh-CN" dirty="0">
                  <a:sym typeface="Arial" panose="020B0604020202020204" pitchFamily="34" charset="0"/>
                </a:rPr>
                <a:t>·</a:t>
              </a:r>
              <a:r>
                <a:rPr lang="zh-CN" altLang="en-US" dirty="0">
                  <a:sym typeface="Arial" panose="020B0604020202020204" pitchFamily="34" charset="0"/>
                </a:rPr>
                <a:t>居里行动人才计划</a:t>
              </a:r>
              <a:r>
                <a:rPr lang="en-US" altLang="zh-CN" dirty="0">
                  <a:sym typeface="Arial" panose="020B0604020202020204" pitchFamily="34" charset="0"/>
                </a:rPr>
                <a:t>MSCA</a:t>
              </a:r>
              <a:endParaRPr lang="zh-CN" altLang="en-US" dirty="0">
                <a:sym typeface="Arial" panose="020B0604020202020204" pitchFamily="34" charset="0"/>
              </a:endParaRPr>
            </a:p>
          </p:txBody>
        </p:sp>
        <p:sp>
          <p:nvSpPr>
            <p:cNvPr id="87" name="泪滴形 86"/>
            <p:cNvSpPr/>
            <p:nvPr/>
          </p:nvSpPr>
          <p:spPr>
            <a:xfrm>
              <a:off x="10405829" y="4910455"/>
              <a:ext cx="127880" cy="12504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57" name="图片 56"/>
          <p:cNvPicPr>
            <a:picLocks noChangeAspect="1"/>
          </p:cNvPicPr>
          <p:nvPr/>
        </p:nvPicPr>
        <p:blipFill rotWithShape="1">
          <a:blip r:embed="rId11"/>
          <a:srcRect l="2815"/>
          <a:stretch>
            <a:fillRect/>
          </a:stretch>
        </p:blipFill>
        <p:spPr>
          <a:xfrm>
            <a:off x="578799" y="949960"/>
            <a:ext cx="927735" cy="10706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8" name="文本框 29"/>
          <p:cNvSpPr txBox="1"/>
          <p:nvPr/>
        </p:nvSpPr>
        <p:spPr>
          <a:xfrm>
            <a:off x="646666" y="2179320"/>
            <a:ext cx="79200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彭乾碧</a:t>
            </a:r>
          </a:p>
        </p:txBody>
      </p:sp>
      <p:sp>
        <p:nvSpPr>
          <p:cNvPr id="89" name="文本框 7"/>
          <p:cNvSpPr txBox="1"/>
          <p:nvPr/>
        </p:nvSpPr>
        <p:spPr>
          <a:xfrm>
            <a:off x="559870" y="2463578"/>
            <a:ext cx="97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CEO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C50BD72-6F4D-B684-3E78-0AB6A0FCC21E}"/>
              </a:ext>
            </a:extLst>
          </p:cNvPr>
          <p:cNvGrpSpPr/>
          <p:nvPr/>
        </p:nvGrpSpPr>
        <p:grpSpPr>
          <a:xfrm>
            <a:off x="478791" y="2900542"/>
            <a:ext cx="1181100" cy="3408045"/>
            <a:chOff x="350199" y="3105150"/>
            <a:chExt cx="1181100" cy="3408045"/>
          </a:xfrm>
        </p:grpSpPr>
        <p:sp>
          <p:nvSpPr>
            <p:cNvPr id="90" name="文本框 28"/>
            <p:cNvSpPr txBox="1"/>
            <p:nvPr/>
          </p:nvSpPr>
          <p:spPr>
            <a:xfrm>
              <a:off x="421319" y="3105150"/>
              <a:ext cx="1058545" cy="1473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171450" indent="-171450"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defRPr>
              </a:lvl1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中国科学院大学 控制学博士</a:t>
              </a:r>
              <a:endPara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法国综合理工大学 控制学硕士</a:t>
              </a:r>
            </a:p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西安电子科技大学 工学学士</a:t>
              </a:r>
            </a:p>
          </p:txBody>
        </p:sp>
        <p:sp>
          <p:nvSpPr>
            <p:cNvPr id="91" name="泪滴形 90"/>
            <p:cNvSpPr/>
            <p:nvPr/>
          </p:nvSpPr>
          <p:spPr>
            <a:xfrm>
              <a:off x="355914" y="3184525"/>
              <a:ext cx="127635" cy="125095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2" name="文本框 30"/>
            <p:cNvSpPr txBox="1"/>
            <p:nvPr/>
          </p:nvSpPr>
          <p:spPr>
            <a:xfrm>
              <a:off x="421319" y="4839335"/>
              <a:ext cx="1109980" cy="1673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indent="0">
                <a:lnSpc>
                  <a:spcPct val="130000"/>
                </a:lnSpc>
                <a:buFont typeface="Arial" panose="020B0604020202020204" pitchFamily="34" charset="0"/>
                <a:buNone/>
                <a:defRPr sz="100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</a:defRPr>
              </a:lvl1pPr>
            </a:lstStyle>
            <a:p>
              <a:r>
                <a:rPr lang="zh-CN" altLang="en-US" dirty="0">
                  <a:sym typeface="Arial" panose="020B0604020202020204" pitchFamily="34" charset="0"/>
                </a:rPr>
                <a:t>长三角地区创业大赛并获得杭州科技项目支持</a:t>
              </a:r>
              <a:endParaRPr lang="en-US" altLang="zh-CN" dirty="0">
                <a:sym typeface="Arial" panose="020B0604020202020204" pitchFamily="34" charset="0"/>
              </a:endParaRPr>
            </a:p>
            <a:p>
              <a:endParaRPr lang="zh-CN" altLang="en-US" dirty="0">
                <a:sym typeface="Arial" panose="020B0604020202020204" pitchFamily="34" charset="0"/>
              </a:endParaRPr>
            </a:p>
            <a:p>
              <a:r>
                <a:rPr lang="en-US" altLang="zh-CN" dirty="0">
                  <a:sym typeface="Arial" panose="020B0604020202020204" pitchFamily="34" charset="0"/>
                </a:rPr>
                <a:t>7</a:t>
              </a:r>
              <a:r>
                <a:rPr lang="zh-CN" altLang="en-US" dirty="0">
                  <a:sym typeface="Arial" panose="020B0604020202020204" pitchFamily="34" charset="0"/>
                </a:rPr>
                <a:t>年嵌入式系统与算法优化经验，专注智能硬件技术落地</a:t>
              </a:r>
            </a:p>
          </p:txBody>
        </p:sp>
        <p:sp>
          <p:nvSpPr>
            <p:cNvPr id="93" name="泪滴形 92"/>
            <p:cNvSpPr/>
            <p:nvPr/>
          </p:nvSpPr>
          <p:spPr>
            <a:xfrm>
              <a:off x="350199" y="4910455"/>
              <a:ext cx="127635" cy="125095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92256C01-83EE-68C3-B653-A27604E93B66}"/>
              </a:ext>
            </a:extLst>
          </p:cNvPr>
          <p:cNvSpPr/>
          <p:nvPr/>
        </p:nvSpPr>
        <p:spPr>
          <a:xfrm>
            <a:off x="10664262" y="949960"/>
            <a:ext cx="914400" cy="1069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21">
            <a:extLst>
              <a:ext uri="{FF2B5EF4-FFF2-40B4-BE49-F238E27FC236}">
                <a16:creationId xmlns:a16="http://schemas.microsoft.com/office/drawing/2014/main" id="{C72CDED8-F15C-0703-655A-18CAFC51D3F6}"/>
              </a:ext>
            </a:extLst>
          </p:cNvPr>
          <p:cNvSpPr txBox="1"/>
          <p:nvPr/>
        </p:nvSpPr>
        <p:spPr>
          <a:xfrm>
            <a:off x="10667455" y="2179320"/>
            <a:ext cx="7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朱女士</a:t>
            </a:r>
            <a:endParaRPr lang="en-US" altLang="zh-CN" sz="1400" b="1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文本框 7">
            <a:extLst>
              <a:ext uri="{FF2B5EF4-FFF2-40B4-BE49-F238E27FC236}">
                <a16:creationId xmlns:a16="http://schemas.microsoft.com/office/drawing/2014/main" id="{A20E2039-D0DA-525A-DB09-E75BDF1DE252}"/>
              </a:ext>
            </a:extLst>
          </p:cNvPr>
          <p:cNvSpPr txBox="1"/>
          <p:nvPr/>
        </p:nvSpPr>
        <p:spPr>
          <a:xfrm>
            <a:off x="10580303" y="2463578"/>
            <a:ext cx="97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>
                <a:latin typeface="Arial" panose="020B0604020202020204" pitchFamily="34" charset="0"/>
                <a:ea typeface="微软雅黑 Light" panose="020B0502040204020203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注册总监</a:t>
            </a:r>
            <a:endParaRPr lang="en-US" altLang="zh-CN" sz="1000" dirty="0">
              <a:latin typeface="Arial" panose="020B0604020202020204" pitchFamily="34" charset="0"/>
              <a:ea typeface="微软雅黑 Light" panose="020B0502040204020203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8CC2C30-D2FA-DE69-00D4-AF67095AB26C}"/>
              </a:ext>
            </a:extLst>
          </p:cNvPr>
          <p:cNvGrpSpPr/>
          <p:nvPr/>
        </p:nvGrpSpPr>
        <p:grpSpPr>
          <a:xfrm>
            <a:off x="10521931" y="2900542"/>
            <a:ext cx="1181100" cy="3406118"/>
            <a:chOff x="350199" y="3105150"/>
            <a:chExt cx="1181100" cy="3406118"/>
          </a:xfrm>
        </p:grpSpPr>
        <p:sp>
          <p:nvSpPr>
            <p:cNvPr id="35" name="文本框 28">
              <a:extLst>
                <a:ext uri="{FF2B5EF4-FFF2-40B4-BE49-F238E27FC236}">
                  <a16:creationId xmlns:a16="http://schemas.microsoft.com/office/drawing/2014/main" id="{5D2D660B-6E9F-D690-C435-16DB36655BA1}"/>
                </a:ext>
              </a:extLst>
            </p:cNvPr>
            <p:cNvSpPr txBox="1"/>
            <p:nvPr/>
          </p:nvSpPr>
          <p:spPr>
            <a:xfrm>
              <a:off x="421319" y="3105150"/>
              <a:ext cx="1058545" cy="1871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171450" indent="-171450"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defRPr>
              </a:lvl1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en-US" altLang="zh-CN" sz="1000" dirty="0"/>
                <a:t>14</a:t>
              </a:r>
              <a:r>
                <a:rPr lang="zh-CN" altLang="en-US" sz="1000" dirty="0"/>
                <a:t>年医疗注册经验，曾任职多家知名企业</a:t>
              </a:r>
              <a:endParaRPr lang="en-US" altLang="zh-CN" sz="10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000" dirty="0"/>
                <a:t>主导完成 </a:t>
              </a:r>
              <a:r>
                <a:rPr lang="en-US" altLang="zh-CN" sz="1000" dirty="0"/>
                <a:t>8</a:t>
              </a:r>
              <a:r>
                <a:rPr lang="zh-CN" altLang="en-US" sz="1000" dirty="0"/>
                <a:t>个三类产品注册全流程，涵盖脑机接口、神经植入器械等</a:t>
              </a:r>
              <a:endParaRPr lang="en-US" altLang="zh-CN" sz="1000" dirty="0"/>
            </a:p>
            <a:p>
              <a:pPr marL="0" indent="0">
                <a:lnSpc>
                  <a:spcPct val="130000"/>
                </a:lnSpc>
                <a:buNone/>
              </a:pPr>
              <a:endParaRPr lang="zh-CN" altLang="en-US" sz="10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泪滴形 90">
              <a:extLst>
                <a:ext uri="{FF2B5EF4-FFF2-40B4-BE49-F238E27FC236}">
                  <a16:creationId xmlns:a16="http://schemas.microsoft.com/office/drawing/2014/main" id="{E5380114-BC68-B992-203C-96EDCC55207A}"/>
                </a:ext>
              </a:extLst>
            </p:cNvPr>
            <p:cNvSpPr/>
            <p:nvPr/>
          </p:nvSpPr>
          <p:spPr>
            <a:xfrm>
              <a:off x="355914" y="3184525"/>
              <a:ext cx="127635" cy="125095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0" name="文本框 30">
              <a:extLst>
                <a:ext uri="{FF2B5EF4-FFF2-40B4-BE49-F238E27FC236}">
                  <a16:creationId xmlns:a16="http://schemas.microsoft.com/office/drawing/2014/main" id="{F8A7F8F3-281C-9A46-FBAB-9B8E265AB37C}"/>
                </a:ext>
              </a:extLst>
            </p:cNvPr>
            <p:cNvSpPr txBox="1"/>
            <p:nvPr/>
          </p:nvSpPr>
          <p:spPr>
            <a:xfrm>
              <a:off x="421319" y="4839335"/>
              <a:ext cx="1109980" cy="1671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indent="0">
                <a:lnSpc>
                  <a:spcPct val="130000"/>
                </a:lnSpc>
                <a:buFont typeface="Arial" panose="020B0604020202020204" pitchFamily="34" charset="0"/>
                <a:buNone/>
                <a:defRPr sz="1000">
                  <a:latin typeface="Arial" panose="020B0604020202020204" pitchFamily="34" charset="0"/>
                  <a:ea typeface="微软雅黑 Light" panose="020B0502040204020203" pitchFamily="34" charset="-122"/>
                  <a:cs typeface="Calibri" panose="020F0502020204030204" pitchFamily="34" charset="0"/>
                </a:defRPr>
              </a:lvl1pPr>
            </a:lstStyle>
            <a:p>
              <a:r>
                <a:rPr lang="zh-CN" altLang="en-US" dirty="0"/>
                <a:t>熟悉动物试验、生物学评价、临床试验全流程</a:t>
              </a:r>
            </a:p>
            <a:p>
              <a:r>
                <a:rPr lang="zh-CN" altLang="en-US" dirty="0"/>
                <a:t>擅长跨部门协同与外部资源整合</a:t>
              </a:r>
              <a:endParaRPr lang="en-US" altLang="zh-CN" dirty="0"/>
            </a:p>
            <a:p>
              <a:r>
                <a:rPr lang="zh-CN" altLang="en-US" dirty="0"/>
                <a:t>国内外双轨注册与国际认证经验</a:t>
              </a:r>
              <a:endParaRPr lang="zh-CN" altLang="en-US" dirty="0">
                <a:sym typeface="Arial" panose="020B0604020202020204" pitchFamily="34" charset="0"/>
              </a:endParaRPr>
            </a:p>
            <a:p>
              <a:endParaRPr lang="zh-CN" altLang="en-US" dirty="0">
                <a:sym typeface="Arial" panose="020B0604020202020204" pitchFamily="34" charset="0"/>
              </a:endParaRPr>
            </a:p>
          </p:txBody>
        </p:sp>
        <p:sp>
          <p:nvSpPr>
            <p:cNvPr id="41" name="泪滴形 92">
              <a:extLst>
                <a:ext uri="{FF2B5EF4-FFF2-40B4-BE49-F238E27FC236}">
                  <a16:creationId xmlns:a16="http://schemas.microsoft.com/office/drawing/2014/main" id="{C1955CF2-49EE-8F94-FFDC-DD2806EAA7DB}"/>
                </a:ext>
              </a:extLst>
            </p:cNvPr>
            <p:cNvSpPr/>
            <p:nvPr/>
          </p:nvSpPr>
          <p:spPr>
            <a:xfrm>
              <a:off x="350199" y="4910455"/>
              <a:ext cx="127635" cy="125095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dirty="0">
                <a:solidFill>
                  <a:srgbClr val="E7956D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4122" y="237448"/>
            <a:ext cx="10836977" cy="53966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历经十余年，横跨材料、电极、运控等多领域，取得多项顶级成果，君柔技术壁垒雄厚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7695-A07D-4BCB-B41D-8E5B8A17079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27" name="任意多边形: 形状 26"/>
          <p:cNvSpPr/>
          <p:nvPr/>
        </p:nvSpPr>
        <p:spPr>
          <a:xfrm>
            <a:off x="662293" y="1468272"/>
            <a:ext cx="10841301" cy="3346387"/>
          </a:xfrm>
          <a:custGeom>
            <a:avLst/>
            <a:gdLst>
              <a:gd name="connsiteX0" fmla="*/ 0 w 8843376"/>
              <a:gd name="connsiteY0" fmla="*/ 4008329 h 4008329"/>
              <a:gd name="connsiteX1" fmla="*/ 4835047 w 8843376"/>
              <a:gd name="connsiteY1" fmla="*/ 3219189 h 4008329"/>
              <a:gd name="connsiteX2" fmla="*/ 8843376 w 8843376"/>
              <a:gd name="connsiteY2" fmla="*/ 0 h 4008329"/>
              <a:gd name="connsiteX0-1" fmla="*/ 0 w 8812609"/>
              <a:gd name="connsiteY0-2" fmla="*/ 4170596 h 4170596"/>
              <a:gd name="connsiteX1-3" fmla="*/ 4835047 w 8812609"/>
              <a:gd name="connsiteY1-4" fmla="*/ 3381456 h 4170596"/>
              <a:gd name="connsiteX2-5" fmla="*/ 8812609 w 8812609"/>
              <a:gd name="connsiteY2-6" fmla="*/ 0 h 4170596"/>
              <a:gd name="connsiteX0-7" fmla="*/ 0 w 8766458"/>
              <a:gd name="connsiteY0-8" fmla="*/ 3961969 h 3961969"/>
              <a:gd name="connsiteX1-9" fmla="*/ 4835047 w 8766458"/>
              <a:gd name="connsiteY1-10" fmla="*/ 3172829 h 3961969"/>
              <a:gd name="connsiteX2-11" fmla="*/ 8766458 w 8766458"/>
              <a:gd name="connsiteY2-12" fmla="*/ 0 h 3961969"/>
              <a:gd name="connsiteX0-13" fmla="*/ 0 w 8766458"/>
              <a:gd name="connsiteY0-14" fmla="*/ 3961969 h 3961969"/>
              <a:gd name="connsiteX1-15" fmla="*/ 4835047 w 8766458"/>
              <a:gd name="connsiteY1-16" fmla="*/ 3172829 h 3961969"/>
              <a:gd name="connsiteX2-17" fmla="*/ 8766458 w 8766458"/>
              <a:gd name="connsiteY2-18" fmla="*/ 0 h 3961969"/>
              <a:gd name="connsiteX0-19" fmla="*/ 0 w 8827993"/>
              <a:gd name="connsiteY0-20" fmla="*/ 4309681 h 4309681"/>
              <a:gd name="connsiteX1-21" fmla="*/ 4835047 w 8827993"/>
              <a:gd name="connsiteY1-22" fmla="*/ 3520541 h 4309681"/>
              <a:gd name="connsiteX2-23" fmla="*/ 8827993 w 8827993"/>
              <a:gd name="connsiteY2-24" fmla="*/ 0 h 4309681"/>
              <a:gd name="connsiteX0-25" fmla="*/ 0 w 8827993"/>
              <a:gd name="connsiteY0-26" fmla="*/ 4309681 h 4309681"/>
              <a:gd name="connsiteX1-27" fmla="*/ 4835047 w 8827993"/>
              <a:gd name="connsiteY1-28" fmla="*/ 3520541 h 4309681"/>
              <a:gd name="connsiteX2-29" fmla="*/ 8827993 w 8827993"/>
              <a:gd name="connsiteY2-30" fmla="*/ 0 h 43096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8827993" h="4309681">
                <a:moveTo>
                  <a:pt x="0" y="4309681"/>
                </a:moveTo>
                <a:cubicBezTo>
                  <a:pt x="1680575" y="4249138"/>
                  <a:pt x="3361151" y="4188596"/>
                  <a:pt x="4835047" y="3520541"/>
                </a:cubicBezTo>
                <a:cubicBezTo>
                  <a:pt x="6308943" y="2852486"/>
                  <a:pt x="7560776" y="1808726"/>
                  <a:pt x="8827993" y="0"/>
                </a:cubicBezTo>
              </a:path>
            </a:pathLst>
          </a:custGeom>
          <a:noFill/>
          <a:ln w="158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1289412" y="4754099"/>
            <a:ext cx="107295" cy="10729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1354262" y="4055469"/>
            <a:ext cx="0" cy="695265"/>
          </a:xfrm>
          <a:prstGeom prst="line">
            <a:avLst/>
          </a:prstGeom>
          <a:ln w="15875"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822313" y="3130211"/>
            <a:ext cx="1025728" cy="737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2012</a:t>
            </a: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开启皮层脑电极与系统研究</a:t>
            </a:r>
            <a:endParaRPr lang="en-US" altLang="zh-CN" sz="1200" b="1" dirty="0">
              <a:solidFill>
                <a:schemeClr val="tx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3364100" y="4661157"/>
            <a:ext cx="107295" cy="10729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050336" y="2289019"/>
            <a:ext cx="1254754" cy="737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2021</a:t>
            </a:r>
          </a:p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开展体表电极的临床测试</a:t>
            </a:r>
            <a:endParaRPr lang="en-US" altLang="zh-CN" sz="1200" b="1" dirty="0">
              <a:solidFill>
                <a:schemeClr val="tx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4608059" y="4548652"/>
            <a:ext cx="107295" cy="10729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V="1">
            <a:off x="4665552" y="3189256"/>
            <a:ext cx="0" cy="1368000"/>
          </a:xfrm>
          <a:prstGeom prst="line">
            <a:avLst/>
          </a:prstGeom>
          <a:ln w="15875"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5414473" y="1824048"/>
            <a:ext cx="1416052" cy="10942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2023</a:t>
            </a:r>
          </a:p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植入式电极材料实现重大突破，发表</a:t>
            </a: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</a:t>
            </a: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篇</a:t>
            </a: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《Nature》</a:t>
            </a:r>
          </a:p>
        </p:txBody>
      </p:sp>
      <p:sp>
        <p:nvSpPr>
          <p:cNvPr id="37" name="椭圆 36"/>
          <p:cNvSpPr/>
          <p:nvPr/>
        </p:nvSpPr>
        <p:spPr>
          <a:xfrm>
            <a:off x="6068111" y="4270552"/>
            <a:ext cx="107295" cy="10729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6115547" y="3003975"/>
            <a:ext cx="0" cy="1260000"/>
          </a:xfrm>
          <a:prstGeom prst="line">
            <a:avLst/>
          </a:prstGeom>
          <a:ln w="15875"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6934874" y="1701412"/>
            <a:ext cx="1167522" cy="737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2025h1</a:t>
            </a:r>
          </a:p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君柔科技正式成立，开启产业化落地进程</a:t>
            </a:r>
            <a:endParaRPr lang="en-US" altLang="zh-CN" sz="1200" b="1" dirty="0">
              <a:solidFill>
                <a:schemeClr val="tx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7438623" y="3844148"/>
            <a:ext cx="107295" cy="10729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V="1">
            <a:off x="7488233" y="2605470"/>
            <a:ext cx="0" cy="1224000"/>
          </a:xfrm>
          <a:prstGeom prst="line">
            <a:avLst/>
          </a:prstGeom>
          <a:ln w="15875"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8143792" y="1607172"/>
            <a:ext cx="1586989" cy="102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2025.09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《Nature》</a:t>
            </a: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发表“神经蠕虫”成果，奠定世界级领先技术地位，重新定义脑机电极新范式</a:t>
            </a:r>
            <a:endParaRPr lang="en-US" altLang="zh-CN" sz="1200" b="1" dirty="0">
              <a:solidFill>
                <a:schemeClr val="tx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en-US" altLang="zh-CN" sz="1400" b="1" dirty="0">
              <a:solidFill>
                <a:schemeClr val="tx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8888763" y="3166947"/>
            <a:ext cx="107295" cy="10729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761904" y="1083265"/>
            <a:ext cx="1193357" cy="737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2026</a:t>
            </a:r>
          </a:p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公司人员逐步到位，全面加速产业化进程</a:t>
            </a:r>
            <a:endParaRPr lang="en-US" altLang="zh-CN" sz="1200" b="1" dirty="0">
              <a:solidFill>
                <a:schemeClr val="tx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10316025" y="2341862"/>
            <a:ext cx="107295" cy="10729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cxnSp>
        <p:nvCxnSpPr>
          <p:cNvPr id="46" name="直接连接符 45"/>
          <p:cNvCxnSpPr/>
          <p:nvPr/>
        </p:nvCxnSpPr>
        <p:spPr>
          <a:xfrm flipV="1">
            <a:off x="10357134" y="2023933"/>
            <a:ext cx="0" cy="324000"/>
          </a:xfrm>
          <a:prstGeom prst="line">
            <a:avLst/>
          </a:prstGeom>
          <a:ln w="15875"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2864578" y="2453628"/>
            <a:ext cx="1209710" cy="11309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2020</a:t>
            </a:r>
          </a:p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可拉伸电极正式实现量产突破</a:t>
            </a:r>
          </a:p>
          <a:p>
            <a:pPr algn="ctr">
              <a:lnSpc>
                <a:spcPct val="130000"/>
              </a:lnSpc>
            </a:pP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cxnSp>
        <p:nvCxnSpPr>
          <p:cNvPr id="48" name="直接连接符 47"/>
          <p:cNvCxnSpPr/>
          <p:nvPr/>
        </p:nvCxnSpPr>
        <p:spPr>
          <a:xfrm flipV="1">
            <a:off x="3426286" y="3376812"/>
            <a:ext cx="0" cy="1260000"/>
          </a:xfrm>
          <a:prstGeom prst="line">
            <a:avLst/>
          </a:prstGeom>
          <a:ln w="15875"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V="1">
            <a:off x="8937287" y="2805133"/>
            <a:ext cx="0" cy="360000"/>
          </a:xfrm>
          <a:prstGeom prst="line">
            <a:avLst/>
          </a:prstGeom>
          <a:ln w="15875"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4E5F9766-DA16-7F94-1ACB-2398023E7D74}"/>
              </a:ext>
            </a:extLst>
          </p:cNvPr>
          <p:cNvSpPr/>
          <p:nvPr/>
        </p:nvSpPr>
        <p:spPr>
          <a:xfrm>
            <a:off x="2303961" y="4710554"/>
            <a:ext cx="107295" cy="10729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cxnSp>
        <p:nvCxnSpPr>
          <p:cNvPr id="53" name="直接连接符 28">
            <a:extLst>
              <a:ext uri="{FF2B5EF4-FFF2-40B4-BE49-F238E27FC236}">
                <a16:creationId xmlns:a16="http://schemas.microsoft.com/office/drawing/2014/main" id="{388E6208-F624-B5C2-FE40-82A0A9ACA501}"/>
              </a:ext>
            </a:extLst>
          </p:cNvPr>
          <p:cNvCxnSpPr/>
          <p:nvPr/>
        </p:nvCxnSpPr>
        <p:spPr>
          <a:xfrm flipV="1">
            <a:off x="2355748" y="3776789"/>
            <a:ext cx="0" cy="936000"/>
          </a:xfrm>
          <a:prstGeom prst="line">
            <a:avLst/>
          </a:prstGeom>
          <a:ln w="15875"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DEFC9239-29D3-3ACD-B153-40D883B3DC1F}"/>
              </a:ext>
            </a:extLst>
          </p:cNvPr>
          <p:cNvSpPr/>
          <p:nvPr/>
        </p:nvSpPr>
        <p:spPr>
          <a:xfrm>
            <a:off x="1872729" y="2799280"/>
            <a:ext cx="919670" cy="737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2019</a:t>
            </a: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落地中科院深圳先进技术研究院</a:t>
            </a:r>
            <a:endParaRPr lang="en-US" altLang="zh-CN" sz="1200" b="1" dirty="0">
              <a:solidFill>
                <a:schemeClr val="tx1"/>
              </a:solidFill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55" name="文本框 12">
            <a:extLst>
              <a:ext uri="{FF2B5EF4-FFF2-40B4-BE49-F238E27FC236}">
                <a16:creationId xmlns:a16="http://schemas.microsoft.com/office/drawing/2014/main" id="{3F3D4FB1-9860-F47A-A23E-BD3C156F14A7}"/>
              </a:ext>
            </a:extLst>
          </p:cNvPr>
          <p:cNvSpPr txBox="1"/>
          <p:nvPr/>
        </p:nvSpPr>
        <p:spPr>
          <a:xfrm>
            <a:off x="1057402" y="5400656"/>
            <a:ext cx="10112012" cy="625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400" b="1">
                <a:solidFill>
                  <a:srgbClr val="E30613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</a:lstStyle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accent1"/>
                </a:solidFill>
                <a:sym typeface="Arial" panose="020B0604020202020204" pitchFamily="34" charset="0"/>
              </a:rPr>
              <a:t>背靠院士大团队，历时</a:t>
            </a:r>
            <a:r>
              <a:rPr lang="en-US" altLang="zh-CN" dirty="0">
                <a:solidFill>
                  <a:schemeClr val="accent1"/>
                </a:solidFill>
                <a:sym typeface="Arial" panose="020B0604020202020204" pitchFamily="34" charset="0"/>
              </a:rPr>
              <a:t>14</a:t>
            </a:r>
            <a:r>
              <a:rPr lang="zh-CN" altLang="en-US" dirty="0">
                <a:solidFill>
                  <a:schemeClr val="accent1"/>
                </a:solidFill>
                <a:sym typeface="Arial" panose="020B0604020202020204" pitchFamily="34" charset="0"/>
              </a:rPr>
              <a:t>年研发攻关，横跨材料、电机、运动控制、算法及医疗领域，汇集众多顶级科研、工程及医疗人才，突破众多原理级及工程化系列化问题，全球首创“</a:t>
            </a:r>
            <a:r>
              <a:rPr lang="zh-CN" altLang="en-US" dirty="0">
                <a:solidFill>
                  <a:schemeClr val="accent1"/>
                </a:solidFill>
                <a:latin typeface="微软雅黑 Light" panose="020B0502040204020203" pitchFamily="34" charset="-122"/>
              </a:rPr>
              <a:t>神经蠕虫</a:t>
            </a:r>
            <a:r>
              <a:rPr lang="zh-CN" altLang="en-US" dirty="0">
                <a:solidFill>
                  <a:schemeClr val="accent1"/>
                </a:solidFill>
                <a:sym typeface="Arial" panose="020B0604020202020204" pitchFamily="34" charset="0"/>
              </a:rPr>
              <a:t>”柔性可拉伸电极技术，君柔科技构建起了雄厚的技术壁垒</a:t>
            </a:r>
            <a:endParaRPr lang="zh-CN" altLang="en-US" dirty="0">
              <a:sym typeface="Arial" panose="020B0604020202020204" pitchFamily="34" charset="0"/>
            </a:endParaRPr>
          </a:p>
        </p:txBody>
      </p:sp>
      <p:cxnSp>
        <p:nvCxnSpPr>
          <p:cNvPr id="56" name="Straight Connector 5">
            <a:extLst>
              <a:ext uri="{FF2B5EF4-FFF2-40B4-BE49-F238E27FC236}">
                <a16:creationId xmlns:a16="http://schemas.microsoft.com/office/drawing/2014/main" id="{AD8A190A-0D93-F4CE-05FB-4FAAC3FBF11C}"/>
              </a:ext>
            </a:extLst>
          </p:cNvPr>
          <p:cNvCxnSpPr/>
          <p:nvPr/>
        </p:nvCxnSpPr>
        <p:spPr>
          <a:xfrm>
            <a:off x="467100" y="5016112"/>
            <a:ext cx="11124000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chemeClr val="accent1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68315" dist="31867" dir="3960000" sx="92623" sy="92623" algn="ctr" rotWithShape="0">
              <a:schemeClr val="tx1">
                <a:lumMod val="50000"/>
                <a:lumOff val="50000"/>
                <a:alpha val="34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/>
          <p:cNvSpPr/>
          <p:nvPr/>
        </p:nvSpPr>
        <p:spPr>
          <a:xfrm>
            <a:off x="925195" y="1400175"/>
            <a:ext cx="4951730" cy="407543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kern="1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“神经蠕虫”系中国团队原创、世界级领先技术，重新定义脑机接口电极新范式</a:t>
            </a:r>
            <a:endParaRPr lang="zh-CN" altLang="en-US" sz="2400" kern="1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7695-A07D-4BCB-B41D-8E5B8A170798}" type="slidenum">
              <a:rPr lang="zh-CN" altLang="en-US" smtClean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11</a:t>
            </a:fld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0578" y="922338"/>
            <a:ext cx="10874375" cy="5076825"/>
          </a:xfrm>
          <a:prstGeom prst="rect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cxnSp>
        <p:nvCxnSpPr>
          <p:cNvPr id="11" name="îş1îḋê"/>
          <p:cNvCxnSpPr/>
          <p:nvPr/>
        </p:nvCxnSpPr>
        <p:spPr>
          <a:xfrm flipH="1">
            <a:off x="932180" y="1325925"/>
            <a:ext cx="360045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íšḻîḋé"/>
          <p:cNvSpPr/>
          <p:nvPr/>
        </p:nvSpPr>
        <p:spPr bwMode="auto">
          <a:xfrm>
            <a:off x="1020445" y="4548505"/>
            <a:ext cx="4580255" cy="718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将固定静态探针升级为可长期、微创、动态评估神经系统的主动式智能活体设备。</a:t>
            </a:r>
          </a:p>
        </p:txBody>
      </p:sp>
      <p:sp>
        <p:nvSpPr>
          <p:cNvPr id="24" name="ïşḻiḍe"/>
          <p:cNvSpPr txBox="1"/>
          <p:nvPr/>
        </p:nvSpPr>
        <p:spPr bwMode="auto">
          <a:xfrm>
            <a:off x="932180" y="922655"/>
            <a:ext cx="45466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3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“</a:t>
            </a:r>
            <a:r>
              <a:rPr lang="zh-CN" altLang="en-US" sz="13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动态</a:t>
            </a:r>
            <a:r>
              <a:rPr lang="en-US" altLang="zh-CN" sz="13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”</a:t>
            </a:r>
            <a:r>
              <a:rPr lang="zh-CN" altLang="en-US" sz="13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脑机接口电极新范式（</a:t>
            </a:r>
            <a:r>
              <a:rPr lang="en-US" altLang="zh-CN" sz="13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Nature, 2025, 645, 648</a:t>
            </a:r>
            <a:r>
              <a:rPr lang="zh-CN" altLang="en-US" sz="13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）</a:t>
            </a:r>
          </a:p>
        </p:txBody>
      </p:sp>
      <p:sp>
        <p:nvSpPr>
          <p:cNvPr id="16" name="矩形 15"/>
          <p:cNvSpPr/>
          <p:nvPr/>
        </p:nvSpPr>
        <p:spPr>
          <a:xfrm>
            <a:off x="0" y="5534847"/>
            <a:ext cx="12192000" cy="1323153"/>
          </a:xfrm>
          <a:prstGeom prst="rect">
            <a:avLst/>
          </a:prstGeom>
          <a:solidFill>
            <a:schemeClr val="accent1">
              <a:lumMod val="20000"/>
              <a:lumOff val="8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2"/>
          <p:cNvSpPr txBox="1"/>
          <p:nvPr/>
        </p:nvSpPr>
        <p:spPr>
          <a:xfrm>
            <a:off x="1020445" y="5580160"/>
            <a:ext cx="10112012" cy="700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400" b="1">
                <a:solidFill>
                  <a:srgbClr val="E30613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</a:lstStyle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动态电极具备</a:t>
            </a:r>
            <a:r>
              <a:rPr lang="zh-CN" altLang="en-US" dirty="0">
                <a:solidFill>
                  <a:schemeClr val="accent1"/>
                </a:solidFill>
                <a:sym typeface="Arial" panose="020B0604020202020204" pitchFamily="34" charset="0"/>
              </a:rPr>
              <a:t>可达性与定位优势、功能集成优势、广泛触达优势</a:t>
            </a:r>
            <a:endParaRPr lang="en-US" altLang="zh-CN" dirty="0">
              <a:solidFill>
                <a:schemeClr val="accent1"/>
              </a:solidFill>
              <a:sym typeface="Arial" panose="020B0604020202020204" pitchFamily="34" charset="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accent1"/>
                </a:solidFill>
                <a:sym typeface="Arial" panose="020B0604020202020204" pitchFamily="34" charset="0"/>
              </a:rPr>
              <a:t>为未来脑机接口大规模广泛应用开拓新方向</a:t>
            </a:r>
          </a:p>
        </p:txBody>
      </p:sp>
      <p:sp>
        <p:nvSpPr>
          <p:cNvPr id="5" name="矩形 4"/>
          <p:cNvSpPr/>
          <p:nvPr/>
        </p:nvSpPr>
        <p:spPr bwMode="auto">
          <a:xfrm>
            <a:off x="1020445" y="4219575"/>
            <a:ext cx="4641850" cy="26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Arial" panose="020B0604020202020204" pitchFamily="34" charset="0"/>
                <a:ea typeface="微软雅黑 Light" panose="020B0502040204020203" pitchFamily="34" charset="-122"/>
                <a:sym typeface="+mn-ea"/>
              </a:rPr>
              <a:t>Xie, R. （谢瑞杰）, Han, F. * (韩飞）, et al., Xu, T.*; Liu, Z.* Nature, 2025, 645, 648.</a:t>
            </a:r>
          </a:p>
        </p:txBody>
      </p:sp>
      <p:pic>
        <p:nvPicPr>
          <p:cNvPr id="17" name="09eda4fabc0ecf3cc847985fd7ecec62">
            <a:hlinkClick r:id="" action="ppaction://media"/>
          </p:cNvPr>
          <p:cNvPicPr>
            <a:picLocks noGrp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020445" y="1612013"/>
            <a:ext cx="4580255" cy="25761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/>
          <p:cNvCxnSpPr/>
          <p:nvPr/>
        </p:nvCxnSpPr>
        <p:spPr>
          <a:xfrm>
            <a:off x="1596407" y="5509124"/>
            <a:ext cx="9000000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chemeClr val="accent1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68315" dist="31867" dir="3960000" sx="92623" sy="92623" algn="ctr" rotWithShape="0">
              <a:schemeClr val="tx1">
                <a:lumMod val="50000"/>
                <a:lumOff val="50000"/>
                <a:alpha val="34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20"/>
          <p:cNvSpPr/>
          <p:nvPr>
            <p:custDataLst>
              <p:tags r:id="rId3"/>
            </p:custDataLst>
          </p:nvPr>
        </p:nvSpPr>
        <p:spPr>
          <a:xfrm>
            <a:off x="5757545" y="1526524"/>
            <a:ext cx="5157313" cy="971457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>
                  <a:lumMod val="95000"/>
                  <a:alpha val="40000"/>
                </a:schemeClr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: 圆角 20"/>
          <p:cNvSpPr/>
          <p:nvPr>
            <p:custDataLst>
              <p:tags r:id="rId4"/>
            </p:custDataLst>
          </p:nvPr>
        </p:nvSpPr>
        <p:spPr>
          <a:xfrm>
            <a:off x="5757545" y="2634506"/>
            <a:ext cx="5157314" cy="103332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>
                  <a:lumMod val="95000"/>
                  <a:alpha val="40000"/>
                </a:schemeClr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9" name="矩形: 圆角 20"/>
          <p:cNvSpPr/>
          <p:nvPr>
            <p:custDataLst>
              <p:tags r:id="rId5"/>
            </p:custDataLst>
          </p:nvPr>
        </p:nvSpPr>
        <p:spPr>
          <a:xfrm>
            <a:off x="5757545" y="3813059"/>
            <a:ext cx="5157314" cy="982452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>
                  <a:lumMod val="95000"/>
                  <a:alpha val="40000"/>
                </a:schemeClr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6146960" y="1831959"/>
            <a:ext cx="4767898" cy="6259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磁控推进使电极从导管出口主动进入直径</a:t>
            </a:r>
            <a:r>
              <a:rPr lang="en-US" altLang="zh-CN" sz="14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0.5–1mm </a:t>
            </a:r>
            <a:r>
              <a:rPr lang="zh-CN" altLang="en-US" sz="14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深脑微静脉并实现定点布设</a:t>
            </a:r>
          </a:p>
        </p:txBody>
      </p:sp>
      <p:sp>
        <p:nvSpPr>
          <p:cNvPr id="40" name="文本框 39"/>
          <p:cNvSpPr txBox="1"/>
          <p:nvPr>
            <p:custDataLst>
              <p:tags r:id="rId7"/>
            </p:custDataLst>
          </p:nvPr>
        </p:nvSpPr>
        <p:spPr>
          <a:xfrm>
            <a:off x="6135530" y="1536050"/>
            <a:ext cx="4297520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可达性与定位优势</a:t>
            </a:r>
          </a:p>
        </p:txBody>
      </p:sp>
      <p:sp>
        <p:nvSpPr>
          <p:cNvPr id="41" name="文本框 40"/>
          <p:cNvSpPr txBox="1"/>
          <p:nvPr>
            <p:custDataLst>
              <p:tags r:id="rId8"/>
            </p:custDataLst>
          </p:nvPr>
        </p:nvSpPr>
        <p:spPr>
          <a:xfrm>
            <a:off x="6146960" y="2911577"/>
            <a:ext cx="4767898" cy="6259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单根纤维同时完成深脑信号采集与颅内共聚焦电刺激，构建监测</a:t>
            </a:r>
            <a:r>
              <a:rPr lang="en-US" altLang="zh-CN" sz="14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–</a:t>
            </a:r>
            <a:r>
              <a:rPr lang="zh-CN" altLang="en-US" sz="14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调控闭环</a:t>
            </a:r>
          </a:p>
        </p:txBody>
      </p:sp>
      <p:sp>
        <p:nvSpPr>
          <p:cNvPr id="42" name="文本框 41"/>
          <p:cNvSpPr txBox="1"/>
          <p:nvPr>
            <p:custDataLst>
              <p:tags r:id="rId9"/>
            </p:custDataLst>
          </p:nvPr>
        </p:nvSpPr>
        <p:spPr>
          <a:xfrm>
            <a:off x="6135530" y="2615668"/>
            <a:ext cx="3858578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功能集成优势</a:t>
            </a:r>
          </a:p>
        </p:txBody>
      </p:sp>
      <p:sp>
        <p:nvSpPr>
          <p:cNvPr id="43" name="文本框 42"/>
          <p:cNvSpPr txBox="1"/>
          <p:nvPr>
            <p:custDataLst>
              <p:tags r:id="rId10"/>
            </p:custDataLst>
          </p:nvPr>
        </p:nvSpPr>
        <p:spPr>
          <a:xfrm>
            <a:off x="6146961" y="4152249"/>
            <a:ext cx="4767898" cy="6259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磁响应可驱动结构实现电极对全脑小血管的广泛触达，开辟经血管全脑脑机接口新路线</a:t>
            </a:r>
          </a:p>
        </p:txBody>
      </p:sp>
      <p:sp>
        <p:nvSpPr>
          <p:cNvPr id="44" name="文本框 43"/>
          <p:cNvSpPr txBox="1"/>
          <p:nvPr>
            <p:custDataLst>
              <p:tags r:id="rId11"/>
            </p:custDataLst>
          </p:nvPr>
        </p:nvSpPr>
        <p:spPr>
          <a:xfrm>
            <a:off x="6135530" y="3856339"/>
            <a:ext cx="4779328" cy="339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颠覆性路线优势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3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kern="1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新一代仿生蠕行式脑机接口动态电极，具备多通道、可拉伸、微创等优势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7695-A07D-4BCB-B41D-8E5B8A170798}" type="slidenum">
              <a:rPr lang="zh-CN" altLang="en-US" smtClean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12</a:t>
            </a:fld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98" name="AutoShape 4"/>
          <p:cNvSpPr>
            <a:spLocks noChangeAspect="1" noChangeArrowheads="1"/>
          </p:cNvSpPr>
          <p:nvPr/>
        </p:nvSpPr>
        <p:spPr bwMode="auto">
          <a:xfrm>
            <a:off x="2032000" y="723900"/>
            <a:ext cx="812800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0578" y="922338"/>
            <a:ext cx="10874375" cy="5076825"/>
          </a:xfrm>
          <a:prstGeom prst="rect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cxnSp>
        <p:nvCxnSpPr>
          <p:cNvPr id="10" name="ïṡḷîḓe"/>
          <p:cNvCxnSpPr/>
          <p:nvPr/>
        </p:nvCxnSpPr>
        <p:spPr>
          <a:xfrm>
            <a:off x="5961149" y="1326944"/>
            <a:ext cx="3893416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îş1îḋê"/>
          <p:cNvCxnSpPr/>
          <p:nvPr/>
        </p:nvCxnSpPr>
        <p:spPr>
          <a:xfrm flipH="1">
            <a:off x="932180" y="1325925"/>
            <a:ext cx="360045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îṩliḋe"/>
          <p:cNvSpPr txBox="1"/>
          <p:nvPr/>
        </p:nvSpPr>
        <p:spPr bwMode="auto">
          <a:xfrm>
            <a:off x="5961669" y="922756"/>
            <a:ext cx="3706841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+mn-ea"/>
              </a:rPr>
              <a:t>柔软可拉伸纤维电极数据指标 </a:t>
            </a:r>
          </a:p>
        </p:txBody>
      </p:sp>
      <p:sp>
        <p:nvSpPr>
          <p:cNvPr id="24" name="ïşḻiḍe"/>
          <p:cNvSpPr txBox="1"/>
          <p:nvPr/>
        </p:nvSpPr>
        <p:spPr bwMode="auto">
          <a:xfrm>
            <a:off x="932180" y="922570"/>
            <a:ext cx="3859552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新一代仿生蠕行式脑机接口动态电极</a:t>
            </a:r>
          </a:p>
        </p:txBody>
      </p:sp>
      <p:sp>
        <p:nvSpPr>
          <p:cNvPr id="16" name="矩形 15"/>
          <p:cNvSpPr/>
          <p:nvPr/>
        </p:nvSpPr>
        <p:spPr>
          <a:xfrm>
            <a:off x="0" y="5534847"/>
            <a:ext cx="12192000" cy="1323153"/>
          </a:xfrm>
          <a:prstGeom prst="rect">
            <a:avLst/>
          </a:prstGeom>
          <a:solidFill>
            <a:schemeClr val="accent1">
              <a:lumMod val="20000"/>
              <a:lumOff val="8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2"/>
          <p:cNvSpPr txBox="1"/>
          <p:nvPr/>
        </p:nvSpPr>
        <p:spPr>
          <a:xfrm>
            <a:off x="1993505" y="5580160"/>
            <a:ext cx="8509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400" b="1">
                <a:solidFill>
                  <a:srgbClr val="E30613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sym typeface="Arial" panose="020B0604020202020204" pitchFamily="34" charset="0"/>
              </a:rPr>
              <a:t>拥有沿着纤维长度方向独立分布的多达</a:t>
            </a:r>
            <a:r>
              <a:rPr lang="en-US" altLang="zh-CN" dirty="0">
                <a:solidFill>
                  <a:schemeClr val="tx1"/>
                </a:solidFill>
                <a:sym typeface="Arial" panose="020B0604020202020204" pitchFamily="34" charset="0"/>
              </a:rPr>
              <a:t>60</a:t>
            </a:r>
            <a:r>
              <a:rPr lang="zh-CN" altLang="en-US" dirty="0">
                <a:solidFill>
                  <a:schemeClr val="tx1"/>
                </a:solidFill>
                <a:sym typeface="Arial" panose="020B0604020202020204" pitchFamily="34" charset="0"/>
              </a:rPr>
              <a:t>个通道的、直径仅有</a:t>
            </a:r>
            <a:r>
              <a:rPr lang="en-US" altLang="zh-CN" dirty="0">
                <a:solidFill>
                  <a:schemeClr val="tx1"/>
                </a:solidFill>
                <a:sym typeface="Arial" panose="020B0604020202020204" pitchFamily="34" charset="0"/>
              </a:rPr>
              <a:t>196</a:t>
            </a:r>
            <a:r>
              <a:rPr lang="zh-CN" altLang="en-US" dirty="0">
                <a:solidFill>
                  <a:schemeClr val="tx1"/>
                </a:solidFill>
                <a:sym typeface="Arial" panose="020B0604020202020204" pitchFamily="34" charset="0"/>
              </a:rPr>
              <a:t>微米的柔软可拉伸纤维电极</a:t>
            </a:r>
            <a:endParaRPr lang="en-US" altLang="zh-CN" dirty="0">
              <a:solidFill>
                <a:schemeClr val="tx1"/>
              </a:solidFill>
              <a:sym typeface="Arial" panose="020B0604020202020204" pitchFamily="34" charset="0"/>
            </a:endParaRPr>
          </a:p>
          <a:p>
            <a:r>
              <a:rPr lang="zh-CN" altLang="en-US" dirty="0">
                <a:solidFill>
                  <a:schemeClr val="accent1"/>
                </a:solidFill>
                <a:sym typeface="Arial" panose="020B0604020202020204" pitchFamily="34" charset="0"/>
              </a:rPr>
              <a:t>解决脑机接口静态电极移位、器件位置难以调整等核心痛点</a:t>
            </a:r>
            <a:endParaRPr lang="en-US" dirty="0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1605915"/>
            <a:ext cx="4994275" cy="35979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schemeClr val="bg2">
                <a:lumMod val="90000"/>
                <a:alpha val="40000"/>
              </a:schemeClr>
            </a:outerShdw>
          </a:effectLst>
        </p:spPr>
      </p:pic>
      <p:grpSp>
        <p:nvGrpSpPr>
          <p:cNvPr id="33" name="组合 32"/>
          <p:cNvGrpSpPr/>
          <p:nvPr/>
        </p:nvGrpSpPr>
        <p:grpSpPr>
          <a:xfrm>
            <a:off x="6234430" y="1674495"/>
            <a:ext cx="5035550" cy="2421255"/>
            <a:chOff x="9634" y="3356"/>
            <a:chExt cx="9220" cy="4518"/>
          </a:xfrm>
        </p:grpSpPr>
        <p:pic>
          <p:nvPicPr>
            <p:cNvPr id="28" name="图片 27"/>
            <p:cNvPicPr>
              <a:picLocks noChangeAspect="1" noChangeArrowheads="1"/>
            </p:cNvPicPr>
            <p:nvPr/>
          </p:nvPicPr>
          <p:blipFill rotWithShape="1">
            <a:blip r:embed="rId4"/>
            <a:srcRect l="57884" t="62200" r="-1341" b="-4555"/>
            <a:stretch>
              <a:fillRect/>
            </a:stretch>
          </p:blipFill>
          <p:spPr>
            <a:xfrm>
              <a:off x="14417" y="3414"/>
              <a:ext cx="4437" cy="4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图片 28"/>
            <p:cNvPicPr>
              <a:picLocks noChangeAspect="1" noChangeArrowheads="1"/>
            </p:cNvPicPr>
            <p:nvPr/>
          </p:nvPicPr>
          <p:blipFill rotWithShape="1">
            <a:blip r:embed="rId5"/>
            <a:srcRect l="3560" t="62200" r="49417" b="-2044"/>
            <a:stretch>
              <a:fillRect/>
            </a:stretch>
          </p:blipFill>
          <p:spPr>
            <a:xfrm>
              <a:off x="9634" y="3356"/>
              <a:ext cx="4783" cy="41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文本框 29"/>
            <p:cNvSpPr txBox="1"/>
            <p:nvPr/>
          </p:nvSpPr>
          <p:spPr>
            <a:xfrm>
              <a:off x="17293" y="6764"/>
              <a:ext cx="926" cy="3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no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Arial" panose="020B0604020202020204" pitchFamily="34" charset="0"/>
                  <a:ea typeface="华文中宋" panose="02010600040101010101" pitchFamily="2" charset="-122"/>
                  <a:cs typeface="Arial" panose="020B0604020202020204" pitchFamily="34" charset="0"/>
                </a:rPr>
                <a:t>5 </a:t>
              </a:r>
              <a:r>
                <a:rPr lang="el-GR" altLang="zh-CN" sz="1400" b="1" dirty="0">
                  <a:solidFill>
                    <a:schemeClr val="bg1"/>
                  </a:solidFill>
                  <a:latin typeface="Arial" panose="020B0604020202020204" pitchFamily="34" charset="0"/>
                  <a:ea typeface="华文中宋" panose="02010600040101010101" pitchFamily="2" charset="-122"/>
                  <a:cs typeface="Arial" panose="020B0604020202020204" pitchFamily="34" charset="0"/>
                </a:rPr>
                <a:t>μ</a:t>
              </a:r>
              <a:r>
                <a:rPr lang="en-US" altLang="zh-CN" sz="1400" b="1" dirty="0">
                  <a:solidFill>
                    <a:schemeClr val="bg1"/>
                  </a:solidFill>
                  <a:latin typeface="Arial" panose="020B0604020202020204" pitchFamily="34" charset="0"/>
                  <a:ea typeface="华文中宋" panose="02010600040101010101" pitchFamily="2" charset="-122"/>
                  <a:cs typeface="Arial" panose="020B0604020202020204" pitchFamily="34" charset="0"/>
                </a:rPr>
                <a:t>m</a:t>
              </a:r>
              <a:endParaRPr lang="zh-CN" altLang="en-US" sz="1400" b="1" dirty="0">
                <a:solidFill>
                  <a:schemeClr val="bg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739" y="4540"/>
              <a:ext cx="1278" cy="3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no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  <a:cs typeface="Arial" panose="020B0604020202020204" pitchFamily="34" charset="0"/>
                </a:rPr>
                <a:t>200 </a:t>
              </a:r>
              <a:r>
                <a:rPr lang="el-GR" altLang="zh-CN" sz="1400" b="1" dirty="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  <a:cs typeface="Arial" panose="020B0604020202020204" pitchFamily="34" charset="0"/>
                </a:rPr>
                <a:t>μ</a:t>
              </a:r>
              <a:r>
                <a:rPr lang="en-US" altLang="zh-CN" sz="1400" b="1" dirty="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  <a:cs typeface="Arial" panose="020B0604020202020204" pitchFamily="34" charset="0"/>
                </a:rPr>
                <a:t>m</a:t>
              </a:r>
              <a:endPara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233795" y="4096385"/>
            <a:ext cx="4971415" cy="1134110"/>
            <a:chOff x="9333" y="6019"/>
            <a:chExt cx="8989" cy="2410"/>
          </a:xfrm>
        </p:grpSpPr>
        <p:sp>
          <p:nvSpPr>
            <p:cNvPr id="36" name="îslîḋé"/>
            <p:cNvSpPr/>
            <p:nvPr/>
          </p:nvSpPr>
          <p:spPr>
            <a:xfrm>
              <a:off x="9333" y="6019"/>
              <a:ext cx="8989" cy="2410"/>
            </a:xfrm>
            <a:prstGeom prst="roundRect">
              <a:avLst>
                <a:gd name="adj" fmla="val 4266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" sx="101000" sy="101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38" name="Straight Connector 5"/>
            <p:cNvCxnSpPr/>
            <p:nvPr/>
          </p:nvCxnSpPr>
          <p:spPr>
            <a:xfrm>
              <a:off x="9399" y="6026"/>
              <a:ext cx="8910" cy="0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8315" dist="31867" dir="3960000" sx="92623" sy="92623" algn="ctr" rotWithShape="0">
                <a:schemeClr val="tx1">
                  <a:lumMod val="50000"/>
                  <a:lumOff val="50000"/>
                  <a:alpha val="34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/>
            <p:cNvSpPr txBox="1"/>
            <p:nvPr/>
          </p:nvSpPr>
          <p:spPr>
            <a:xfrm>
              <a:off x="10182" y="6591"/>
              <a:ext cx="1701" cy="9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0000"/>
                </a:lnSpc>
                <a:defRPr sz="1200">
                  <a:solidFill>
                    <a:srgbClr val="3A3A3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defRPr>
              </a:lvl1pPr>
            </a:lstStyle>
            <a:p>
              <a:r>
                <a:rPr lang="zh-CN" altLang="en-US" b="1" dirty="0">
                  <a:latin typeface="Arial" panose="020B0604020202020204" pitchFamily="34" charset="0"/>
                  <a:sym typeface="Arial" panose="020B0604020202020204" pitchFamily="34" charset="0"/>
                </a:rPr>
                <a:t>一根纤维</a:t>
              </a:r>
              <a:r>
                <a:rPr lang="en-US" altLang="zh-CN" b="1" dirty="0">
                  <a:latin typeface="Arial" panose="020B0604020202020204" pitchFamily="34" charset="0"/>
                  <a:sym typeface="Arial" panose="020B0604020202020204" pitchFamily="34" charset="0"/>
                </a:rPr>
                <a:t>60</a:t>
              </a:r>
              <a:r>
                <a:rPr lang="zh-CN" altLang="en-US" b="1" dirty="0">
                  <a:latin typeface="Arial" panose="020B0604020202020204" pitchFamily="34" charset="0"/>
                  <a:sym typeface="Arial" panose="020B0604020202020204" pitchFamily="34" charset="0"/>
                </a:rPr>
                <a:t>独立通道</a:t>
              </a:r>
              <a:endParaRPr lang="en-US" altLang="zh-CN" b="1" dirty="0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5865" y="6592"/>
              <a:ext cx="1701" cy="9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b="1" dirty="0">
                  <a:solidFill>
                    <a:srgbClr val="3A3A3A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微创、长期植入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146" y="6576"/>
              <a:ext cx="1701" cy="1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0000"/>
                </a:lnSpc>
                <a:defRPr sz="1200">
                  <a:solidFill>
                    <a:srgbClr val="3A3A3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defRPr>
              </a:lvl1pPr>
            </a:lstStyle>
            <a:p>
              <a:r>
                <a:rPr lang="zh-CN" altLang="en-US" b="1" dirty="0">
                  <a:solidFill>
                    <a:schemeClr val="tx1"/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可拉伸性接近</a:t>
              </a:r>
              <a:r>
                <a:rPr lang="en-US" altLang="zh-CN" b="1" dirty="0">
                  <a:solidFill>
                    <a:schemeClr val="tx1"/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100%</a:t>
              </a:r>
            </a:p>
          </p:txBody>
        </p:sp>
      </p:grpSp>
      <p:cxnSp>
        <p:nvCxnSpPr>
          <p:cNvPr id="64" name="Straight Connector 5"/>
          <p:cNvCxnSpPr/>
          <p:nvPr/>
        </p:nvCxnSpPr>
        <p:spPr>
          <a:xfrm>
            <a:off x="1596407" y="5509124"/>
            <a:ext cx="9000000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chemeClr val="accent1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68315" dist="31867" dir="3960000" sx="92623" sy="92623" algn="ctr" rotWithShape="0">
              <a:schemeClr val="tx1">
                <a:lumMod val="50000"/>
                <a:lumOff val="50000"/>
                <a:alpha val="34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ïşḻiḍe"/>
          <p:cNvSpPr txBox="1"/>
          <p:nvPr/>
        </p:nvSpPr>
        <p:spPr bwMode="auto">
          <a:xfrm>
            <a:off x="932180" y="922570"/>
            <a:ext cx="3859552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新一代仿生蠕行式脑机接口动态电极技术原理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2" imgW="5080" imgH="5080" progId="TCLayout.ActiveDocument.1">
                  <p:embed/>
                </p:oleObj>
              </mc:Choice>
              <mc:Fallback>
                <p:oleObj name="think-cell 幻灯片" r:id="rId22" imgW="5080" imgH="5080" progId="TCLayout.ActiveDocument.1">
                  <p:embed/>
                  <p:pic>
                    <p:nvPicPr>
                      <p:cNvPr id="0" name="对象 3" hidden="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7695-A07D-4BCB-B41D-8E5B8A170798}" type="slidenum">
              <a:rPr lang="zh-CN" altLang="en-US" smtClean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13</a:t>
            </a:fld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61" name="标题 60"/>
          <p:cNvSpPr>
            <a:spLocks noGrp="1"/>
          </p:cNvSpPr>
          <p:nvPr>
            <p:ph type="title"/>
          </p:nvPr>
        </p:nvSpPr>
        <p:spPr>
          <a:xfrm>
            <a:off x="754123" y="237448"/>
            <a:ext cx="10806506" cy="539666"/>
          </a:xfrm>
        </p:spPr>
        <p:txBody>
          <a:bodyPr vert="horz">
            <a:no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sym typeface="Arial" panose="020B0604020202020204" pitchFamily="34" charset="0"/>
              </a:rPr>
              <a:t>此外，团队衍生柔软可拉伸电极产品，已与顶级企业合作，</a:t>
            </a:r>
            <a:r>
              <a:rPr lang="en-US" altLang="zh-CN" sz="2400" dirty="0">
                <a:latin typeface="Arial" panose="020B0604020202020204" pitchFamily="34" charset="0"/>
                <a:sym typeface="Arial" panose="020B0604020202020204" pitchFamily="34" charset="0"/>
              </a:rPr>
              <a:t>27</a:t>
            </a:r>
            <a:r>
              <a:rPr lang="zh-CN" altLang="en-US" sz="2400" dirty="0">
                <a:latin typeface="Arial" panose="020B0604020202020204" pitchFamily="34" charset="0"/>
                <a:sym typeface="Arial" panose="020B0604020202020204" pitchFamily="34" charset="0"/>
              </a:rPr>
              <a:t>年收入达千万</a:t>
            </a:r>
          </a:p>
        </p:txBody>
      </p:sp>
      <p:grpSp>
        <p:nvGrpSpPr>
          <p:cNvPr id="109" name="îŝḻïḍé"/>
          <p:cNvGrpSpPr/>
          <p:nvPr>
            <p:custDataLst>
              <p:tags r:id="rId2"/>
            </p:custDataLst>
          </p:nvPr>
        </p:nvGrpSpPr>
        <p:grpSpPr>
          <a:xfrm>
            <a:off x="7883525" y="1106170"/>
            <a:ext cx="3385820" cy="5108575"/>
            <a:chOff x="660400" y="1416097"/>
            <a:chExt cx="3142578" cy="4718003"/>
          </a:xfrm>
        </p:grpSpPr>
        <p:sp>
          <p:nvSpPr>
            <p:cNvPr id="110" name="iṥ1îḑè"/>
            <p:cNvSpPr/>
            <p:nvPr>
              <p:custDataLst>
                <p:tags r:id="rId16"/>
              </p:custDataLst>
            </p:nvPr>
          </p:nvSpPr>
          <p:spPr>
            <a:xfrm>
              <a:off x="660400" y="1416097"/>
              <a:ext cx="3142578" cy="4718003"/>
            </a:xfrm>
            <a:prstGeom prst="rect">
              <a:avLst/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en-GB" sz="2000" b="1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1" name="ïṩḻîḋe"/>
            <p:cNvSpPr txBox="1"/>
            <p:nvPr>
              <p:custDataLst>
                <p:tags r:id="rId17"/>
              </p:custDataLst>
            </p:nvPr>
          </p:nvSpPr>
          <p:spPr>
            <a:xfrm>
              <a:off x="825501" y="1527085"/>
              <a:ext cx="1844676" cy="1107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b="1" dirty="0">
                  <a:solidFill>
                    <a:schemeClr val="tx1">
                      <a:lumMod val="50000"/>
                      <a:lumOff val="50000"/>
                      <a:alpha val="10000"/>
                    </a:schemeClr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03</a:t>
              </a:r>
              <a:endParaRPr lang="en-GB" sz="7200" b="1" dirty="0"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2" name="îṡľîďê"/>
            <p:cNvSpPr txBox="1"/>
            <p:nvPr>
              <p:custDataLst>
                <p:tags r:id="rId18"/>
              </p:custDataLst>
            </p:nvPr>
          </p:nvSpPr>
          <p:spPr>
            <a:xfrm>
              <a:off x="821988" y="2201553"/>
              <a:ext cx="2819401" cy="340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accent1"/>
                  </a:solidFill>
                </a:defRPr>
              </a:lvl1pPr>
            </a:lstStyle>
            <a:p>
              <a:r>
                <a:rPr lang="zh-CN" altLang="en-US" dirty="0"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多模态电极</a:t>
              </a:r>
            </a:p>
          </p:txBody>
        </p:sp>
        <p:sp>
          <p:nvSpPr>
            <p:cNvPr id="114" name="íṥ1iḓé"/>
            <p:cNvSpPr txBox="1"/>
            <p:nvPr>
              <p:custDataLst>
                <p:tags r:id="rId19"/>
              </p:custDataLst>
            </p:nvPr>
          </p:nvSpPr>
          <p:spPr>
            <a:xfrm>
              <a:off x="821988" y="2847370"/>
              <a:ext cx="2819401" cy="5107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sz="1000" b="0" i="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源于特斯拉开源的电池安全技术。更安全电芯，</a:t>
              </a:r>
              <a:r>
                <a:rPr lang="en-US" altLang="zh-CN" sz="1000" b="0" i="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BMS</a:t>
              </a:r>
              <a:r>
                <a:rPr lang="zh-CN" altLang="en-US" sz="1000" b="0" i="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电池管理系统。</a:t>
              </a:r>
              <a:endParaRPr kumimoji="0" lang="en-GB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15" name="ïṥļïḍe"/>
          <p:cNvGrpSpPr/>
          <p:nvPr>
            <p:custDataLst>
              <p:tags r:id="rId3"/>
            </p:custDataLst>
          </p:nvPr>
        </p:nvGrpSpPr>
        <p:grpSpPr>
          <a:xfrm>
            <a:off x="4285615" y="1106170"/>
            <a:ext cx="3385820" cy="5108575"/>
            <a:chOff x="660400" y="1416097"/>
            <a:chExt cx="3142578" cy="4718003"/>
          </a:xfrm>
        </p:grpSpPr>
        <p:sp>
          <p:nvSpPr>
            <p:cNvPr id="116" name="iṥļiďê"/>
            <p:cNvSpPr/>
            <p:nvPr>
              <p:custDataLst>
                <p:tags r:id="rId12"/>
              </p:custDataLst>
            </p:nvPr>
          </p:nvSpPr>
          <p:spPr>
            <a:xfrm>
              <a:off x="660400" y="1416097"/>
              <a:ext cx="3142578" cy="4718003"/>
            </a:xfrm>
            <a:prstGeom prst="rect">
              <a:avLst/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en-GB" sz="2000" b="1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7" name="ïṩḻídè"/>
            <p:cNvSpPr txBox="1"/>
            <p:nvPr>
              <p:custDataLst>
                <p:tags r:id="rId13"/>
              </p:custDataLst>
            </p:nvPr>
          </p:nvSpPr>
          <p:spPr>
            <a:xfrm>
              <a:off x="825501" y="1527085"/>
              <a:ext cx="1844676" cy="1107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b="1" dirty="0">
                  <a:solidFill>
                    <a:schemeClr val="tx1">
                      <a:lumMod val="50000"/>
                      <a:lumOff val="50000"/>
                      <a:alpha val="10000"/>
                    </a:schemeClr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02</a:t>
              </a:r>
              <a:endParaRPr lang="en-GB" sz="7200" b="1" dirty="0"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8" name="íSḷiḋê"/>
            <p:cNvSpPr txBox="1"/>
            <p:nvPr>
              <p:custDataLst>
                <p:tags r:id="rId14"/>
              </p:custDataLst>
            </p:nvPr>
          </p:nvSpPr>
          <p:spPr>
            <a:xfrm>
              <a:off x="821988" y="2201553"/>
              <a:ext cx="2819401" cy="340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accent1"/>
                  </a:solidFill>
                </a:defRPr>
              </a:lvl1pPr>
            </a:lstStyle>
            <a:p>
              <a:r>
                <a:rPr lang="zh-CN" altLang="en-US" dirty="0"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植、介入电极</a:t>
              </a:r>
            </a:p>
          </p:txBody>
        </p:sp>
        <p:sp>
          <p:nvSpPr>
            <p:cNvPr id="120" name="íṥļiḓê"/>
            <p:cNvSpPr txBox="1"/>
            <p:nvPr>
              <p:custDataLst>
                <p:tags r:id="rId15"/>
              </p:custDataLst>
            </p:nvPr>
          </p:nvSpPr>
          <p:spPr>
            <a:xfrm>
              <a:off x="821988" y="2847370"/>
              <a:ext cx="2819401" cy="5107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en-US" altLang="zh-CN" sz="1000" b="0" i="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70%</a:t>
              </a:r>
              <a:r>
                <a:rPr lang="zh-CN" altLang="en-US" sz="1000" b="0" i="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高强度钢 </a:t>
              </a:r>
              <a:r>
                <a:rPr lang="en-US" altLang="zh-CN" sz="1000" b="0" i="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6.7%</a:t>
              </a:r>
              <a:r>
                <a:rPr lang="zh-CN" altLang="en-US" sz="1000" b="0" i="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超高强度钢铁；</a:t>
              </a:r>
              <a:r>
                <a:rPr lang="en-US" altLang="zh-CN" sz="1000" b="0" i="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7.5%</a:t>
              </a:r>
              <a:r>
                <a:rPr lang="zh-CN" altLang="en-US" sz="1000" b="0" i="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热成型钢铁。</a:t>
              </a:r>
              <a:endParaRPr kumimoji="0" lang="en-GB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1" name="îŝḻíḑè"/>
          <p:cNvGrpSpPr/>
          <p:nvPr>
            <p:custDataLst>
              <p:tags r:id="rId4"/>
            </p:custDataLst>
          </p:nvPr>
        </p:nvGrpSpPr>
        <p:grpSpPr>
          <a:xfrm>
            <a:off x="687705" y="1106170"/>
            <a:ext cx="3385820" cy="5108575"/>
            <a:chOff x="660400" y="1416097"/>
            <a:chExt cx="3142578" cy="4718003"/>
          </a:xfrm>
        </p:grpSpPr>
        <p:sp>
          <p:nvSpPr>
            <p:cNvPr id="122" name="íṥľïḑè"/>
            <p:cNvSpPr/>
            <p:nvPr>
              <p:custDataLst>
                <p:tags r:id="rId8"/>
              </p:custDataLst>
            </p:nvPr>
          </p:nvSpPr>
          <p:spPr>
            <a:xfrm>
              <a:off x="660400" y="1416097"/>
              <a:ext cx="3142578" cy="4718003"/>
            </a:xfrm>
            <a:prstGeom prst="rect">
              <a:avLst/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en-GB" sz="2000" b="1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3" name="ïšľïḓé"/>
            <p:cNvSpPr txBox="1"/>
            <p:nvPr>
              <p:custDataLst>
                <p:tags r:id="rId9"/>
              </p:custDataLst>
            </p:nvPr>
          </p:nvSpPr>
          <p:spPr>
            <a:xfrm>
              <a:off x="825501" y="1527086"/>
              <a:ext cx="1839803" cy="1107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b="1" dirty="0">
                  <a:solidFill>
                    <a:schemeClr val="tx1">
                      <a:lumMod val="50000"/>
                      <a:lumOff val="50000"/>
                      <a:alpha val="10000"/>
                    </a:schemeClr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01</a:t>
              </a:r>
              <a:endParaRPr lang="en-GB" sz="7200" b="1" dirty="0"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4" name="ïšlîďê"/>
            <p:cNvSpPr txBox="1"/>
            <p:nvPr>
              <p:custDataLst>
                <p:tags r:id="rId10"/>
              </p:custDataLst>
            </p:nvPr>
          </p:nvSpPr>
          <p:spPr>
            <a:xfrm>
              <a:off x="821988" y="2201556"/>
              <a:ext cx="2819401" cy="340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err="1">
                  <a:solidFill>
                    <a:schemeClr val="accent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体表电极</a:t>
              </a:r>
            </a:p>
          </p:txBody>
        </p:sp>
        <p:sp>
          <p:nvSpPr>
            <p:cNvPr id="126" name="iŝļiďè"/>
            <p:cNvSpPr txBox="1"/>
            <p:nvPr>
              <p:custDataLst>
                <p:tags r:id="rId11"/>
              </p:custDataLst>
            </p:nvPr>
          </p:nvSpPr>
          <p:spPr>
            <a:xfrm>
              <a:off x="821988" y="2847370"/>
              <a:ext cx="2819401" cy="5107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sz="1000" b="0" i="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同级别车最丰富的的</a:t>
              </a:r>
              <a:r>
                <a:rPr lang="en-US" altLang="zh-CN" sz="1000" b="0" i="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16</a:t>
              </a:r>
              <a:r>
                <a:rPr lang="zh-CN" altLang="en-US" sz="1000" b="0" i="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微软雅黑 Light" panose="020B0502040204020203" pitchFamily="34" charset="-122"/>
                  <a:sym typeface="Arial" panose="020B0604020202020204" pitchFamily="34" charset="0"/>
                </a:rPr>
                <a:t>项行车安全配置，率先搭载博世最新</a:t>
              </a:r>
              <a:endParaRPr kumimoji="0" lang="en-GB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097915" y="2425065"/>
            <a:ext cx="2566035" cy="36779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707890" y="2331085"/>
            <a:ext cx="2541270" cy="3771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8293100" y="2315210"/>
            <a:ext cx="2247265" cy="37884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58813" y="3495959"/>
            <a:ext cx="10874374" cy="253336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6" name="对象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5080" imgH="5080" progId="TCLayout.ActiveDocument.1">
                  <p:embed/>
                </p:oleObj>
              </mc:Choice>
              <mc:Fallback>
                <p:oleObj name="think-cell 幻灯片" r:id="rId4" imgW="5080" imgH="5080" progId="TCLayout.ActiveDocument.1">
                  <p:embed/>
                  <p:pic>
                    <p:nvPicPr>
                      <p:cNvPr id="0" name="对象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/>
          <p:cNvSpPr/>
          <p:nvPr/>
        </p:nvSpPr>
        <p:spPr>
          <a:xfrm>
            <a:off x="651379" y="3115475"/>
            <a:ext cx="10890000" cy="4049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  <a:t>本轮融资计划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7695-A07D-4BCB-B41D-8E5B8A170798}" type="slidenum">
              <a:rPr lang="zh-CN" altLang="en-US" smtClean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14</a:t>
            </a:fld>
            <a:endParaRPr lang="zh-CN" alt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388114" y="1284522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部分历史股东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638755" y="3147047"/>
            <a:ext cx="4917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种子</a:t>
            </a: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+</a:t>
            </a:r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轮融资，金额：</a:t>
            </a: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3000</a:t>
            </a:r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万元人民币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1068425" y="4163103"/>
            <a:ext cx="2166866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研发投入</a:t>
            </a:r>
          </a:p>
        </p:txBody>
      </p:sp>
      <p:grpSp>
        <p:nvGrpSpPr>
          <p:cNvPr id="8" name="Group 60"/>
          <p:cNvGrpSpPr>
            <a:grpSpLocks noChangeAspect="1"/>
          </p:cNvGrpSpPr>
          <p:nvPr/>
        </p:nvGrpSpPr>
        <p:grpSpPr>
          <a:xfrm>
            <a:off x="1539580" y="4568157"/>
            <a:ext cx="1224557" cy="1224557"/>
            <a:chOff x="2740564" y="1388740"/>
            <a:chExt cx="885600" cy="885600"/>
          </a:xfrm>
        </p:grpSpPr>
        <p:sp>
          <p:nvSpPr>
            <p:cNvPr id="9" name="Oval 61"/>
            <p:cNvSpPr>
              <a:spLocks noChangeAspect="1"/>
            </p:cNvSpPr>
            <p:nvPr/>
          </p:nvSpPr>
          <p:spPr>
            <a:xfrm>
              <a:off x="2754774" y="1401759"/>
              <a:ext cx="865655" cy="865148"/>
            </a:xfrm>
            <a:prstGeom prst="ellipse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Oval 62"/>
            <p:cNvSpPr>
              <a:spLocks noChangeAspect="1"/>
            </p:cNvSpPr>
            <p:nvPr/>
          </p:nvSpPr>
          <p:spPr>
            <a:xfrm>
              <a:off x="2880754" y="1517786"/>
              <a:ext cx="626724" cy="6275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i="1" dirty="0">
                  <a:solidFill>
                    <a:schemeClr val="bg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+mj-cs"/>
                  <a:sym typeface="Arial" panose="020B0604020202020204" pitchFamily="34" charset="0"/>
                </a:rPr>
                <a:t>40%</a:t>
              </a:r>
              <a:endParaRPr lang="en-US" sz="1600" b="1" i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+mj-cs"/>
                <a:sym typeface="Arial" panose="020B0604020202020204" pitchFamily="34" charset="0"/>
              </a:endParaRPr>
            </a:p>
          </p:txBody>
        </p:sp>
        <p:sp>
          <p:nvSpPr>
            <p:cNvPr id="11" name="Block Arc 63"/>
            <p:cNvSpPr/>
            <p:nvPr/>
          </p:nvSpPr>
          <p:spPr>
            <a:xfrm rot="16626942">
              <a:off x="2740564" y="1388740"/>
              <a:ext cx="885600" cy="885600"/>
            </a:xfrm>
            <a:prstGeom prst="blockArc">
              <a:avLst>
                <a:gd name="adj1" fmla="val 12165182"/>
                <a:gd name="adj2" fmla="val 295261"/>
                <a:gd name="adj3" fmla="val 423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2" name="abacus-silhouette_43062"/>
          <p:cNvSpPr>
            <a:spLocks noChangeAspect="1"/>
          </p:cNvSpPr>
          <p:nvPr/>
        </p:nvSpPr>
        <p:spPr>
          <a:xfrm>
            <a:off x="9795584" y="3861256"/>
            <a:ext cx="373232" cy="296996"/>
          </a:xfrm>
          <a:custGeom>
            <a:avLst/>
            <a:gdLst>
              <a:gd name="T0" fmla="*/ 1721 w 1916"/>
              <a:gd name="T1" fmla="*/ 84 h 1527"/>
              <a:gd name="T2" fmla="*/ 1494 w 1916"/>
              <a:gd name="T3" fmla="*/ 84 h 1527"/>
              <a:gd name="T4" fmla="*/ 1364 w 1916"/>
              <a:gd name="T5" fmla="*/ 216 h 1527"/>
              <a:gd name="T6" fmla="*/ 1169 w 1916"/>
              <a:gd name="T7" fmla="*/ 216 h 1527"/>
              <a:gd name="T8" fmla="*/ 974 w 1916"/>
              <a:gd name="T9" fmla="*/ 216 h 1527"/>
              <a:gd name="T10" fmla="*/ 780 w 1916"/>
              <a:gd name="T11" fmla="*/ 216 h 1527"/>
              <a:gd name="T12" fmla="*/ 747 w 1916"/>
              <a:gd name="T13" fmla="*/ 216 h 1527"/>
              <a:gd name="T14" fmla="*/ 552 w 1916"/>
              <a:gd name="T15" fmla="*/ 216 h 1527"/>
              <a:gd name="T16" fmla="*/ 422 w 1916"/>
              <a:gd name="T17" fmla="*/ 84 h 1527"/>
              <a:gd name="T18" fmla="*/ 195 w 1916"/>
              <a:gd name="T19" fmla="*/ 84 h 1527"/>
              <a:gd name="T20" fmla="*/ 0 w 1916"/>
              <a:gd name="T21" fmla="*/ 1432 h 1527"/>
              <a:gd name="T22" fmla="*/ 1862 w 1916"/>
              <a:gd name="T23" fmla="*/ 1527 h 1527"/>
              <a:gd name="T24" fmla="*/ 1861 w 1916"/>
              <a:gd name="T25" fmla="*/ 1364 h 1527"/>
              <a:gd name="T26" fmla="*/ 422 w 1916"/>
              <a:gd name="T27" fmla="*/ 1137 h 1527"/>
              <a:gd name="T28" fmla="*/ 606 w 1916"/>
              <a:gd name="T29" fmla="*/ 1234 h 1527"/>
              <a:gd name="T30" fmla="*/ 715 w 1916"/>
              <a:gd name="T31" fmla="*/ 1137 h 1527"/>
              <a:gd name="T32" fmla="*/ 833 w 1916"/>
              <a:gd name="T33" fmla="*/ 1234 h 1527"/>
              <a:gd name="T34" fmla="*/ 942 w 1916"/>
              <a:gd name="T35" fmla="*/ 1137 h 1527"/>
              <a:gd name="T36" fmla="*/ 1223 w 1916"/>
              <a:gd name="T37" fmla="*/ 1234 h 1527"/>
              <a:gd name="T38" fmla="*/ 1332 w 1916"/>
              <a:gd name="T39" fmla="*/ 1137 h 1527"/>
              <a:gd name="T40" fmla="*/ 1494 w 1916"/>
              <a:gd name="T41" fmla="*/ 1364 h 1527"/>
              <a:gd name="T42" fmla="*/ 1332 w 1916"/>
              <a:gd name="T43" fmla="*/ 1039 h 1527"/>
              <a:gd name="T44" fmla="*/ 1223 w 1916"/>
              <a:gd name="T45" fmla="*/ 942 h 1527"/>
              <a:gd name="T46" fmla="*/ 942 w 1916"/>
              <a:gd name="T47" fmla="*/ 1039 h 1527"/>
              <a:gd name="T48" fmla="*/ 833 w 1916"/>
              <a:gd name="T49" fmla="*/ 942 h 1527"/>
              <a:gd name="T50" fmla="*/ 715 w 1916"/>
              <a:gd name="T51" fmla="*/ 1039 h 1527"/>
              <a:gd name="T52" fmla="*/ 606 w 1916"/>
              <a:gd name="T53" fmla="*/ 942 h 1527"/>
              <a:gd name="T54" fmla="*/ 422 w 1916"/>
              <a:gd name="T55" fmla="*/ 1039 h 1527"/>
              <a:gd name="T56" fmla="*/ 585 w 1916"/>
              <a:gd name="T57" fmla="*/ 726 h 1527"/>
              <a:gd name="T58" fmla="*/ 779 w 1916"/>
              <a:gd name="T59" fmla="*/ 726 h 1527"/>
              <a:gd name="T60" fmla="*/ 974 w 1916"/>
              <a:gd name="T61" fmla="*/ 726 h 1527"/>
              <a:gd name="T62" fmla="*/ 1169 w 1916"/>
              <a:gd name="T63" fmla="*/ 726 h 1527"/>
              <a:gd name="T64" fmla="*/ 1494 w 1916"/>
              <a:gd name="T65" fmla="*/ 1039 h 1527"/>
              <a:gd name="T66" fmla="*/ 1494 w 1916"/>
              <a:gd name="T67" fmla="*/ 617 h 1527"/>
              <a:gd name="T68" fmla="*/ 1083 w 1916"/>
              <a:gd name="T69" fmla="*/ 520 h 1527"/>
              <a:gd name="T70" fmla="*/ 974 w 1916"/>
              <a:gd name="T71" fmla="*/ 617 h 1527"/>
              <a:gd name="T72" fmla="*/ 693 w 1916"/>
              <a:gd name="T73" fmla="*/ 520 h 1527"/>
              <a:gd name="T74" fmla="*/ 585 w 1916"/>
              <a:gd name="T75" fmla="*/ 617 h 1527"/>
              <a:gd name="T76" fmla="*/ 552 w 1916"/>
              <a:gd name="T77" fmla="*/ 325 h 1527"/>
              <a:gd name="T78" fmla="*/ 661 w 1916"/>
              <a:gd name="T79" fmla="*/ 422 h 1527"/>
              <a:gd name="T80" fmla="*/ 780 w 1916"/>
              <a:gd name="T81" fmla="*/ 325 h 1527"/>
              <a:gd name="T82" fmla="*/ 888 w 1916"/>
              <a:gd name="T83" fmla="*/ 422 h 1527"/>
              <a:gd name="T84" fmla="*/ 1169 w 1916"/>
              <a:gd name="T85" fmla="*/ 325 h 1527"/>
              <a:gd name="T86" fmla="*/ 1278 w 1916"/>
              <a:gd name="T87" fmla="*/ 422 h 1527"/>
              <a:gd name="T88" fmla="*/ 1494 w 1916"/>
              <a:gd name="T89" fmla="*/ 325 h 1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16" h="1527">
                <a:moveTo>
                  <a:pt x="1861" y="1364"/>
                </a:moveTo>
                <a:lnTo>
                  <a:pt x="1721" y="1364"/>
                </a:lnTo>
                <a:lnTo>
                  <a:pt x="1721" y="84"/>
                </a:lnTo>
                <a:cubicBezTo>
                  <a:pt x="1721" y="29"/>
                  <a:pt x="1677" y="0"/>
                  <a:pt x="1622" y="0"/>
                </a:cubicBezTo>
                <a:lnTo>
                  <a:pt x="1612" y="0"/>
                </a:lnTo>
                <a:cubicBezTo>
                  <a:pt x="1557" y="0"/>
                  <a:pt x="1494" y="29"/>
                  <a:pt x="1494" y="84"/>
                </a:cubicBezTo>
                <a:lnTo>
                  <a:pt x="1494" y="227"/>
                </a:lnTo>
                <a:lnTo>
                  <a:pt x="1364" y="227"/>
                </a:lnTo>
                <a:lnTo>
                  <a:pt x="1364" y="216"/>
                </a:lnTo>
                <a:cubicBezTo>
                  <a:pt x="1364" y="168"/>
                  <a:pt x="1326" y="130"/>
                  <a:pt x="1278" y="130"/>
                </a:cubicBezTo>
                <a:lnTo>
                  <a:pt x="1255" y="130"/>
                </a:lnTo>
                <a:cubicBezTo>
                  <a:pt x="1208" y="130"/>
                  <a:pt x="1169" y="168"/>
                  <a:pt x="1169" y="216"/>
                </a:cubicBezTo>
                <a:lnTo>
                  <a:pt x="1169" y="227"/>
                </a:lnTo>
                <a:lnTo>
                  <a:pt x="974" y="227"/>
                </a:lnTo>
                <a:lnTo>
                  <a:pt x="974" y="216"/>
                </a:lnTo>
                <a:cubicBezTo>
                  <a:pt x="974" y="168"/>
                  <a:pt x="936" y="130"/>
                  <a:pt x="888" y="130"/>
                </a:cubicBezTo>
                <a:lnTo>
                  <a:pt x="866" y="130"/>
                </a:lnTo>
                <a:cubicBezTo>
                  <a:pt x="818" y="130"/>
                  <a:pt x="780" y="168"/>
                  <a:pt x="780" y="216"/>
                </a:cubicBezTo>
                <a:lnTo>
                  <a:pt x="780" y="227"/>
                </a:lnTo>
                <a:lnTo>
                  <a:pt x="747" y="227"/>
                </a:lnTo>
                <a:lnTo>
                  <a:pt x="747" y="216"/>
                </a:lnTo>
                <a:cubicBezTo>
                  <a:pt x="747" y="168"/>
                  <a:pt x="708" y="130"/>
                  <a:pt x="661" y="130"/>
                </a:cubicBezTo>
                <a:lnTo>
                  <a:pt x="638" y="130"/>
                </a:lnTo>
                <a:cubicBezTo>
                  <a:pt x="591" y="130"/>
                  <a:pt x="552" y="168"/>
                  <a:pt x="552" y="216"/>
                </a:cubicBezTo>
                <a:lnTo>
                  <a:pt x="552" y="227"/>
                </a:lnTo>
                <a:lnTo>
                  <a:pt x="422" y="227"/>
                </a:lnTo>
                <a:lnTo>
                  <a:pt x="422" y="84"/>
                </a:lnTo>
                <a:cubicBezTo>
                  <a:pt x="422" y="29"/>
                  <a:pt x="389" y="0"/>
                  <a:pt x="334" y="0"/>
                </a:cubicBezTo>
                <a:lnTo>
                  <a:pt x="324" y="0"/>
                </a:lnTo>
                <a:cubicBezTo>
                  <a:pt x="269" y="0"/>
                  <a:pt x="195" y="0"/>
                  <a:pt x="195" y="84"/>
                </a:cubicBezTo>
                <a:lnTo>
                  <a:pt x="195" y="1364"/>
                </a:lnTo>
                <a:lnTo>
                  <a:pt x="85" y="1364"/>
                </a:lnTo>
                <a:cubicBezTo>
                  <a:pt x="46" y="1364"/>
                  <a:pt x="0" y="1366"/>
                  <a:pt x="0" y="1432"/>
                </a:cubicBezTo>
                <a:lnTo>
                  <a:pt x="0" y="1442"/>
                </a:lnTo>
                <a:cubicBezTo>
                  <a:pt x="0" y="1481"/>
                  <a:pt x="0" y="1527"/>
                  <a:pt x="85" y="1527"/>
                </a:cubicBezTo>
                <a:lnTo>
                  <a:pt x="1862" y="1527"/>
                </a:lnTo>
                <a:cubicBezTo>
                  <a:pt x="1900" y="1527"/>
                  <a:pt x="1916" y="1481"/>
                  <a:pt x="1916" y="1442"/>
                </a:cubicBezTo>
                <a:lnTo>
                  <a:pt x="1916" y="1432"/>
                </a:lnTo>
                <a:cubicBezTo>
                  <a:pt x="1916" y="1393"/>
                  <a:pt x="1900" y="1364"/>
                  <a:pt x="1861" y="1364"/>
                </a:cubicBezTo>
                <a:close/>
                <a:moveTo>
                  <a:pt x="1494" y="1364"/>
                </a:moveTo>
                <a:lnTo>
                  <a:pt x="422" y="1364"/>
                </a:lnTo>
                <a:lnTo>
                  <a:pt x="422" y="1137"/>
                </a:lnTo>
                <a:lnTo>
                  <a:pt x="520" y="1137"/>
                </a:lnTo>
                <a:lnTo>
                  <a:pt x="520" y="1148"/>
                </a:lnTo>
                <a:cubicBezTo>
                  <a:pt x="520" y="1196"/>
                  <a:pt x="558" y="1234"/>
                  <a:pt x="606" y="1234"/>
                </a:cubicBezTo>
                <a:lnTo>
                  <a:pt x="628" y="1234"/>
                </a:lnTo>
                <a:cubicBezTo>
                  <a:pt x="676" y="1234"/>
                  <a:pt x="715" y="1196"/>
                  <a:pt x="715" y="1148"/>
                </a:cubicBezTo>
                <a:lnTo>
                  <a:pt x="715" y="1137"/>
                </a:lnTo>
                <a:lnTo>
                  <a:pt x="747" y="1137"/>
                </a:lnTo>
                <a:lnTo>
                  <a:pt x="747" y="1148"/>
                </a:lnTo>
                <a:cubicBezTo>
                  <a:pt x="747" y="1196"/>
                  <a:pt x="786" y="1234"/>
                  <a:pt x="833" y="1234"/>
                </a:cubicBezTo>
                <a:lnTo>
                  <a:pt x="856" y="1234"/>
                </a:lnTo>
                <a:cubicBezTo>
                  <a:pt x="903" y="1234"/>
                  <a:pt x="942" y="1196"/>
                  <a:pt x="942" y="1148"/>
                </a:cubicBezTo>
                <a:lnTo>
                  <a:pt x="942" y="1137"/>
                </a:lnTo>
                <a:lnTo>
                  <a:pt x="1137" y="1137"/>
                </a:lnTo>
                <a:lnTo>
                  <a:pt x="1137" y="1148"/>
                </a:lnTo>
                <a:cubicBezTo>
                  <a:pt x="1137" y="1196"/>
                  <a:pt x="1175" y="1234"/>
                  <a:pt x="1223" y="1234"/>
                </a:cubicBezTo>
                <a:lnTo>
                  <a:pt x="1246" y="1234"/>
                </a:lnTo>
                <a:cubicBezTo>
                  <a:pt x="1293" y="1234"/>
                  <a:pt x="1332" y="1196"/>
                  <a:pt x="1332" y="1148"/>
                </a:cubicBezTo>
                <a:lnTo>
                  <a:pt x="1332" y="1137"/>
                </a:lnTo>
                <a:lnTo>
                  <a:pt x="1494" y="1137"/>
                </a:lnTo>
                <a:lnTo>
                  <a:pt x="1494" y="1364"/>
                </a:lnTo>
                <a:lnTo>
                  <a:pt x="1494" y="1364"/>
                </a:lnTo>
                <a:lnTo>
                  <a:pt x="1494" y="1364"/>
                </a:lnTo>
                <a:close/>
                <a:moveTo>
                  <a:pt x="1494" y="1039"/>
                </a:moveTo>
                <a:lnTo>
                  <a:pt x="1332" y="1039"/>
                </a:lnTo>
                <a:lnTo>
                  <a:pt x="1332" y="1028"/>
                </a:lnTo>
                <a:cubicBezTo>
                  <a:pt x="1332" y="980"/>
                  <a:pt x="1293" y="942"/>
                  <a:pt x="1246" y="942"/>
                </a:cubicBezTo>
                <a:lnTo>
                  <a:pt x="1223" y="942"/>
                </a:lnTo>
                <a:cubicBezTo>
                  <a:pt x="1175" y="942"/>
                  <a:pt x="1137" y="980"/>
                  <a:pt x="1137" y="1028"/>
                </a:cubicBezTo>
                <a:lnTo>
                  <a:pt x="1137" y="1039"/>
                </a:lnTo>
                <a:lnTo>
                  <a:pt x="942" y="1039"/>
                </a:lnTo>
                <a:lnTo>
                  <a:pt x="942" y="1028"/>
                </a:lnTo>
                <a:cubicBezTo>
                  <a:pt x="942" y="980"/>
                  <a:pt x="903" y="942"/>
                  <a:pt x="856" y="942"/>
                </a:cubicBezTo>
                <a:lnTo>
                  <a:pt x="833" y="942"/>
                </a:lnTo>
                <a:cubicBezTo>
                  <a:pt x="786" y="942"/>
                  <a:pt x="747" y="980"/>
                  <a:pt x="747" y="1028"/>
                </a:cubicBezTo>
                <a:lnTo>
                  <a:pt x="747" y="1039"/>
                </a:lnTo>
                <a:lnTo>
                  <a:pt x="715" y="1039"/>
                </a:lnTo>
                <a:lnTo>
                  <a:pt x="715" y="1028"/>
                </a:lnTo>
                <a:cubicBezTo>
                  <a:pt x="715" y="980"/>
                  <a:pt x="676" y="942"/>
                  <a:pt x="628" y="942"/>
                </a:cubicBezTo>
                <a:lnTo>
                  <a:pt x="606" y="942"/>
                </a:lnTo>
                <a:cubicBezTo>
                  <a:pt x="558" y="942"/>
                  <a:pt x="520" y="980"/>
                  <a:pt x="520" y="1028"/>
                </a:cubicBezTo>
                <a:lnTo>
                  <a:pt x="520" y="1039"/>
                </a:lnTo>
                <a:lnTo>
                  <a:pt x="422" y="1039"/>
                </a:lnTo>
                <a:lnTo>
                  <a:pt x="422" y="714"/>
                </a:lnTo>
                <a:lnTo>
                  <a:pt x="585" y="714"/>
                </a:lnTo>
                <a:lnTo>
                  <a:pt x="585" y="726"/>
                </a:lnTo>
                <a:cubicBezTo>
                  <a:pt x="585" y="773"/>
                  <a:pt x="623" y="812"/>
                  <a:pt x="671" y="812"/>
                </a:cubicBezTo>
                <a:lnTo>
                  <a:pt x="693" y="812"/>
                </a:lnTo>
                <a:cubicBezTo>
                  <a:pt x="741" y="812"/>
                  <a:pt x="779" y="773"/>
                  <a:pt x="779" y="726"/>
                </a:cubicBezTo>
                <a:lnTo>
                  <a:pt x="779" y="714"/>
                </a:lnTo>
                <a:lnTo>
                  <a:pt x="974" y="714"/>
                </a:lnTo>
                <a:lnTo>
                  <a:pt x="974" y="726"/>
                </a:lnTo>
                <a:cubicBezTo>
                  <a:pt x="974" y="773"/>
                  <a:pt x="1013" y="812"/>
                  <a:pt x="1060" y="812"/>
                </a:cubicBezTo>
                <a:lnTo>
                  <a:pt x="1083" y="812"/>
                </a:lnTo>
                <a:cubicBezTo>
                  <a:pt x="1131" y="812"/>
                  <a:pt x="1169" y="773"/>
                  <a:pt x="1169" y="726"/>
                </a:cubicBezTo>
                <a:lnTo>
                  <a:pt x="1169" y="714"/>
                </a:lnTo>
                <a:lnTo>
                  <a:pt x="1494" y="714"/>
                </a:lnTo>
                <a:lnTo>
                  <a:pt x="1494" y="1039"/>
                </a:lnTo>
                <a:lnTo>
                  <a:pt x="1494" y="1039"/>
                </a:lnTo>
                <a:lnTo>
                  <a:pt x="1494" y="1039"/>
                </a:lnTo>
                <a:close/>
                <a:moveTo>
                  <a:pt x="1494" y="617"/>
                </a:moveTo>
                <a:lnTo>
                  <a:pt x="1169" y="617"/>
                </a:lnTo>
                <a:lnTo>
                  <a:pt x="1169" y="606"/>
                </a:lnTo>
                <a:cubicBezTo>
                  <a:pt x="1169" y="558"/>
                  <a:pt x="1131" y="520"/>
                  <a:pt x="1083" y="520"/>
                </a:cubicBezTo>
                <a:lnTo>
                  <a:pt x="1061" y="520"/>
                </a:lnTo>
                <a:cubicBezTo>
                  <a:pt x="1013" y="520"/>
                  <a:pt x="974" y="558"/>
                  <a:pt x="974" y="606"/>
                </a:cubicBezTo>
                <a:lnTo>
                  <a:pt x="974" y="617"/>
                </a:lnTo>
                <a:lnTo>
                  <a:pt x="780" y="617"/>
                </a:lnTo>
                <a:lnTo>
                  <a:pt x="780" y="606"/>
                </a:lnTo>
                <a:cubicBezTo>
                  <a:pt x="780" y="558"/>
                  <a:pt x="741" y="520"/>
                  <a:pt x="693" y="520"/>
                </a:cubicBezTo>
                <a:lnTo>
                  <a:pt x="671" y="520"/>
                </a:lnTo>
                <a:cubicBezTo>
                  <a:pt x="623" y="520"/>
                  <a:pt x="585" y="558"/>
                  <a:pt x="585" y="606"/>
                </a:cubicBezTo>
                <a:lnTo>
                  <a:pt x="585" y="617"/>
                </a:lnTo>
                <a:lnTo>
                  <a:pt x="422" y="617"/>
                </a:lnTo>
                <a:lnTo>
                  <a:pt x="422" y="325"/>
                </a:lnTo>
                <a:lnTo>
                  <a:pt x="552" y="325"/>
                </a:lnTo>
                <a:lnTo>
                  <a:pt x="552" y="336"/>
                </a:lnTo>
                <a:cubicBezTo>
                  <a:pt x="552" y="384"/>
                  <a:pt x="591" y="422"/>
                  <a:pt x="638" y="422"/>
                </a:cubicBezTo>
                <a:lnTo>
                  <a:pt x="661" y="422"/>
                </a:lnTo>
                <a:cubicBezTo>
                  <a:pt x="708" y="422"/>
                  <a:pt x="747" y="384"/>
                  <a:pt x="747" y="336"/>
                </a:cubicBezTo>
                <a:lnTo>
                  <a:pt x="747" y="325"/>
                </a:lnTo>
                <a:lnTo>
                  <a:pt x="780" y="325"/>
                </a:lnTo>
                <a:lnTo>
                  <a:pt x="780" y="336"/>
                </a:lnTo>
                <a:cubicBezTo>
                  <a:pt x="780" y="384"/>
                  <a:pt x="818" y="422"/>
                  <a:pt x="866" y="422"/>
                </a:cubicBezTo>
                <a:lnTo>
                  <a:pt x="888" y="422"/>
                </a:lnTo>
                <a:cubicBezTo>
                  <a:pt x="936" y="422"/>
                  <a:pt x="974" y="384"/>
                  <a:pt x="974" y="336"/>
                </a:cubicBezTo>
                <a:lnTo>
                  <a:pt x="974" y="325"/>
                </a:lnTo>
                <a:lnTo>
                  <a:pt x="1169" y="325"/>
                </a:lnTo>
                <a:lnTo>
                  <a:pt x="1169" y="336"/>
                </a:lnTo>
                <a:cubicBezTo>
                  <a:pt x="1169" y="384"/>
                  <a:pt x="1208" y="422"/>
                  <a:pt x="1255" y="422"/>
                </a:cubicBezTo>
                <a:lnTo>
                  <a:pt x="1278" y="422"/>
                </a:lnTo>
                <a:cubicBezTo>
                  <a:pt x="1326" y="422"/>
                  <a:pt x="1364" y="384"/>
                  <a:pt x="1364" y="336"/>
                </a:cubicBezTo>
                <a:lnTo>
                  <a:pt x="1364" y="325"/>
                </a:lnTo>
                <a:lnTo>
                  <a:pt x="1494" y="325"/>
                </a:lnTo>
                <a:lnTo>
                  <a:pt x="1494" y="617"/>
                </a:lnTo>
                <a:lnTo>
                  <a:pt x="1494" y="6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944307" y="4163103"/>
            <a:ext cx="2166866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SzTx/>
              <a:buFont typeface="Arial" panose="020B0604020202020204" pitchFamily="34" charset="0"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  <a:t>运营资金补充</a:t>
            </a:r>
          </a:p>
        </p:txBody>
      </p:sp>
      <p:sp>
        <p:nvSpPr>
          <p:cNvPr id="20" name="factory-building_16739"/>
          <p:cNvSpPr>
            <a:spLocks noChangeAspect="1"/>
          </p:cNvSpPr>
          <p:nvPr/>
        </p:nvSpPr>
        <p:spPr>
          <a:xfrm>
            <a:off x="4553355" y="3828107"/>
            <a:ext cx="335069" cy="329817"/>
          </a:xfrm>
          <a:custGeom>
            <a:avLst/>
            <a:gdLst>
              <a:gd name="connsiteX0" fmla="*/ 17257 w 603264"/>
              <a:gd name="connsiteY0" fmla="*/ 533132 h 593808"/>
              <a:gd name="connsiteX1" fmla="*/ 17257 w 603264"/>
              <a:gd name="connsiteY1" fmla="*/ 576720 h 593808"/>
              <a:gd name="connsiteX2" fmla="*/ 586007 w 603264"/>
              <a:gd name="connsiteY2" fmla="*/ 576720 h 593808"/>
              <a:gd name="connsiteX3" fmla="*/ 586007 w 603264"/>
              <a:gd name="connsiteY3" fmla="*/ 533132 h 593808"/>
              <a:gd name="connsiteX4" fmla="*/ 470140 w 603264"/>
              <a:gd name="connsiteY4" fmla="*/ 339520 h 593808"/>
              <a:gd name="connsiteX5" fmla="*/ 470140 w 603264"/>
              <a:gd name="connsiteY5" fmla="*/ 437267 h 593808"/>
              <a:gd name="connsiteX6" fmla="*/ 555264 w 603264"/>
              <a:gd name="connsiteY6" fmla="*/ 437267 h 593808"/>
              <a:gd name="connsiteX7" fmla="*/ 555264 w 603264"/>
              <a:gd name="connsiteY7" fmla="*/ 339520 h 593808"/>
              <a:gd name="connsiteX8" fmla="*/ 293076 w 603264"/>
              <a:gd name="connsiteY8" fmla="*/ 339520 h 593808"/>
              <a:gd name="connsiteX9" fmla="*/ 293076 w 603264"/>
              <a:gd name="connsiteY9" fmla="*/ 437267 h 593808"/>
              <a:gd name="connsiteX10" fmla="*/ 378055 w 603264"/>
              <a:gd name="connsiteY10" fmla="*/ 437267 h 593808"/>
              <a:gd name="connsiteX11" fmla="*/ 378055 w 603264"/>
              <a:gd name="connsiteY11" fmla="*/ 339520 h 593808"/>
              <a:gd name="connsiteX12" fmla="*/ 107456 w 603264"/>
              <a:gd name="connsiteY12" fmla="*/ 339520 h 593808"/>
              <a:gd name="connsiteX13" fmla="*/ 107456 w 603264"/>
              <a:gd name="connsiteY13" fmla="*/ 437267 h 593808"/>
              <a:gd name="connsiteX14" fmla="*/ 192435 w 603264"/>
              <a:gd name="connsiteY14" fmla="*/ 437267 h 593808"/>
              <a:gd name="connsiteX15" fmla="*/ 192435 w 603264"/>
              <a:gd name="connsiteY15" fmla="*/ 339520 h 593808"/>
              <a:gd name="connsiteX16" fmla="*/ 41909 w 603264"/>
              <a:gd name="connsiteY16" fmla="*/ 102320 h 593808"/>
              <a:gd name="connsiteX17" fmla="*/ 115287 w 603264"/>
              <a:gd name="connsiteY17" fmla="*/ 102320 h 593808"/>
              <a:gd name="connsiteX18" fmla="*/ 115287 w 603264"/>
              <a:gd name="connsiteY18" fmla="*/ 293615 h 593808"/>
              <a:gd name="connsiteX19" fmla="*/ 239710 w 603264"/>
              <a:gd name="connsiteY19" fmla="*/ 247565 h 593808"/>
              <a:gd name="connsiteX20" fmla="*/ 239710 w 603264"/>
              <a:gd name="connsiteY20" fmla="*/ 317509 h 593808"/>
              <a:gd name="connsiteX21" fmla="*/ 428811 w 603264"/>
              <a:gd name="connsiteY21" fmla="*/ 247565 h 593808"/>
              <a:gd name="connsiteX22" fmla="*/ 428811 w 603264"/>
              <a:gd name="connsiteY22" fmla="*/ 312151 h 593808"/>
              <a:gd name="connsiteX23" fmla="*/ 603264 w 603264"/>
              <a:gd name="connsiteY23" fmla="*/ 247565 h 593808"/>
              <a:gd name="connsiteX24" fmla="*/ 603264 w 603264"/>
              <a:gd name="connsiteY24" fmla="*/ 593808 h 593808"/>
              <a:gd name="connsiteX25" fmla="*/ 0 w 603264"/>
              <a:gd name="connsiteY25" fmla="*/ 593808 h 593808"/>
              <a:gd name="connsiteX26" fmla="*/ 0 w 603264"/>
              <a:gd name="connsiteY26" fmla="*/ 336334 h 593808"/>
              <a:gd name="connsiteX27" fmla="*/ 41909 w 603264"/>
              <a:gd name="connsiteY27" fmla="*/ 320840 h 593808"/>
              <a:gd name="connsiteX28" fmla="*/ 185171 w 603264"/>
              <a:gd name="connsiteY28" fmla="*/ 0 h 593808"/>
              <a:gd name="connsiteX29" fmla="*/ 200829 w 603264"/>
              <a:gd name="connsiteY29" fmla="*/ 6948 h 593808"/>
              <a:gd name="connsiteX30" fmla="*/ 198799 w 603264"/>
              <a:gd name="connsiteY30" fmla="*/ 11581 h 593808"/>
              <a:gd name="connsiteX31" fmla="*/ 126746 w 603264"/>
              <a:gd name="connsiteY31" fmla="*/ 45454 h 593808"/>
              <a:gd name="connsiteX32" fmla="*/ 116452 w 603264"/>
              <a:gd name="connsiteY32" fmla="*/ 45165 h 593808"/>
              <a:gd name="connsiteX33" fmla="*/ 80063 w 603264"/>
              <a:gd name="connsiteY33" fmla="*/ 76577 h 593808"/>
              <a:gd name="connsiteX34" fmla="*/ 79628 w 603264"/>
              <a:gd name="connsiteY34" fmla="*/ 81644 h 593808"/>
              <a:gd name="connsiteX35" fmla="*/ 62521 w 603264"/>
              <a:gd name="connsiteY35" fmla="*/ 80196 h 593808"/>
              <a:gd name="connsiteX36" fmla="*/ 62956 w 603264"/>
              <a:gd name="connsiteY36" fmla="*/ 75130 h 593808"/>
              <a:gd name="connsiteX37" fmla="*/ 127181 w 603264"/>
              <a:gd name="connsiteY37" fmla="*/ 28228 h 593808"/>
              <a:gd name="connsiteX38" fmla="*/ 138054 w 603264"/>
              <a:gd name="connsiteY38" fmla="*/ 28517 h 593808"/>
              <a:gd name="connsiteX39" fmla="*/ 182997 w 603264"/>
              <a:gd name="connsiteY39" fmla="*/ 4632 h 593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3264" h="593808">
                <a:moveTo>
                  <a:pt x="17257" y="533132"/>
                </a:moveTo>
                <a:lnTo>
                  <a:pt x="17257" y="576720"/>
                </a:lnTo>
                <a:lnTo>
                  <a:pt x="586007" y="576720"/>
                </a:lnTo>
                <a:lnTo>
                  <a:pt x="586007" y="533132"/>
                </a:lnTo>
                <a:close/>
                <a:moveTo>
                  <a:pt x="470140" y="339520"/>
                </a:moveTo>
                <a:lnTo>
                  <a:pt x="470140" y="437267"/>
                </a:lnTo>
                <a:lnTo>
                  <a:pt x="555264" y="437267"/>
                </a:lnTo>
                <a:lnTo>
                  <a:pt x="555264" y="339520"/>
                </a:lnTo>
                <a:close/>
                <a:moveTo>
                  <a:pt x="293076" y="339520"/>
                </a:moveTo>
                <a:lnTo>
                  <a:pt x="293076" y="437267"/>
                </a:lnTo>
                <a:lnTo>
                  <a:pt x="378055" y="437267"/>
                </a:lnTo>
                <a:lnTo>
                  <a:pt x="378055" y="339520"/>
                </a:lnTo>
                <a:close/>
                <a:moveTo>
                  <a:pt x="107456" y="339520"/>
                </a:moveTo>
                <a:lnTo>
                  <a:pt x="107456" y="437267"/>
                </a:lnTo>
                <a:lnTo>
                  <a:pt x="192435" y="437267"/>
                </a:lnTo>
                <a:lnTo>
                  <a:pt x="192435" y="339520"/>
                </a:lnTo>
                <a:close/>
                <a:moveTo>
                  <a:pt x="41909" y="102320"/>
                </a:moveTo>
                <a:lnTo>
                  <a:pt x="115287" y="102320"/>
                </a:lnTo>
                <a:lnTo>
                  <a:pt x="115287" y="293615"/>
                </a:lnTo>
                <a:lnTo>
                  <a:pt x="239710" y="247565"/>
                </a:lnTo>
                <a:lnTo>
                  <a:pt x="239710" y="317509"/>
                </a:lnTo>
                <a:lnTo>
                  <a:pt x="428811" y="247565"/>
                </a:lnTo>
                <a:lnTo>
                  <a:pt x="428811" y="312151"/>
                </a:lnTo>
                <a:lnTo>
                  <a:pt x="603264" y="247565"/>
                </a:lnTo>
                <a:lnTo>
                  <a:pt x="603264" y="593808"/>
                </a:lnTo>
                <a:lnTo>
                  <a:pt x="0" y="593808"/>
                </a:lnTo>
                <a:lnTo>
                  <a:pt x="0" y="336334"/>
                </a:lnTo>
                <a:lnTo>
                  <a:pt x="41909" y="320840"/>
                </a:lnTo>
                <a:close/>
                <a:moveTo>
                  <a:pt x="185171" y="0"/>
                </a:moveTo>
                <a:lnTo>
                  <a:pt x="200829" y="6948"/>
                </a:lnTo>
                <a:lnTo>
                  <a:pt x="198799" y="11581"/>
                </a:lnTo>
                <a:cubicBezTo>
                  <a:pt x="183287" y="46468"/>
                  <a:pt x="152407" y="46033"/>
                  <a:pt x="126746" y="45454"/>
                </a:cubicBezTo>
                <a:cubicBezTo>
                  <a:pt x="122976" y="45310"/>
                  <a:pt x="119642" y="45165"/>
                  <a:pt x="116452" y="45165"/>
                </a:cubicBezTo>
                <a:cubicBezTo>
                  <a:pt x="96881" y="45165"/>
                  <a:pt x="82818" y="47481"/>
                  <a:pt x="80063" y="76577"/>
                </a:cubicBezTo>
                <a:lnTo>
                  <a:pt x="79628" y="81644"/>
                </a:lnTo>
                <a:lnTo>
                  <a:pt x="62521" y="80196"/>
                </a:lnTo>
                <a:lnTo>
                  <a:pt x="62956" y="75130"/>
                </a:lnTo>
                <a:cubicBezTo>
                  <a:pt x="67305" y="28228"/>
                  <a:pt x="97895" y="27504"/>
                  <a:pt x="127181" y="28228"/>
                </a:cubicBezTo>
                <a:cubicBezTo>
                  <a:pt x="130950" y="28373"/>
                  <a:pt x="134430" y="28517"/>
                  <a:pt x="138054" y="28517"/>
                </a:cubicBezTo>
                <a:cubicBezTo>
                  <a:pt x="159801" y="28517"/>
                  <a:pt x="174153" y="24609"/>
                  <a:pt x="182997" y="46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693719" y="4163103"/>
            <a:ext cx="2166866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SzTx/>
              <a:buFont typeface="Arial" panose="020B0604020202020204" pitchFamily="34" charset="0"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  <a:t>产线建设</a:t>
            </a:r>
          </a:p>
        </p:txBody>
      </p:sp>
      <p:sp>
        <p:nvSpPr>
          <p:cNvPr id="22" name="idea_87582"/>
          <p:cNvSpPr>
            <a:spLocks noChangeAspect="1"/>
          </p:cNvSpPr>
          <p:nvPr/>
        </p:nvSpPr>
        <p:spPr>
          <a:xfrm>
            <a:off x="2023922" y="3751385"/>
            <a:ext cx="335069" cy="406539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98897" h="605310">
                <a:moveTo>
                  <a:pt x="83055" y="419864"/>
                </a:moveTo>
                <a:lnTo>
                  <a:pt x="111539" y="476648"/>
                </a:lnTo>
                <a:lnTo>
                  <a:pt x="149610" y="446462"/>
                </a:lnTo>
                <a:lnTo>
                  <a:pt x="187588" y="476648"/>
                </a:lnTo>
                <a:lnTo>
                  <a:pt x="216072" y="419864"/>
                </a:lnTo>
                <a:cubicBezTo>
                  <a:pt x="263269" y="428331"/>
                  <a:pt x="299127" y="469286"/>
                  <a:pt x="299127" y="518891"/>
                </a:cubicBezTo>
                <a:lnTo>
                  <a:pt x="299127" y="584879"/>
                </a:lnTo>
                <a:cubicBezTo>
                  <a:pt x="299127" y="596107"/>
                  <a:pt x="290001" y="605310"/>
                  <a:pt x="278755" y="605310"/>
                </a:cubicBezTo>
                <a:lnTo>
                  <a:pt x="162976" y="605310"/>
                </a:lnTo>
                <a:lnTo>
                  <a:pt x="173484" y="500485"/>
                </a:lnTo>
                <a:lnTo>
                  <a:pt x="149610" y="476648"/>
                </a:lnTo>
                <a:lnTo>
                  <a:pt x="125735" y="500485"/>
                </a:lnTo>
                <a:lnTo>
                  <a:pt x="136151" y="605310"/>
                </a:lnTo>
                <a:lnTo>
                  <a:pt x="20372" y="605310"/>
                </a:lnTo>
                <a:cubicBezTo>
                  <a:pt x="9126" y="605310"/>
                  <a:pt x="0" y="596107"/>
                  <a:pt x="0" y="584879"/>
                </a:cubicBezTo>
                <a:lnTo>
                  <a:pt x="0" y="518891"/>
                </a:lnTo>
                <a:cubicBezTo>
                  <a:pt x="0" y="469286"/>
                  <a:pt x="35858" y="428331"/>
                  <a:pt x="83055" y="419864"/>
                </a:cubicBezTo>
                <a:close/>
                <a:moveTo>
                  <a:pt x="341254" y="249378"/>
                </a:moveTo>
                <a:lnTo>
                  <a:pt x="434189" y="249378"/>
                </a:lnTo>
                <a:lnTo>
                  <a:pt x="434189" y="261432"/>
                </a:lnTo>
                <a:cubicBezTo>
                  <a:pt x="434189" y="281767"/>
                  <a:pt x="421005" y="298881"/>
                  <a:pt x="402750" y="305138"/>
                </a:cubicBezTo>
                <a:cubicBezTo>
                  <a:pt x="402196" y="313051"/>
                  <a:pt x="395743" y="319308"/>
                  <a:pt x="387722" y="319308"/>
                </a:cubicBezTo>
                <a:cubicBezTo>
                  <a:pt x="379700" y="319308"/>
                  <a:pt x="373247" y="313051"/>
                  <a:pt x="372693" y="305138"/>
                </a:cubicBezTo>
                <a:cubicBezTo>
                  <a:pt x="354438" y="298881"/>
                  <a:pt x="341254" y="281767"/>
                  <a:pt x="341254" y="261432"/>
                </a:cubicBezTo>
                <a:close/>
                <a:moveTo>
                  <a:pt x="149634" y="180224"/>
                </a:moveTo>
                <a:cubicBezTo>
                  <a:pt x="199676" y="180224"/>
                  <a:pt x="240318" y="213910"/>
                  <a:pt x="240318" y="280545"/>
                </a:cubicBezTo>
                <a:cubicBezTo>
                  <a:pt x="240318" y="282110"/>
                  <a:pt x="240134" y="283582"/>
                  <a:pt x="240042" y="285055"/>
                </a:cubicBezTo>
                <a:cubicBezTo>
                  <a:pt x="241885" y="284963"/>
                  <a:pt x="243820" y="284871"/>
                  <a:pt x="245479" y="285515"/>
                </a:cubicBezTo>
                <a:cubicBezTo>
                  <a:pt x="254419" y="289105"/>
                  <a:pt x="256999" y="303371"/>
                  <a:pt x="251285" y="317360"/>
                </a:cubicBezTo>
                <a:cubicBezTo>
                  <a:pt x="246493" y="328957"/>
                  <a:pt x="237554" y="336320"/>
                  <a:pt x="229536" y="336412"/>
                </a:cubicBezTo>
                <a:cubicBezTo>
                  <a:pt x="220228" y="359606"/>
                  <a:pt x="205574" y="379578"/>
                  <a:pt x="187511" y="396145"/>
                </a:cubicBezTo>
                <a:lnTo>
                  <a:pt x="187511" y="407373"/>
                </a:lnTo>
                <a:cubicBezTo>
                  <a:pt x="187511" y="408294"/>
                  <a:pt x="187880" y="409122"/>
                  <a:pt x="188064" y="409950"/>
                </a:cubicBezTo>
                <a:lnTo>
                  <a:pt x="149634" y="446397"/>
                </a:lnTo>
                <a:lnTo>
                  <a:pt x="111112" y="409950"/>
                </a:lnTo>
                <a:cubicBezTo>
                  <a:pt x="111296" y="409122"/>
                  <a:pt x="111665" y="408294"/>
                  <a:pt x="111665" y="407373"/>
                </a:cubicBezTo>
                <a:lnTo>
                  <a:pt x="111665" y="396145"/>
                </a:lnTo>
                <a:cubicBezTo>
                  <a:pt x="93601" y="379578"/>
                  <a:pt x="78948" y="359606"/>
                  <a:pt x="69640" y="336412"/>
                </a:cubicBezTo>
                <a:cubicBezTo>
                  <a:pt x="61622" y="336320"/>
                  <a:pt x="52683" y="328957"/>
                  <a:pt x="47891" y="317360"/>
                </a:cubicBezTo>
                <a:cubicBezTo>
                  <a:pt x="42269" y="303371"/>
                  <a:pt x="44849" y="289105"/>
                  <a:pt x="53697" y="285515"/>
                </a:cubicBezTo>
                <a:cubicBezTo>
                  <a:pt x="55448" y="284871"/>
                  <a:pt x="57291" y="284963"/>
                  <a:pt x="59134" y="285055"/>
                </a:cubicBezTo>
                <a:cubicBezTo>
                  <a:pt x="59042" y="283582"/>
                  <a:pt x="58858" y="282110"/>
                  <a:pt x="58858" y="280545"/>
                </a:cubicBezTo>
                <a:cubicBezTo>
                  <a:pt x="58858" y="213910"/>
                  <a:pt x="99500" y="180224"/>
                  <a:pt x="149634" y="180224"/>
                </a:cubicBezTo>
                <a:close/>
                <a:moveTo>
                  <a:pt x="417256" y="80447"/>
                </a:moveTo>
                <a:cubicBezTo>
                  <a:pt x="419930" y="80447"/>
                  <a:pt x="422511" y="81552"/>
                  <a:pt x="424447" y="83484"/>
                </a:cubicBezTo>
                <a:lnTo>
                  <a:pt x="449891" y="108974"/>
                </a:lnTo>
                <a:cubicBezTo>
                  <a:pt x="453947" y="112930"/>
                  <a:pt x="453947" y="119372"/>
                  <a:pt x="449891" y="123329"/>
                </a:cubicBezTo>
                <a:cubicBezTo>
                  <a:pt x="445927" y="127286"/>
                  <a:pt x="439474" y="127286"/>
                  <a:pt x="435510" y="123329"/>
                </a:cubicBezTo>
                <a:lnTo>
                  <a:pt x="417256" y="105017"/>
                </a:lnTo>
                <a:lnTo>
                  <a:pt x="395408" y="126825"/>
                </a:lnTo>
                <a:cubicBezTo>
                  <a:pt x="393380" y="128850"/>
                  <a:pt x="390799" y="129770"/>
                  <a:pt x="388217" y="129770"/>
                </a:cubicBezTo>
                <a:cubicBezTo>
                  <a:pt x="385544" y="129770"/>
                  <a:pt x="382963" y="128850"/>
                  <a:pt x="380935" y="126825"/>
                </a:cubicBezTo>
                <a:lnTo>
                  <a:pt x="359178" y="105017"/>
                </a:lnTo>
                <a:lnTo>
                  <a:pt x="339911" y="124157"/>
                </a:lnTo>
                <a:cubicBezTo>
                  <a:pt x="335947" y="128114"/>
                  <a:pt x="329494" y="128114"/>
                  <a:pt x="325530" y="124157"/>
                </a:cubicBezTo>
                <a:cubicBezTo>
                  <a:pt x="321566" y="120200"/>
                  <a:pt x="321566" y="113759"/>
                  <a:pt x="325530" y="109802"/>
                </a:cubicBezTo>
                <a:lnTo>
                  <a:pt x="351896" y="83484"/>
                </a:lnTo>
                <a:cubicBezTo>
                  <a:pt x="355952" y="79527"/>
                  <a:pt x="362405" y="79527"/>
                  <a:pt x="366369" y="83484"/>
                </a:cubicBezTo>
                <a:lnTo>
                  <a:pt x="388217" y="105293"/>
                </a:lnTo>
                <a:lnTo>
                  <a:pt x="410066" y="83484"/>
                </a:lnTo>
                <a:cubicBezTo>
                  <a:pt x="411910" y="81552"/>
                  <a:pt x="414491" y="80447"/>
                  <a:pt x="417256" y="80447"/>
                </a:cubicBezTo>
                <a:close/>
                <a:moveTo>
                  <a:pt x="387629" y="0"/>
                </a:moveTo>
                <a:cubicBezTo>
                  <a:pt x="449025" y="0"/>
                  <a:pt x="498897" y="49791"/>
                  <a:pt x="498897" y="110995"/>
                </a:cubicBezTo>
                <a:cubicBezTo>
                  <a:pt x="498897" y="142103"/>
                  <a:pt x="486083" y="171003"/>
                  <a:pt x="462945" y="192171"/>
                </a:cubicBezTo>
                <a:cubicBezTo>
                  <a:pt x="451975" y="202203"/>
                  <a:pt x="443770" y="214996"/>
                  <a:pt x="439161" y="228985"/>
                </a:cubicBezTo>
                <a:lnTo>
                  <a:pt x="434183" y="228985"/>
                </a:lnTo>
                <a:lnTo>
                  <a:pt x="407080" y="228985"/>
                </a:lnTo>
                <a:lnTo>
                  <a:pt x="409754" y="220518"/>
                </a:lnTo>
                <a:cubicBezTo>
                  <a:pt x="415930" y="201098"/>
                  <a:pt x="427177" y="183519"/>
                  <a:pt x="442295" y="169714"/>
                </a:cubicBezTo>
                <a:cubicBezTo>
                  <a:pt x="459073" y="154344"/>
                  <a:pt x="468291" y="133544"/>
                  <a:pt x="468291" y="110995"/>
                </a:cubicBezTo>
                <a:cubicBezTo>
                  <a:pt x="468291" y="66634"/>
                  <a:pt x="432155" y="30464"/>
                  <a:pt x="387629" y="30464"/>
                </a:cubicBezTo>
                <a:cubicBezTo>
                  <a:pt x="343196" y="30464"/>
                  <a:pt x="307059" y="66634"/>
                  <a:pt x="307059" y="110995"/>
                </a:cubicBezTo>
                <a:cubicBezTo>
                  <a:pt x="307059" y="133452"/>
                  <a:pt x="316278" y="154344"/>
                  <a:pt x="333056" y="169714"/>
                </a:cubicBezTo>
                <a:cubicBezTo>
                  <a:pt x="348174" y="183519"/>
                  <a:pt x="359421" y="201098"/>
                  <a:pt x="365597" y="220518"/>
                </a:cubicBezTo>
                <a:lnTo>
                  <a:pt x="368270" y="228985"/>
                </a:lnTo>
                <a:lnTo>
                  <a:pt x="341260" y="228985"/>
                </a:lnTo>
                <a:lnTo>
                  <a:pt x="336190" y="228985"/>
                </a:lnTo>
                <a:cubicBezTo>
                  <a:pt x="331581" y="214996"/>
                  <a:pt x="323376" y="202203"/>
                  <a:pt x="312406" y="192171"/>
                </a:cubicBezTo>
                <a:cubicBezTo>
                  <a:pt x="289268" y="170911"/>
                  <a:pt x="276546" y="142103"/>
                  <a:pt x="276546" y="110995"/>
                </a:cubicBezTo>
                <a:cubicBezTo>
                  <a:pt x="276546" y="49791"/>
                  <a:pt x="326418" y="0"/>
                  <a:pt x="3876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19013" y="4163103"/>
            <a:ext cx="2166866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SzTx/>
              <a:buFont typeface="Arial" panose="020B0604020202020204" pitchFamily="34" charset="0"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  <a:t>人才引进</a:t>
            </a:r>
          </a:p>
        </p:txBody>
      </p:sp>
      <p:grpSp>
        <p:nvGrpSpPr>
          <p:cNvPr id="24" name="Group 60"/>
          <p:cNvGrpSpPr>
            <a:grpSpLocks noChangeAspect="1"/>
          </p:cNvGrpSpPr>
          <p:nvPr/>
        </p:nvGrpSpPr>
        <p:grpSpPr>
          <a:xfrm>
            <a:off x="6790168" y="4568157"/>
            <a:ext cx="1224557" cy="1224557"/>
            <a:chOff x="2740564" y="1388740"/>
            <a:chExt cx="885600" cy="885600"/>
          </a:xfrm>
        </p:grpSpPr>
        <p:sp>
          <p:nvSpPr>
            <p:cNvPr id="25" name="Oval 61"/>
            <p:cNvSpPr>
              <a:spLocks noChangeAspect="1"/>
            </p:cNvSpPr>
            <p:nvPr/>
          </p:nvSpPr>
          <p:spPr>
            <a:xfrm>
              <a:off x="2754774" y="1401760"/>
              <a:ext cx="865655" cy="865148"/>
            </a:xfrm>
            <a:prstGeom prst="ellipse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Oval 62"/>
            <p:cNvSpPr>
              <a:spLocks noChangeAspect="1"/>
            </p:cNvSpPr>
            <p:nvPr/>
          </p:nvSpPr>
          <p:spPr>
            <a:xfrm>
              <a:off x="2880754" y="1517786"/>
              <a:ext cx="626724" cy="6275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i="1" dirty="0">
                  <a:solidFill>
                    <a:schemeClr val="bg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+mj-cs"/>
                  <a:sym typeface="Arial" panose="020B0604020202020204" pitchFamily="34" charset="0"/>
                </a:rPr>
                <a:t>20%</a:t>
              </a:r>
              <a:endParaRPr lang="en-US" sz="1600" b="1" i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+mj-cs"/>
                <a:sym typeface="Arial" panose="020B0604020202020204" pitchFamily="34" charset="0"/>
              </a:endParaRPr>
            </a:p>
          </p:txBody>
        </p:sp>
        <p:sp>
          <p:nvSpPr>
            <p:cNvPr id="28" name="Block Arc 63"/>
            <p:cNvSpPr/>
            <p:nvPr/>
          </p:nvSpPr>
          <p:spPr>
            <a:xfrm rot="16626942">
              <a:off x="2740564" y="1388740"/>
              <a:ext cx="885600" cy="885600"/>
            </a:xfrm>
            <a:prstGeom prst="blockArc">
              <a:avLst>
                <a:gd name="adj1" fmla="val 17186526"/>
                <a:gd name="adj2" fmla="val 295261"/>
                <a:gd name="adj3" fmla="val 423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4" name="police-station_273656"/>
          <p:cNvSpPr/>
          <p:nvPr/>
        </p:nvSpPr>
        <p:spPr>
          <a:xfrm>
            <a:off x="7234911" y="3820361"/>
            <a:ext cx="335070" cy="334564"/>
          </a:xfrm>
          <a:custGeom>
            <a:avLst/>
            <a:gdLst>
              <a:gd name="T0" fmla="*/ 5404 w 6827"/>
              <a:gd name="T1" fmla="*/ 2560 h 6827"/>
              <a:gd name="T2" fmla="*/ 5262 w 6827"/>
              <a:gd name="T3" fmla="*/ 0 h 6827"/>
              <a:gd name="T4" fmla="*/ 1422 w 6827"/>
              <a:gd name="T5" fmla="*/ 142 h 6827"/>
              <a:gd name="T6" fmla="*/ 142 w 6827"/>
              <a:gd name="T7" fmla="*/ 2560 h 6827"/>
              <a:gd name="T8" fmla="*/ 0 w 6827"/>
              <a:gd name="T9" fmla="*/ 6684 h 6827"/>
              <a:gd name="T10" fmla="*/ 2844 w 6827"/>
              <a:gd name="T11" fmla="*/ 6827 h 6827"/>
              <a:gd name="T12" fmla="*/ 2987 w 6827"/>
              <a:gd name="T13" fmla="*/ 5404 h 6827"/>
              <a:gd name="T14" fmla="*/ 3982 w 6827"/>
              <a:gd name="T15" fmla="*/ 5547 h 6827"/>
              <a:gd name="T16" fmla="*/ 6684 w 6827"/>
              <a:gd name="T17" fmla="*/ 6827 h 6827"/>
              <a:gd name="T18" fmla="*/ 6827 w 6827"/>
              <a:gd name="T19" fmla="*/ 2702 h 6827"/>
              <a:gd name="T20" fmla="*/ 1707 w 6827"/>
              <a:gd name="T21" fmla="*/ 4693 h 6827"/>
              <a:gd name="T22" fmla="*/ 996 w 6827"/>
              <a:gd name="T23" fmla="*/ 4836 h 6827"/>
              <a:gd name="T24" fmla="*/ 853 w 6827"/>
              <a:gd name="T25" fmla="*/ 3271 h 6827"/>
              <a:gd name="T26" fmla="*/ 1564 w 6827"/>
              <a:gd name="T27" fmla="*/ 3129 h 6827"/>
              <a:gd name="T28" fmla="*/ 1707 w 6827"/>
              <a:gd name="T29" fmla="*/ 4693 h 6827"/>
              <a:gd name="T30" fmla="*/ 2276 w 6827"/>
              <a:gd name="T31" fmla="*/ 711 h 6827"/>
              <a:gd name="T32" fmla="*/ 2987 w 6827"/>
              <a:gd name="T33" fmla="*/ 569 h 6827"/>
              <a:gd name="T34" fmla="*/ 3129 w 6827"/>
              <a:gd name="T35" fmla="*/ 2133 h 6827"/>
              <a:gd name="T36" fmla="*/ 2418 w 6827"/>
              <a:gd name="T37" fmla="*/ 2276 h 6827"/>
              <a:gd name="T38" fmla="*/ 3448 w 6827"/>
              <a:gd name="T39" fmla="*/ 4831 h 6827"/>
              <a:gd name="T40" fmla="*/ 3378 w 6827"/>
              <a:gd name="T41" fmla="*/ 4831 h 6827"/>
              <a:gd name="T42" fmla="*/ 2674 w 6827"/>
              <a:gd name="T43" fmla="*/ 2990 h 6827"/>
              <a:gd name="T44" fmla="*/ 3441 w 6827"/>
              <a:gd name="T45" fmla="*/ 2847 h 6827"/>
              <a:gd name="T46" fmla="*/ 4267 w 6827"/>
              <a:gd name="T47" fmla="*/ 3129 h 6827"/>
              <a:gd name="T48" fmla="*/ 4551 w 6827"/>
              <a:gd name="T49" fmla="*/ 2133 h 6827"/>
              <a:gd name="T50" fmla="*/ 3840 w 6827"/>
              <a:gd name="T51" fmla="*/ 2276 h 6827"/>
              <a:gd name="T52" fmla="*/ 3698 w 6827"/>
              <a:gd name="T53" fmla="*/ 711 h 6827"/>
              <a:gd name="T54" fmla="*/ 4409 w 6827"/>
              <a:gd name="T55" fmla="*/ 569 h 6827"/>
              <a:gd name="T56" fmla="*/ 4551 w 6827"/>
              <a:gd name="T57" fmla="*/ 2133 h 6827"/>
              <a:gd name="T58" fmla="*/ 5831 w 6827"/>
              <a:gd name="T59" fmla="*/ 4836 h 6827"/>
              <a:gd name="T60" fmla="*/ 5120 w 6827"/>
              <a:gd name="T61" fmla="*/ 4693 h 6827"/>
              <a:gd name="T62" fmla="*/ 5262 w 6827"/>
              <a:gd name="T63" fmla="*/ 3129 h 6827"/>
              <a:gd name="T64" fmla="*/ 5973 w 6827"/>
              <a:gd name="T65" fmla="*/ 3271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827" h="6827">
                <a:moveTo>
                  <a:pt x="6684" y="2560"/>
                </a:moveTo>
                <a:lnTo>
                  <a:pt x="5404" y="2560"/>
                </a:lnTo>
                <a:lnTo>
                  <a:pt x="5404" y="142"/>
                </a:lnTo>
                <a:cubicBezTo>
                  <a:pt x="5404" y="64"/>
                  <a:pt x="5341" y="0"/>
                  <a:pt x="5262" y="0"/>
                </a:cubicBezTo>
                <a:lnTo>
                  <a:pt x="1564" y="0"/>
                </a:lnTo>
                <a:cubicBezTo>
                  <a:pt x="1486" y="0"/>
                  <a:pt x="1422" y="64"/>
                  <a:pt x="1422" y="142"/>
                </a:cubicBezTo>
                <a:lnTo>
                  <a:pt x="1422" y="2560"/>
                </a:lnTo>
                <a:lnTo>
                  <a:pt x="142" y="2560"/>
                </a:lnTo>
                <a:cubicBezTo>
                  <a:pt x="64" y="2560"/>
                  <a:pt x="0" y="2624"/>
                  <a:pt x="0" y="2702"/>
                </a:cubicBezTo>
                <a:lnTo>
                  <a:pt x="0" y="6684"/>
                </a:lnTo>
                <a:cubicBezTo>
                  <a:pt x="0" y="6763"/>
                  <a:pt x="64" y="6827"/>
                  <a:pt x="142" y="6827"/>
                </a:cubicBezTo>
                <a:lnTo>
                  <a:pt x="2844" y="6827"/>
                </a:lnTo>
                <a:lnTo>
                  <a:pt x="2844" y="5547"/>
                </a:lnTo>
                <a:cubicBezTo>
                  <a:pt x="2844" y="5468"/>
                  <a:pt x="2908" y="5404"/>
                  <a:pt x="2987" y="5404"/>
                </a:cubicBezTo>
                <a:lnTo>
                  <a:pt x="3840" y="5404"/>
                </a:lnTo>
                <a:cubicBezTo>
                  <a:pt x="3919" y="5404"/>
                  <a:pt x="3982" y="5468"/>
                  <a:pt x="3982" y="5547"/>
                </a:cubicBezTo>
                <a:lnTo>
                  <a:pt x="3982" y="6827"/>
                </a:lnTo>
                <a:lnTo>
                  <a:pt x="6684" y="6827"/>
                </a:lnTo>
                <a:cubicBezTo>
                  <a:pt x="6763" y="6827"/>
                  <a:pt x="6827" y="6763"/>
                  <a:pt x="6827" y="6684"/>
                </a:cubicBezTo>
                <a:lnTo>
                  <a:pt x="6827" y="2702"/>
                </a:lnTo>
                <a:cubicBezTo>
                  <a:pt x="6827" y="2624"/>
                  <a:pt x="6763" y="2560"/>
                  <a:pt x="6684" y="2560"/>
                </a:cubicBezTo>
                <a:close/>
                <a:moveTo>
                  <a:pt x="1707" y="4693"/>
                </a:moveTo>
                <a:cubicBezTo>
                  <a:pt x="1707" y="4772"/>
                  <a:pt x="1643" y="4836"/>
                  <a:pt x="1564" y="4836"/>
                </a:cubicBezTo>
                <a:lnTo>
                  <a:pt x="996" y="4836"/>
                </a:lnTo>
                <a:cubicBezTo>
                  <a:pt x="917" y="4836"/>
                  <a:pt x="853" y="4772"/>
                  <a:pt x="853" y="4693"/>
                </a:cubicBezTo>
                <a:lnTo>
                  <a:pt x="853" y="3271"/>
                </a:lnTo>
                <a:cubicBezTo>
                  <a:pt x="853" y="3193"/>
                  <a:pt x="917" y="3129"/>
                  <a:pt x="996" y="3129"/>
                </a:cubicBezTo>
                <a:lnTo>
                  <a:pt x="1564" y="3129"/>
                </a:lnTo>
                <a:cubicBezTo>
                  <a:pt x="1643" y="3129"/>
                  <a:pt x="1707" y="3193"/>
                  <a:pt x="1707" y="3271"/>
                </a:cubicBezTo>
                <a:lnTo>
                  <a:pt x="1707" y="4693"/>
                </a:lnTo>
                <a:close/>
                <a:moveTo>
                  <a:pt x="2276" y="2133"/>
                </a:moveTo>
                <a:lnTo>
                  <a:pt x="2276" y="711"/>
                </a:lnTo>
                <a:cubicBezTo>
                  <a:pt x="2276" y="633"/>
                  <a:pt x="2339" y="569"/>
                  <a:pt x="2418" y="569"/>
                </a:cubicBezTo>
                <a:lnTo>
                  <a:pt x="2987" y="569"/>
                </a:lnTo>
                <a:cubicBezTo>
                  <a:pt x="3065" y="569"/>
                  <a:pt x="3129" y="633"/>
                  <a:pt x="3129" y="711"/>
                </a:cubicBezTo>
                <a:lnTo>
                  <a:pt x="3129" y="2133"/>
                </a:lnTo>
                <a:cubicBezTo>
                  <a:pt x="3129" y="2212"/>
                  <a:pt x="3065" y="2276"/>
                  <a:pt x="2987" y="2276"/>
                </a:cubicBezTo>
                <a:lnTo>
                  <a:pt x="2418" y="2276"/>
                </a:lnTo>
                <a:cubicBezTo>
                  <a:pt x="2339" y="2276"/>
                  <a:pt x="2276" y="2212"/>
                  <a:pt x="2276" y="2133"/>
                </a:cubicBezTo>
                <a:close/>
                <a:moveTo>
                  <a:pt x="3448" y="4831"/>
                </a:moveTo>
                <a:cubicBezTo>
                  <a:pt x="3437" y="4834"/>
                  <a:pt x="3425" y="4836"/>
                  <a:pt x="3413" y="4836"/>
                </a:cubicBezTo>
                <a:cubicBezTo>
                  <a:pt x="3402" y="4836"/>
                  <a:pt x="3390" y="4834"/>
                  <a:pt x="3378" y="4831"/>
                </a:cubicBezTo>
                <a:cubicBezTo>
                  <a:pt x="2653" y="4647"/>
                  <a:pt x="2560" y="3825"/>
                  <a:pt x="2560" y="3129"/>
                </a:cubicBezTo>
                <a:cubicBezTo>
                  <a:pt x="2560" y="3061"/>
                  <a:pt x="2608" y="3003"/>
                  <a:pt x="2674" y="2990"/>
                </a:cubicBezTo>
                <a:lnTo>
                  <a:pt x="3385" y="2847"/>
                </a:lnTo>
                <a:cubicBezTo>
                  <a:pt x="3404" y="2844"/>
                  <a:pt x="3423" y="2844"/>
                  <a:pt x="3441" y="2847"/>
                </a:cubicBezTo>
                <a:lnTo>
                  <a:pt x="4152" y="2990"/>
                </a:lnTo>
                <a:cubicBezTo>
                  <a:pt x="4219" y="3003"/>
                  <a:pt x="4267" y="3061"/>
                  <a:pt x="4267" y="3129"/>
                </a:cubicBezTo>
                <a:cubicBezTo>
                  <a:pt x="4267" y="3825"/>
                  <a:pt x="4174" y="4647"/>
                  <a:pt x="3448" y="4831"/>
                </a:cubicBezTo>
                <a:close/>
                <a:moveTo>
                  <a:pt x="4551" y="2133"/>
                </a:moveTo>
                <a:cubicBezTo>
                  <a:pt x="4551" y="2212"/>
                  <a:pt x="4487" y="2276"/>
                  <a:pt x="4409" y="2276"/>
                </a:cubicBezTo>
                <a:lnTo>
                  <a:pt x="3840" y="2276"/>
                </a:lnTo>
                <a:cubicBezTo>
                  <a:pt x="3761" y="2276"/>
                  <a:pt x="3698" y="2212"/>
                  <a:pt x="3698" y="2133"/>
                </a:cubicBezTo>
                <a:lnTo>
                  <a:pt x="3698" y="711"/>
                </a:lnTo>
                <a:cubicBezTo>
                  <a:pt x="3698" y="633"/>
                  <a:pt x="3761" y="569"/>
                  <a:pt x="3840" y="569"/>
                </a:cubicBezTo>
                <a:lnTo>
                  <a:pt x="4409" y="569"/>
                </a:lnTo>
                <a:cubicBezTo>
                  <a:pt x="4487" y="569"/>
                  <a:pt x="4551" y="633"/>
                  <a:pt x="4551" y="711"/>
                </a:cubicBezTo>
                <a:lnTo>
                  <a:pt x="4551" y="2133"/>
                </a:lnTo>
                <a:close/>
                <a:moveTo>
                  <a:pt x="5973" y="4693"/>
                </a:moveTo>
                <a:cubicBezTo>
                  <a:pt x="5973" y="4772"/>
                  <a:pt x="5910" y="4836"/>
                  <a:pt x="5831" y="4836"/>
                </a:cubicBezTo>
                <a:lnTo>
                  <a:pt x="5262" y="4836"/>
                </a:lnTo>
                <a:cubicBezTo>
                  <a:pt x="5184" y="4836"/>
                  <a:pt x="5120" y="4772"/>
                  <a:pt x="5120" y="4693"/>
                </a:cubicBezTo>
                <a:lnTo>
                  <a:pt x="5120" y="3271"/>
                </a:lnTo>
                <a:cubicBezTo>
                  <a:pt x="5120" y="3193"/>
                  <a:pt x="5184" y="3129"/>
                  <a:pt x="5262" y="3129"/>
                </a:cubicBezTo>
                <a:lnTo>
                  <a:pt x="5831" y="3129"/>
                </a:lnTo>
                <a:cubicBezTo>
                  <a:pt x="5910" y="3129"/>
                  <a:pt x="5973" y="3193"/>
                  <a:pt x="5973" y="3271"/>
                </a:cubicBezTo>
                <a:lnTo>
                  <a:pt x="5973" y="46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Group 60"/>
          <p:cNvGrpSpPr>
            <a:grpSpLocks noChangeAspect="1"/>
          </p:cNvGrpSpPr>
          <p:nvPr/>
        </p:nvGrpSpPr>
        <p:grpSpPr>
          <a:xfrm>
            <a:off x="4093744" y="4568157"/>
            <a:ext cx="1224557" cy="1224557"/>
            <a:chOff x="2740564" y="1388740"/>
            <a:chExt cx="885600" cy="885600"/>
          </a:xfrm>
        </p:grpSpPr>
        <p:sp>
          <p:nvSpPr>
            <p:cNvPr id="29" name="Oval 61"/>
            <p:cNvSpPr>
              <a:spLocks noChangeAspect="1"/>
            </p:cNvSpPr>
            <p:nvPr/>
          </p:nvSpPr>
          <p:spPr>
            <a:xfrm>
              <a:off x="2754774" y="1401760"/>
              <a:ext cx="865655" cy="865148"/>
            </a:xfrm>
            <a:prstGeom prst="ellipse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" name="Oval 62"/>
            <p:cNvSpPr>
              <a:spLocks noChangeAspect="1"/>
            </p:cNvSpPr>
            <p:nvPr/>
          </p:nvSpPr>
          <p:spPr>
            <a:xfrm>
              <a:off x="2880754" y="1517786"/>
              <a:ext cx="626724" cy="6275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i="1" dirty="0">
                  <a:solidFill>
                    <a:schemeClr val="bg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+mj-cs"/>
                  <a:sym typeface="Arial" panose="020B0604020202020204" pitchFamily="34" charset="0"/>
                </a:rPr>
                <a:t>20%</a:t>
              </a:r>
              <a:endParaRPr lang="en-US" sz="1600" b="1" i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+mj-cs"/>
                <a:sym typeface="Arial" panose="020B0604020202020204" pitchFamily="34" charset="0"/>
              </a:endParaRPr>
            </a:p>
          </p:txBody>
        </p:sp>
        <p:sp>
          <p:nvSpPr>
            <p:cNvPr id="31" name="Block Arc 63"/>
            <p:cNvSpPr/>
            <p:nvPr/>
          </p:nvSpPr>
          <p:spPr>
            <a:xfrm rot="16626942">
              <a:off x="2740564" y="1388740"/>
              <a:ext cx="885600" cy="885600"/>
            </a:xfrm>
            <a:prstGeom prst="blockArc">
              <a:avLst>
                <a:gd name="adj1" fmla="val 17186526"/>
                <a:gd name="adj2" fmla="val 295261"/>
                <a:gd name="adj3" fmla="val 423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3" name="Group 60"/>
          <p:cNvGrpSpPr>
            <a:grpSpLocks noChangeAspect="1"/>
          </p:cNvGrpSpPr>
          <p:nvPr/>
        </p:nvGrpSpPr>
        <p:grpSpPr>
          <a:xfrm>
            <a:off x="9415462" y="4568157"/>
            <a:ext cx="1224557" cy="1224557"/>
            <a:chOff x="2740564" y="1388740"/>
            <a:chExt cx="885600" cy="885600"/>
          </a:xfrm>
        </p:grpSpPr>
        <p:sp>
          <p:nvSpPr>
            <p:cNvPr id="35" name="Oval 61"/>
            <p:cNvSpPr>
              <a:spLocks noChangeAspect="1"/>
            </p:cNvSpPr>
            <p:nvPr/>
          </p:nvSpPr>
          <p:spPr>
            <a:xfrm>
              <a:off x="2754774" y="1401760"/>
              <a:ext cx="865655" cy="865148"/>
            </a:xfrm>
            <a:prstGeom prst="ellipse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Oval 62"/>
            <p:cNvSpPr>
              <a:spLocks noChangeAspect="1"/>
            </p:cNvSpPr>
            <p:nvPr/>
          </p:nvSpPr>
          <p:spPr>
            <a:xfrm>
              <a:off x="2880754" y="1517786"/>
              <a:ext cx="626724" cy="6275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i="1" dirty="0">
                  <a:solidFill>
                    <a:schemeClr val="bg1"/>
                  </a:solidFill>
                  <a:latin typeface="Arial" panose="020B0604020202020204" pitchFamily="34" charset="0"/>
                  <a:ea typeface="微软雅黑 Light" panose="020B0502040204020203" pitchFamily="34" charset="-122"/>
                  <a:cs typeface="+mj-cs"/>
                  <a:sym typeface="Arial" panose="020B0604020202020204" pitchFamily="34" charset="0"/>
                </a:rPr>
                <a:t>20%</a:t>
              </a:r>
              <a:endParaRPr lang="en-US" sz="1600" b="1" i="1" dirty="0">
                <a:solidFill>
                  <a:schemeClr val="bg1"/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+mj-cs"/>
                <a:sym typeface="Arial" panose="020B0604020202020204" pitchFamily="34" charset="0"/>
              </a:endParaRPr>
            </a:p>
          </p:txBody>
        </p:sp>
        <p:sp>
          <p:nvSpPr>
            <p:cNvPr id="37" name="Block Arc 63"/>
            <p:cNvSpPr/>
            <p:nvPr/>
          </p:nvSpPr>
          <p:spPr>
            <a:xfrm rot="16626942">
              <a:off x="2740564" y="1388740"/>
              <a:ext cx="885600" cy="885600"/>
            </a:xfrm>
            <a:prstGeom prst="blockArc">
              <a:avLst>
                <a:gd name="adj1" fmla="val 17186526"/>
                <a:gd name="adj2" fmla="val 295261"/>
                <a:gd name="adj3" fmla="val 423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4946766" y="1861444"/>
            <a:ext cx="2470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南山战新投及产业投资方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RESOURCE_RECORD_KEY" val="{&quot;71&quot;:[76235680133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2831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25,&quot;left&quot;:95.42598425196852,&quot;top&quot;:180,&quot;width&quot;:785.074015748031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25,&quot;left&quot;:95.42598425196852,&quot;top&quot;:180,&quot;width&quot;:785.074015748031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25,&quot;left&quot;:95.42598425196852,&quot;top&quot;:180,&quot;width&quot;:785.074015748031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25,&quot;left&quot;:95.42598425196852,&quot;top&quot;:180,&quot;width&quot;:785.074015748031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25,&quot;left&quot;:95.42598425196852,&quot;top&quot;:180,&quot;width&quot;:785.074015748031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25,&quot;left&quot;:95.42598425196852,&quot;top&quot;:180,&quot;width&quot;:785.074015748031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25,&quot;left&quot;:95.42598425196852,&quot;top&quot;:180,&quot;width&quot;:785.074015748031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25,&quot;left&quot;:95.42598425196852,&quot;top&quot;:180,&quot;width&quot;:785.074015748031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25,&quot;left&quot;:95.42598425196852,&quot;top&quot;:180,&quot;width&quot;:785.074015748031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6062992125986,&quot;left&quot;:53.7,&quot;top&quot;:87.08937007874016,&quot;width&quot;:833.6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2A2D1A"/>
      </a:dk2>
      <a:lt2>
        <a:srgbClr val="FCFAF7"/>
      </a:lt2>
      <a:accent1>
        <a:srgbClr val="3F8F8C"/>
      </a:accent1>
      <a:accent2>
        <a:srgbClr val="AEC791"/>
      </a:accent2>
      <a:accent3>
        <a:srgbClr val="2B56A9"/>
      </a:accent3>
      <a:accent4>
        <a:srgbClr val="4D8EB3"/>
      </a:accent4>
      <a:accent5>
        <a:srgbClr val="7C7848"/>
      </a:accent5>
      <a:accent6>
        <a:srgbClr val="557234"/>
      </a:accent6>
      <a:hlink>
        <a:srgbClr val="8F9456"/>
      </a:hlink>
      <a:folHlink>
        <a:srgbClr val="B88A47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3061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2A2D1A"/>
      </a:dk2>
      <a:lt2>
        <a:srgbClr val="FCFAF7"/>
      </a:lt2>
      <a:accent1>
        <a:srgbClr val="3F8F8C"/>
      </a:accent1>
      <a:accent2>
        <a:srgbClr val="AEC791"/>
      </a:accent2>
      <a:accent3>
        <a:srgbClr val="2B56A9"/>
      </a:accent3>
      <a:accent4>
        <a:srgbClr val="4D8EB3"/>
      </a:accent4>
      <a:accent5>
        <a:srgbClr val="7C7848"/>
      </a:accent5>
      <a:accent6>
        <a:srgbClr val="557234"/>
      </a:accent6>
      <a:hlink>
        <a:srgbClr val="8F9456"/>
      </a:hlink>
      <a:folHlink>
        <a:srgbClr val="B88A47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3061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3128</Words>
  <Application>Microsoft Macintosh PowerPoint</Application>
  <PresentationFormat>宽屏</PresentationFormat>
  <Paragraphs>394</Paragraphs>
  <Slides>14</Slides>
  <Notes>12</Notes>
  <HiddenSlides>0</HiddenSlides>
  <MMClips>1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等线</vt:lpstr>
      <vt:lpstr>微软雅黑 Light</vt:lpstr>
      <vt:lpstr>Frutiger LT 45 Light</vt:lpstr>
      <vt:lpstr>Arial</vt:lpstr>
      <vt:lpstr>Calibri</vt:lpstr>
      <vt:lpstr>Office 主题​​</vt:lpstr>
      <vt:lpstr>1_Office 主题​​</vt:lpstr>
      <vt:lpstr>think-cell 幻灯片</vt:lpstr>
      <vt:lpstr>君柔科技</vt:lpstr>
      <vt:lpstr>投资亮点</vt:lpstr>
      <vt:lpstr>事关重大疾病突破乃至人机交互的终极未来，脑机接口是最具想象力的超级未来产业</vt:lpstr>
      <vt:lpstr>脑机接口行业，历经多年发展，出现非侵入、侵入等方案，但均面临难以突破的问题</vt:lpstr>
      <vt:lpstr>历经14年突破，获得《Nature》等权威认可，君柔科技重新定义脑机接口电极新范式</vt:lpstr>
      <vt:lpstr>君柔科技，兼顾长期发展未来和短期落地，突破多个难题，最可能是电极终极方案</vt:lpstr>
      <vt:lpstr>公司概要</vt:lpstr>
      <vt:lpstr>创始人系三篇《自然》作者可驱动蠕虫状纤维电极首创者，并获得院士全力支持</vt:lpstr>
      <vt:lpstr>融合，研发、工程、算法、注册、运营及知名医生组成的行业顶级综合团队</vt:lpstr>
      <vt:lpstr>历经十余年，横跨材料、电极、运控等多领域，取得多项顶级成果，君柔技术壁垒雄厚</vt:lpstr>
      <vt:lpstr>“神经蠕虫”系中国团队原创、世界级领先技术，重新定义脑机接口电极新范式</vt:lpstr>
      <vt:lpstr>新一代仿生蠕行式脑机接口动态电极，具备多通道、可拉伸、微创等优势</vt:lpstr>
      <vt:lpstr>此外，团队衍生柔软可拉伸电极产品，已与顶级企业合作，27年收入达千万</vt:lpstr>
      <vt:lpstr>本轮融资计划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HRC</dc:title>
  <dc:creator>Yihong Ge</dc:creator>
  <cp:lastModifiedBy>士硕 吴</cp:lastModifiedBy>
  <cp:revision>2125</cp:revision>
  <cp:lastPrinted>2022-09-02T06:26:00Z</cp:lastPrinted>
  <dcterms:created xsi:type="dcterms:W3CDTF">2020-03-19T01:15:00Z</dcterms:created>
  <dcterms:modified xsi:type="dcterms:W3CDTF">2026-03-22T00:29:41Z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94D099901C364ED5B9195E3128600877_12</vt:lpwstr>
  </property>
</Properties>
</file>